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5"/>
  </p:notesMasterIdLst>
  <p:sldIdLst>
    <p:sldId id="271" r:id="rId2"/>
    <p:sldId id="256" r:id="rId3"/>
    <p:sldId id="257" r:id="rId4"/>
    <p:sldId id="258" r:id="rId5"/>
    <p:sldId id="260" r:id="rId6"/>
    <p:sldId id="261" r:id="rId7"/>
    <p:sldId id="262" r:id="rId8"/>
    <p:sldId id="263" r:id="rId9"/>
    <p:sldId id="264" r:id="rId10"/>
    <p:sldId id="267" r:id="rId11"/>
    <p:sldId id="268" r:id="rId12"/>
    <p:sldId id="269" r:id="rId13"/>
    <p:sldId id="270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72D798D-6DAD-406F-9D6F-05A458729FD9}" v="1" dt="2026-10-10T12:54:16.41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497" autoAdjust="0"/>
    <p:restoredTop sz="96357" autoAdjust="0"/>
  </p:normalViewPr>
  <p:slideViewPr>
    <p:cSldViewPr snapToGrid="0">
      <p:cViewPr varScale="1">
        <p:scale>
          <a:sx n="82" d="100"/>
          <a:sy n="82" d="100"/>
        </p:scale>
        <p:origin x="69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han Reddy C" userId="326c0b85c6eb23bd" providerId="LiveId" clId="{9FF1FCC6-3490-4538-9F59-8DF5F148A4A2}"/>
    <pc:docChg chg="undo custSel delSld modSld sldOrd delSection modSection modNotesMaster">
      <pc:chgData name="Mohan Reddy C" userId="326c0b85c6eb23bd" providerId="LiveId" clId="{9FF1FCC6-3490-4538-9F59-8DF5F148A4A2}" dt="2026-10-10T12:59:46.839" v="94" actId="478"/>
      <pc:docMkLst>
        <pc:docMk/>
      </pc:docMkLst>
      <pc:sldChg chg="modSp mod ord">
        <pc:chgData name="Mohan Reddy C" userId="326c0b85c6eb23bd" providerId="LiveId" clId="{9FF1FCC6-3490-4538-9F59-8DF5F148A4A2}" dt="2026-10-10T12:56:01.705" v="92" actId="26606"/>
        <pc:sldMkLst>
          <pc:docMk/>
          <pc:sldMk cId="21353160" sldId="256"/>
        </pc:sldMkLst>
        <pc:spChg chg="mod">
          <ac:chgData name="Mohan Reddy C" userId="326c0b85c6eb23bd" providerId="LiveId" clId="{9FF1FCC6-3490-4538-9F59-8DF5F148A4A2}" dt="2026-10-10T10:53:51.971" v="18" actId="26606"/>
          <ac:spMkLst>
            <pc:docMk/>
            <pc:sldMk cId="21353160" sldId="256"/>
            <ac:spMk id="4" creationId="{FAEFE327-3C91-28D5-7944-3EF1B8F33129}"/>
          </ac:spMkLst>
        </pc:spChg>
        <pc:spChg chg="mod">
          <ac:chgData name="Mohan Reddy C" userId="326c0b85c6eb23bd" providerId="LiveId" clId="{9FF1FCC6-3490-4538-9F59-8DF5F148A4A2}" dt="2026-10-10T10:53:51.971" v="18" actId="26606"/>
          <ac:spMkLst>
            <pc:docMk/>
            <pc:sldMk cId="21353160" sldId="256"/>
            <ac:spMk id="6" creationId="{B4D6FF6F-0D97-71C0-E903-68917528ECC2}"/>
          </ac:spMkLst>
        </pc:spChg>
        <pc:spChg chg="mod">
          <ac:chgData name="Mohan Reddy C" userId="326c0b85c6eb23bd" providerId="LiveId" clId="{9FF1FCC6-3490-4538-9F59-8DF5F148A4A2}" dt="2026-10-10T10:53:51.971" v="18" actId="26606"/>
          <ac:spMkLst>
            <pc:docMk/>
            <pc:sldMk cId="21353160" sldId="256"/>
            <ac:spMk id="8" creationId="{339B0304-94E5-A0D7-0C91-3BBA28536BC9}"/>
          </ac:spMkLst>
        </pc:spChg>
        <pc:spChg chg="mod">
          <ac:chgData name="Mohan Reddy C" userId="326c0b85c6eb23bd" providerId="LiveId" clId="{9FF1FCC6-3490-4538-9F59-8DF5F148A4A2}" dt="2026-10-10T10:53:51.971" v="18" actId="26606"/>
          <ac:spMkLst>
            <pc:docMk/>
            <pc:sldMk cId="21353160" sldId="256"/>
            <ac:spMk id="10" creationId="{36EC1D62-1585-9B4C-5242-22373E8D1F44}"/>
          </ac:spMkLst>
        </pc:spChg>
        <pc:spChg chg="mod">
          <ac:chgData name="Mohan Reddy C" userId="326c0b85c6eb23bd" providerId="LiveId" clId="{9FF1FCC6-3490-4538-9F59-8DF5F148A4A2}" dt="2026-10-10T10:53:51.971" v="18" actId="26606"/>
          <ac:spMkLst>
            <pc:docMk/>
            <pc:sldMk cId="21353160" sldId="256"/>
            <ac:spMk id="12" creationId="{FE4588AD-1629-CD7F-368C-5851CB6D3638}"/>
          </ac:spMkLst>
        </pc:spChg>
        <pc:spChg chg="mod">
          <ac:chgData name="Mohan Reddy C" userId="326c0b85c6eb23bd" providerId="LiveId" clId="{9FF1FCC6-3490-4538-9F59-8DF5F148A4A2}" dt="2026-10-10T10:53:51.971" v="18" actId="26606"/>
          <ac:spMkLst>
            <pc:docMk/>
            <pc:sldMk cId="21353160" sldId="256"/>
            <ac:spMk id="14" creationId="{45BA28FF-C2CD-EB81-7856-8455E12CBE38}"/>
          </ac:spMkLst>
        </pc:spChg>
        <pc:spChg chg="mod">
          <ac:chgData name="Mohan Reddy C" userId="326c0b85c6eb23bd" providerId="LiveId" clId="{9FF1FCC6-3490-4538-9F59-8DF5F148A4A2}" dt="2026-10-10T10:53:51.971" v="18" actId="26606"/>
          <ac:spMkLst>
            <pc:docMk/>
            <pc:sldMk cId="21353160" sldId="256"/>
            <ac:spMk id="18" creationId="{6B7BF355-AD2D-066B-174B-1396FB144053}"/>
          </ac:spMkLst>
        </pc:spChg>
        <pc:spChg chg="mod">
          <ac:chgData name="Mohan Reddy C" userId="326c0b85c6eb23bd" providerId="LiveId" clId="{9FF1FCC6-3490-4538-9F59-8DF5F148A4A2}" dt="2026-10-10T10:53:51.971" v="18" actId="26606"/>
          <ac:spMkLst>
            <pc:docMk/>
            <pc:sldMk cId="21353160" sldId="256"/>
            <ac:spMk id="22" creationId="{C3E2B646-D086-8139-AE2C-D6DAD21454D9}"/>
          </ac:spMkLst>
        </pc:spChg>
        <pc:spChg chg="mod">
          <ac:chgData name="Mohan Reddy C" userId="326c0b85c6eb23bd" providerId="LiveId" clId="{9FF1FCC6-3490-4538-9F59-8DF5F148A4A2}" dt="2026-10-10T10:53:51.971" v="18" actId="26606"/>
          <ac:spMkLst>
            <pc:docMk/>
            <pc:sldMk cId="21353160" sldId="256"/>
            <ac:spMk id="34" creationId="{8E389346-6D76-2076-22C2-132421BF005C}"/>
          </ac:spMkLst>
        </pc:spChg>
        <pc:spChg chg="mod">
          <ac:chgData name="Mohan Reddy C" userId="326c0b85c6eb23bd" providerId="LiveId" clId="{9FF1FCC6-3490-4538-9F59-8DF5F148A4A2}" dt="2026-10-10T10:53:51.971" v="18" actId="26606"/>
          <ac:spMkLst>
            <pc:docMk/>
            <pc:sldMk cId="21353160" sldId="256"/>
            <ac:spMk id="38" creationId="{E9996EC8-BB80-736C-583A-21CD5797D55F}"/>
          </ac:spMkLst>
        </pc:spChg>
      </pc:sldChg>
      <pc:sldChg chg="modSp mod ord">
        <pc:chgData name="Mohan Reddy C" userId="326c0b85c6eb23bd" providerId="LiveId" clId="{9FF1FCC6-3490-4538-9F59-8DF5F148A4A2}" dt="2026-10-10T12:56:01.705" v="92" actId="26606"/>
        <pc:sldMkLst>
          <pc:docMk/>
          <pc:sldMk cId="1692447300" sldId="257"/>
        </pc:sldMkLst>
        <pc:spChg chg="mod">
          <ac:chgData name="Mohan Reddy C" userId="326c0b85c6eb23bd" providerId="LiveId" clId="{9FF1FCC6-3490-4538-9F59-8DF5F148A4A2}" dt="2026-10-10T10:53:51.971" v="18" actId="26606"/>
          <ac:spMkLst>
            <pc:docMk/>
            <pc:sldMk cId="1692447300" sldId="257"/>
            <ac:spMk id="4" creationId="{D72717FA-D127-9C0F-0A06-490062F2CA72}"/>
          </ac:spMkLst>
        </pc:spChg>
        <pc:spChg chg="mod">
          <ac:chgData name="Mohan Reddy C" userId="326c0b85c6eb23bd" providerId="LiveId" clId="{9FF1FCC6-3490-4538-9F59-8DF5F148A4A2}" dt="2026-10-10T10:53:51.971" v="18" actId="26606"/>
          <ac:spMkLst>
            <pc:docMk/>
            <pc:sldMk cId="1692447300" sldId="257"/>
            <ac:spMk id="6" creationId="{A2141717-AD0E-C8AF-A25A-B5923D36C1CC}"/>
          </ac:spMkLst>
        </pc:spChg>
        <pc:spChg chg="mod">
          <ac:chgData name="Mohan Reddy C" userId="326c0b85c6eb23bd" providerId="LiveId" clId="{9FF1FCC6-3490-4538-9F59-8DF5F148A4A2}" dt="2026-10-10T10:53:51.971" v="18" actId="26606"/>
          <ac:spMkLst>
            <pc:docMk/>
            <pc:sldMk cId="1692447300" sldId="257"/>
            <ac:spMk id="8" creationId="{7DB61A16-21F6-35B2-0B3A-AE5F629BCE75}"/>
          </ac:spMkLst>
        </pc:spChg>
        <pc:spChg chg="mod">
          <ac:chgData name="Mohan Reddy C" userId="326c0b85c6eb23bd" providerId="LiveId" clId="{9FF1FCC6-3490-4538-9F59-8DF5F148A4A2}" dt="2026-10-10T10:53:51.971" v="18" actId="26606"/>
          <ac:spMkLst>
            <pc:docMk/>
            <pc:sldMk cId="1692447300" sldId="257"/>
            <ac:spMk id="10" creationId="{BE579F91-88CB-DF7C-3CDD-0865C92C2E83}"/>
          </ac:spMkLst>
        </pc:spChg>
        <pc:spChg chg="mod">
          <ac:chgData name="Mohan Reddy C" userId="326c0b85c6eb23bd" providerId="LiveId" clId="{9FF1FCC6-3490-4538-9F59-8DF5F148A4A2}" dt="2026-10-10T10:53:51.971" v="18" actId="26606"/>
          <ac:spMkLst>
            <pc:docMk/>
            <pc:sldMk cId="1692447300" sldId="257"/>
            <ac:spMk id="12" creationId="{B17263FF-21BE-4E2A-DD42-08528F08F655}"/>
          </ac:spMkLst>
        </pc:spChg>
        <pc:spChg chg="mod">
          <ac:chgData name="Mohan Reddy C" userId="326c0b85c6eb23bd" providerId="LiveId" clId="{9FF1FCC6-3490-4538-9F59-8DF5F148A4A2}" dt="2026-10-10T10:53:51.971" v="18" actId="26606"/>
          <ac:spMkLst>
            <pc:docMk/>
            <pc:sldMk cId="1692447300" sldId="257"/>
            <ac:spMk id="14" creationId="{3EF24863-D672-E906-429A-2AAAD86A9DFD}"/>
          </ac:spMkLst>
        </pc:spChg>
        <pc:spChg chg="mod">
          <ac:chgData name="Mohan Reddy C" userId="326c0b85c6eb23bd" providerId="LiveId" clId="{9FF1FCC6-3490-4538-9F59-8DF5F148A4A2}" dt="2026-10-10T10:53:51.971" v="18" actId="26606"/>
          <ac:spMkLst>
            <pc:docMk/>
            <pc:sldMk cId="1692447300" sldId="257"/>
            <ac:spMk id="16" creationId="{B7BEF485-359E-273B-0A53-469046262203}"/>
          </ac:spMkLst>
        </pc:spChg>
        <pc:spChg chg="mod">
          <ac:chgData name="Mohan Reddy C" userId="326c0b85c6eb23bd" providerId="LiveId" clId="{9FF1FCC6-3490-4538-9F59-8DF5F148A4A2}" dt="2026-10-10T10:30:31.727" v="1" actId="26606"/>
          <ac:spMkLst>
            <pc:docMk/>
            <pc:sldMk cId="1692447300" sldId="257"/>
            <ac:spMk id="18" creationId="{23C814E8-2E5C-6C73-08BB-DF23E277A43A}"/>
          </ac:spMkLst>
        </pc:spChg>
        <pc:spChg chg="mod">
          <ac:chgData name="Mohan Reddy C" userId="326c0b85c6eb23bd" providerId="LiveId" clId="{9FF1FCC6-3490-4538-9F59-8DF5F148A4A2}" dt="2026-10-10T10:53:51.971" v="18" actId="26606"/>
          <ac:spMkLst>
            <pc:docMk/>
            <pc:sldMk cId="1692447300" sldId="257"/>
            <ac:spMk id="22" creationId="{25093B38-91B9-F6AF-B716-574F4FE5F349}"/>
          </ac:spMkLst>
        </pc:spChg>
        <pc:spChg chg="mod">
          <ac:chgData name="Mohan Reddy C" userId="326c0b85c6eb23bd" providerId="LiveId" clId="{9FF1FCC6-3490-4538-9F59-8DF5F148A4A2}" dt="2026-10-10T10:53:51.971" v="18" actId="26606"/>
          <ac:spMkLst>
            <pc:docMk/>
            <pc:sldMk cId="1692447300" sldId="257"/>
            <ac:spMk id="28" creationId="{EE6D0520-E12E-100A-B8AB-DF268722C3B2}"/>
          </ac:spMkLst>
        </pc:spChg>
        <pc:spChg chg="mod">
          <ac:chgData name="Mohan Reddy C" userId="326c0b85c6eb23bd" providerId="LiveId" clId="{9FF1FCC6-3490-4538-9F59-8DF5F148A4A2}" dt="2026-10-10T10:53:51.971" v="18" actId="26606"/>
          <ac:spMkLst>
            <pc:docMk/>
            <pc:sldMk cId="1692447300" sldId="257"/>
            <ac:spMk id="38" creationId="{37E3C0EE-9E0F-34F5-AA68-1A036AC976FB}"/>
          </ac:spMkLst>
        </pc:spChg>
      </pc:sldChg>
      <pc:sldChg chg="delSp modSp mod ord">
        <pc:chgData name="Mohan Reddy C" userId="326c0b85c6eb23bd" providerId="LiveId" clId="{9FF1FCC6-3490-4538-9F59-8DF5F148A4A2}" dt="2026-10-10T12:56:01.705" v="92" actId="26606"/>
        <pc:sldMkLst>
          <pc:docMk/>
          <pc:sldMk cId="4108769481" sldId="258"/>
        </pc:sldMkLst>
        <pc:spChg chg="mod">
          <ac:chgData name="Mohan Reddy C" userId="326c0b85c6eb23bd" providerId="LiveId" clId="{9FF1FCC6-3490-4538-9F59-8DF5F148A4A2}" dt="2026-10-10T11:15:46.071" v="24" actId="26606"/>
          <ac:spMkLst>
            <pc:docMk/>
            <pc:sldMk cId="4108769481" sldId="258"/>
            <ac:spMk id="9" creationId="{00000000-0000-0000-0000-000000000000}"/>
          </ac:spMkLst>
        </pc:spChg>
        <pc:spChg chg="del">
          <ac:chgData name="Mohan Reddy C" userId="326c0b85c6eb23bd" providerId="LiveId" clId="{9FF1FCC6-3490-4538-9F59-8DF5F148A4A2}" dt="2026-10-10T10:30:31.727" v="1" actId="26606"/>
          <ac:spMkLst>
            <pc:docMk/>
            <pc:sldMk cId="4108769481" sldId="258"/>
            <ac:spMk id="25" creationId="{00000000-0000-0000-0000-000000000000}"/>
          </ac:spMkLst>
        </pc:spChg>
        <pc:cxnChg chg="del">
          <ac:chgData name="Mohan Reddy C" userId="326c0b85c6eb23bd" providerId="LiveId" clId="{9FF1FCC6-3490-4538-9F59-8DF5F148A4A2}" dt="2026-10-10T10:30:31.727" v="1" actId="26606"/>
          <ac:cxnSpMkLst>
            <pc:docMk/>
            <pc:sldMk cId="4108769481" sldId="258"/>
            <ac:cxnSpMk id="48" creationId="{00000000-0000-0000-0000-000000000000}"/>
          </ac:cxnSpMkLst>
        </pc:cxnChg>
      </pc:sldChg>
      <pc:sldChg chg="modSp mod ord">
        <pc:chgData name="Mohan Reddy C" userId="326c0b85c6eb23bd" providerId="LiveId" clId="{9FF1FCC6-3490-4538-9F59-8DF5F148A4A2}" dt="2026-10-10T12:56:01.705" v="92" actId="26606"/>
        <pc:sldMkLst>
          <pc:docMk/>
          <pc:sldMk cId="506341753" sldId="260"/>
        </pc:sldMkLst>
        <pc:spChg chg="mod">
          <ac:chgData name="Mohan Reddy C" userId="326c0b85c6eb23bd" providerId="LiveId" clId="{9FF1FCC6-3490-4538-9F59-8DF5F148A4A2}" dt="2026-10-10T11:25:24.885" v="49" actId="20577"/>
          <ac:spMkLst>
            <pc:docMk/>
            <pc:sldMk cId="506341753" sldId="260"/>
            <ac:spMk id="10" creationId="{8A2255DB-579D-E986-19DF-24FAC2C3E660}"/>
          </ac:spMkLst>
        </pc:spChg>
        <pc:spChg chg="mod">
          <ac:chgData name="Mohan Reddy C" userId="326c0b85c6eb23bd" providerId="LiveId" clId="{9FF1FCC6-3490-4538-9F59-8DF5F148A4A2}" dt="2026-10-10T10:59:30.415" v="20" actId="26606"/>
          <ac:spMkLst>
            <pc:docMk/>
            <pc:sldMk cId="506341753" sldId="260"/>
            <ac:spMk id="38" creationId="{ACB691B1-80A5-2514-A4FC-6E0D53B9F9FC}"/>
          </ac:spMkLst>
        </pc:spChg>
      </pc:sldChg>
      <pc:sldChg chg="ord">
        <pc:chgData name="Mohan Reddy C" userId="326c0b85c6eb23bd" providerId="LiveId" clId="{9FF1FCC6-3490-4538-9F59-8DF5F148A4A2}" dt="2026-10-10T12:56:01.705" v="92" actId="26606"/>
        <pc:sldMkLst>
          <pc:docMk/>
          <pc:sldMk cId="3338825780" sldId="261"/>
        </pc:sldMkLst>
      </pc:sldChg>
      <pc:sldChg chg="ord">
        <pc:chgData name="Mohan Reddy C" userId="326c0b85c6eb23bd" providerId="LiveId" clId="{9FF1FCC6-3490-4538-9F59-8DF5F148A4A2}" dt="2026-10-10T12:56:01.705" v="92" actId="26606"/>
        <pc:sldMkLst>
          <pc:docMk/>
          <pc:sldMk cId="2035369681" sldId="262"/>
        </pc:sldMkLst>
      </pc:sldChg>
      <pc:sldChg chg="ord">
        <pc:chgData name="Mohan Reddy C" userId="326c0b85c6eb23bd" providerId="LiveId" clId="{9FF1FCC6-3490-4538-9F59-8DF5F148A4A2}" dt="2026-10-10T12:56:01.705" v="92" actId="26606"/>
        <pc:sldMkLst>
          <pc:docMk/>
          <pc:sldMk cId="939640524" sldId="263"/>
        </pc:sldMkLst>
      </pc:sldChg>
      <pc:sldChg chg="ord">
        <pc:chgData name="Mohan Reddy C" userId="326c0b85c6eb23bd" providerId="LiveId" clId="{9FF1FCC6-3490-4538-9F59-8DF5F148A4A2}" dt="2026-10-10T12:56:01.705" v="92" actId="26606"/>
        <pc:sldMkLst>
          <pc:docMk/>
          <pc:sldMk cId="1349328181" sldId="264"/>
        </pc:sldMkLst>
      </pc:sldChg>
      <pc:sldChg chg="del">
        <pc:chgData name="Mohan Reddy C" userId="326c0b85c6eb23bd" providerId="LiveId" clId="{9FF1FCC6-3490-4538-9F59-8DF5F148A4A2}" dt="2026-10-10T10:45:03.921" v="3" actId="47"/>
        <pc:sldMkLst>
          <pc:docMk/>
          <pc:sldMk cId="391079745" sldId="265"/>
        </pc:sldMkLst>
      </pc:sldChg>
      <pc:sldChg chg="del">
        <pc:chgData name="Mohan Reddy C" userId="326c0b85c6eb23bd" providerId="LiveId" clId="{9FF1FCC6-3490-4538-9F59-8DF5F148A4A2}" dt="2026-10-10T10:45:03.921" v="3" actId="47"/>
        <pc:sldMkLst>
          <pc:docMk/>
          <pc:sldMk cId="346873171" sldId="266"/>
        </pc:sldMkLst>
      </pc:sldChg>
      <pc:sldChg chg="addSp delSp modSp mod ord modNotes">
        <pc:chgData name="Mohan Reddy C" userId="326c0b85c6eb23bd" providerId="LiveId" clId="{9FF1FCC6-3490-4538-9F59-8DF5F148A4A2}" dt="2026-10-10T12:59:46.839" v="94" actId="478"/>
        <pc:sldMkLst>
          <pc:docMk/>
          <pc:sldMk cId="2653716608" sldId="267"/>
        </pc:sldMkLst>
        <pc:spChg chg="mod">
          <ac:chgData name="Mohan Reddy C" userId="326c0b85c6eb23bd" providerId="LiveId" clId="{9FF1FCC6-3490-4538-9F59-8DF5F148A4A2}" dt="2026-10-10T10:59:30.415" v="20" actId="26606"/>
          <ac:spMkLst>
            <pc:docMk/>
            <pc:sldMk cId="2653716608" sldId="267"/>
            <ac:spMk id="3" creationId="{B9B425C6-E9AA-9237-F812-8A3036C45A78}"/>
          </ac:spMkLst>
        </pc:spChg>
        <pc:spChg chg="mod">
          <ac:chgData name="Mohan Reddy C" userId="326c0b85c6eb23bd" providerId="LiveId" clId="{9FF1FCC6-3490-4538-9F59-8DF5F148A4A2}" dt="2026-10-10T10:59:30.415" v="20" actId="26606"/>
          <ac:spMkLst>
            <pc:docMk/>
            <pc:sldMk cId="2653716608" sldId="267"/>
            <ac:spMk id="4" creationId="{A42D8820-EDEC-46A9-9601-A07C1D22BBEE}"/>
          </ac:spMkLst>
        </pc:spChg>
        <pc:spChg chg="mod">
          <ac:chgData name="Mohan Reddy C" userId="326c0b85c6eb23bd" providerId="LiveId" clId="{9FF1FCC6-3490-4538-9F59-8DF5F148A4A2}" dt="2026-10-10T11:09:40.882" v="22" actId="26606"/>
          <ac:spMkLst>
            <pc:docMk/>
            <pc:sldMk cId="2653716608" sldId="267"/>
            <ac:spMk id="5" creationId="{CFC01141-F579-AF29-157B-D00A746304A5}"/>
          </ac:spMkLst>
        </pc:spChg>
        <pc:spChg chg="mod">
          <ac:chgData name="Mohan Reddy C" userId="326c0b85c6eb23bd" providerId="LiveId" clId="{9FF1FCC6-3490-4538-9F59-8DF5F148A4A2}" dt="2026-10-10T11:09:40.882" v="22" actId="26606"/>
          <ac:spMkLst>
            <pc:docMk/>
            <pc:sldMk cId="2653716608" sldId="267"/>
            <ac:spMk id="8" creationId="{A00DFF3D-92D5-CD02-DCE4-31AE8DCCE0B9}"/>
          </ac:spMkLst>
        </pc:spChg>
        <pc:spChg chg="mod">
          <ac:chgData name="Mohan Reddy C" userId="326c0b85c6eb23bd" providerId="LiveId" clId="{9FF1FCC6-3490-4538-9F59-8DF5F148A4A2}" dt="2026-10-10T10:59:30.415" v="20" actId="26606"/>
          <ac:spMkLst>
            <pc:docMk/>
            <pc:sldMk cId="2653716608" sldId="267"/>
            <ac:spMk id="11" creationId="{F6243D64-3D4B-2270-BFAE-7BC59FE7A3C5}"/>
          </ac:spMkLst>
        </pc:spChg>
        <pc:spChg chg="mod">
          <ac:chgData name="Mohan Reddy C" userId="326c0b85c6eb23bd" providerId="LiveId" clId="{9FF1FCC6-3490-4538-9F59-8DF5F148A4A2}" dt="2026-10-10T11:09:40.882" v="22" actId="26606"/>
          <ac:spMkLst>
            <pc:docMk/>
            <pc:sldMk cId="2653716608" sldId="267"/>
            <ac:spMk id="15" creationId="{9E31AC07-ADB3-931A-FABE-8BC8D294276F}"/>
          </ac:spMkLst>
        </pc:spChg>
        <pc:spChg chg="mod">
          <ac:chgData name="Mohan Reddy C" userId="326c0b85c6eb23bd" providerId="LiveId" clId="{9FF1FCC6-3490-4538-9F59-8DF5F148A4A2}" dt="2026-10-10T11:09:40.882" v="22" actId="26606"/>
          <ac:spMkLst>
            <pc:docMk/>
            <pc:sldMk cId="2653716608" sldId="267"/>
            <ac:spMk id="18" creationId="{E8D4C7D4-A385-25AC-E542-DA96B9EFEC1E}"/>
          </ac:spMkLst>
        </pc:spChg>
        <pc:spChg chg="mod">
          <ac:chgData name="Mohan Reddy C" userId="326c0b85c6eb23bd" providerId="LiveId" clId="{9FF1FCC6-3490-4538-9F59-8DF5F148A4A2}" dt="2026-10-10T10:30:31.727" v="1" actId="26606"/>
          <ac:spMkLst>
            <pc:docMk/>
            <pc:sldMk cId="2653716608" sldId="267"/>
            <ac:spMk id="21" creationId="{C6B3894E-2909-AA19-A77A-B5759D6CF3FC}"/>
          </ac:spMkLst>
        </pc:spChg>
        <pc:spChg chg="del">
          <ac:chgData name="Mohan Reddy C" userId="326c0b85c6eb23bd" providerId="LiveId" clId="{9FF1FCC6-3490-4538-9F59-8DF5F148A4A2}" dt="2026-10-10T10:30:31.727" v="1" actId="26606"/>
          <ac:spMkLst>
            <pc:docMk/>
            <pc:sldMk cId="2653716608" sldId="267"/>
            <ac:spMk id="24" creationId="{CACA7359-6986-57A0-8554-5DA18FB310F9}"/>
          </ac:spMkLst>
        </pc:spChg>
        <pc:spChg chg="del">
          <ac:chgData name="Mohan Reddy C" userId="326c0b85c6eb23bd" providerId="LiveId" clId="{9FF1FCC6-3490-4538-9F59-8DF5F148A4A2}" dt="2026-10-10T10:30:31.727" v="1" actId="26606"/>
          <ac:spMkLst>
            <pc:docMk/>
            <pc:sldMk cId="2653716608" sldId="267"/>
            <ac:spMk id="27" creationId="{E607E150-11E3-44E3-2239-EB9F02BDA3FE}"/>
          </ac:spMkLst>
        </pc:spChg>
        <pc:spChg chg="del">
          <ac:chgData name="Mohan Reddy C" userId="326c0b85c6eb23bd" providerId="LiveId" clId="{9FF1FCC6-3490-4538-9F59-8DF5F148A4A2}" dt="2026-10-10T10:30:31.727" v="1" actId="26606"/>
          <ac:spMkLst>
            <pc:docMk/>
            <pc:sldMk cId="2653716608" sldId="267"/>
            <ac:spMk id="29" creationId="{873E3678-460B-622C-A625-0D0FAC99E17A}"/>
          </ac:spMkLst>
        </pc:spChg>
        <pc:spChg chg="del">
          <ac:chgData name="Mohan Reddy C" userId="326c0b85c6eb23bd" providerId="LiveId" clId="{9FF1FCC6-3490-4538-9F59-8DF5F148A4A2}" dt="2026-10-10T10:30:31.727" v="1" actId="26606"/>
          <ac:spMkLst>
            <pc:docMk/>
            <pc:sldMk cId="2653716608" sldId="267"/>
            <ac:spMk id="32" creationId="{F9058EF6-6464-90AF-ACF4-6EE7FD7026F0}"/>
          </ac:spMkLst>
        </pc:spChg>
        <pc:spChg chg="mod">
          <ac:chgData name="Mohan Reddy C" userId="326c0b85c6eb23bd" providerId="LiveId" clId="{9FF1FCC6-3490-4538-9F59-8DF5F148A4A2}" dt="2026-10-10T12:52:08.605" v="51" actId="26606"/>
          <ac:spMkLst>
            <pc:docMk/>
            <pc:sldMk cId="2653716608" sldId="267"/>
            <ac:spMk id="41" creationId="{46A1EE69-24F6-4EC1-D853-ADAE59E34B31}"/>
          </ac:spMkLst>
        </pc:spChg>
        <pc:spChg chg="mod">
          <ac:chgData name="Mohan Reddy C" userId="326c0b85c6eb23bd" providerId="LiveId" clId="{9FF1FCC6-3490-4538-9F59-8DF5F148A4A2}" dt="2026-10-10T11:09:40.882" v="22" actId="26606"/>
          <ac:spMkLst>
            <pc:docMk/>
            <pc:sldMk cId="2653716608" sldId="267"/>
            <ac:spMk id="43" creationId="{DAFC2CB8-855D-05C0-C85E-C5FBDDB34ABE}"/>
          </ac:spMkLst>
        </pc:spChg>
        <pc:spChg chg="mod">
          <ac:chgData name="Mohan Reddy C" userId="326c0b85c6eb23bd" providerId="LiveId" clId="{9FF1FCC6-3490-4538-9F59-8DF5F148A4A2}" dt="2026-10-10T12:52:08.605" v="51" actId="26606"/>
          <ac:spMkLst>
            <pc:docMk/>
            <pc:sldMk cId="2653716608" sldId="267"/>
            <ac:spMk id="45" creationId="{D4DF5F0A-8116-D4AF-5638-BE3F3758D097}"/>
          </ac:spMkLst>
        </pc:spChg>
        <pc:spChg chg="del">
          <ac:chgData name="Mohan Reddy C" userId="326c0b85c6eb23bd" providerId="LiveId" clId="{9FF1FCC6-3490-4538-9F59-8DF5F148A4A2}" dt="2026-10-10T10:30:31.727" v="1" actId="26606"/>
          <ac:spMkLst>
            <pc:docMk/>
            <pc:sldMk cId="2653716608" sldId="267"/>
            <ac:spMk id="47" creationId="{EEFFD219-F967-8EEB-6D8F-007D4B723575}"/>
          </ac:spMkLst>
        </pc:spChg>
        <pc:spChg chg="del">
          <ac:chgData name="Mohan Reddy C" userId="326c0b85c6eb23bd" providerId="LiveId" clId="{9FF1FCC6-3490-4538-9F59-8DF5F148A4A2}" dt="2026-10-10T10:30:31.727" v="1" actId="26606"/>
          <ac:spMkLst>
            <pc:docMk/>
            <pc:sldMk cId="2653716608" sldId="267"/>
            <ac:spMk id="49" creationId="{FA77D721-A177-66C4-8418-8C2201EE87EE}"/>
          </ac:spMkLst>
        </pc:spChg>
        <pc:spChg chg="del">
          <ac:chgData name="Mohan Reddy C" userId="326c0b85c6eb23bd" providerId="LiveId" clId="{9FF1FCC6-3490-4538-9F59-8DF5F148A4A2}" dt="2026-10-10T10:30:31.727" v="1" actId="26606"/>
          <ac:spMkLst>
            <pc:docMk/>
            <pc:sldMk cId="2653716608" sldId="267"/>
            <ac:spMk id="51" creationId="{F1AF939E-8CB8-6D46-968B-441FA54CA658}"/>
          </ac:spMkLst>
        </pc:spChg>
        <pc:spChg chg="mod">
          <ac:chgData name="Mohan Reddy C" userId="326c0b85c6eb23bd" providerId="LiveId" clId="{9FF1FCC6-3490-4538-9F59-8DF5F148A4A2}" dt="2026-10-10T10:59:30.415" v="20" actId="26606"/>
          <ac:spMkLst>
            <pc:docMk/>
            <pc:sldMk cId="2653716608" sldId="267"/>
            <ac:spMk id="53" creationId="{2F65597F-781E-3EEA-E07E-5C0195970830}"/>
          </ac:spMkLst>
        </pc:spChg>
        <pc:spChg chg="del">
          <ac:chgData name="Mohan Reddy C" userId="326c0b85c6eb23bd" providerId="LiveId" clId="{9FF1FCC6-3490-4538-9F59-8DF5F148A4A2}" dt="2026-10-10T12:59:46.839" v="94" actId="478"/>
          <ac:spMkLst>
            <pc:docMk/>
            <pc:sldMk cId="2653716608" sldId="267"/>
            <ac:spMk id="55" creationId="{252BEDD9-A73D-3958-8EE2-80C4D9B70A39}"/>
          </ac:spMkLst>
        </pc:spChg>
        <pc:spChg chg="mod">
          <ac:chgData name="Mohan Reddy C" userId="326c0b85c6eb23bd" providerId="LiveId" clId="{9FF1FCC6-3490-4538-9F59-8DF5F148A4A2}" dt="2026-10-10T10:59:30.415" v="20" actId="26606"/>
          <ac:spMkLst>
            <pc:docMk/>
            <pc:sldMk cId="2653716608" sldId="267"/>
            <ac:spMk id="57" creationId="{38E1A20A-80E3-8033-BCBE-EB2D517FA514}"/>
          </ac:spMkLst>
        </pc:spChg>
        <pc:spChg chg="mod">
          <ac:chgData name="Mohan Reddy C" userId="326c0b85c6eb23bd" providerId="LiveId" clId="{9FF1FCC6-3490-4538-9F59-8DF5F148A4A2}" dt="2026-10-10T10:59:30.415" v="20" actId="26606"/>
          <ac:spMkLst>
            <pc:docMk/>
            <pc:sldMk cId="2653716608" sldId="267"/>
            <ac:spMk id="59" creationId="{1591DEBC-0D84-A806-F6A1-1D0DBCCCB6B2}"/>
          </ac:spMkLst>
        </pc:spChg>
        <pc:spChg chg="add mod">
          <ac:chgData name="Mohan Reddy C" userId="326c0b85c6eb23bd" providerId="LiveId" clId="{9FF1FCC6-3490-4538-9F59-8DF5F148A4A2}" dt="2026-10-10T11:15:46.071" v="24" actId="26606"/>
          <ac:spMkLst>
            <pc:docMk/>
            <pc:sldMk cId="2653716608" sldId="267"/>
            <ac:spMk id="60" creationId="{CFC01141-F579-AF29-157B-D00A746304A5}"/>
          </ac:spMkLst>
        </pc:spChg>
        <pc:spChg chg="mod">
          <ac:chgData name="Mohan Reddy C" userId="326c0b85c6eb23bd" providerId="LiveId" clId="{9FF1FCC6-3490-4538-9F59-8DF5F148A4A2}" dt="2026-10-10T11:15:46.071" v="24" actId="26606"/>
          <ac:spMkLst>
            <pc:docMk/>
            <pc:sldMk cId="2653716608" sldId="267"/>
            <ac:spMk id="62" creationId="{F6243D64-3D4B-2270-BFAE-7BC59FE7A3C5}"/>
          </ac:spMkLst>
        </pc:spChg>
        <pc:spChg chg="add">
          <ac:chgData name="Mohan Reddy C" userId="326c0b85c6eb23bd" providerId="LiveId" clId="{9FF1FCC6-3490-4538-9F59-8DF5F148A4A2}" dt="2026-10-10T11:09:40.882" v="22" actId="26606"/>
          <ac:spMkLst>
            <pc:docMk/>
            <pc:sldMk cId="2653716608" sldId="267"/>
            <ac:spMk id="64" creationId="{A00DFF3D-92D5-CD02-DCE4-31AE8DCCE0B9}"/>
          </ac:spMkLst>
        </pc:spChg>
        <pc:spChg chg="add">
          <ac:chgData name="Mohan Reddy C" userId="326c0b85c6eb23bd" providerId="LiveId" clId="{9FF1FCC6-3490-4538-9F59-8DF5F148A4A2}" dt="2026-10-10T11:09:40.882" v="22" actId="26606"/>
          <ac:spMkLst>
            <pc:docMk/>
            <pc:sldMk cId="2653716608" sldId="267"/>
            <ac:spMk id="65" creationId="{F6243D64-3D4B-2270-BFAE-7BC59FE7A3C5}"/>
          </ac:spMkLst>
        </pc:spChg>
      </pc:sldChg>
      <pc:sldChg chg="delSp mod ord">
        <pc:chgData name="Mohan Reddy C" userId="326c0b85c6eb23bd" providerId="LiveId" clId="{9FF1FCC6-3490-4538-9F59-8DF5F148A4A2}" dt="2026-10-10T12:59:39.611" v="93" actId="478"/>
        <pc:sldMkLst>
          <pc:docMk/>
          <pc:sldMk cId="345071214" sldId="268"/>
        </pc:sldMkLst>
        <pc:spChg chg="del">
          <ac:chgData name="Mohan Reddy C" userId="326c0b85c6eb23bd" providerId="LiveId" clId="{9FF1FCC6-3490-4538-9F59-8DF5F148A4A2}" dt="2026-10-10T12:59:39.611" v="93" actId="478"/>
          <ac:spMkLst>
            <pc:docMk/>
            <pc:sldMk cId="345071214" sldId="268"/>
            <ac:spMk id="65" creationId="{38B283ED-971D-AF44-503A-5247F9CF887B}"/>
          </ac:spMkLst>
        </pc:spChg>
      </pc:sldChg>
      <pc:sldChg chg="modSp mod ord">
        <pc:chgData name="Mohan Reddy C" userId="326c0b85c6eb23bd" providerId="LiveId" clId="{9FF1FCC6-3490-4538-9F59-8DF5F148A4A2}" dt="2026-10-10T12:56:01.705" v="92" actId="26606"/>
        <pc:sldMkLst>
          <pc:docMk/>
          <pc:sldMk cId="1154972952" sldId="269"/>
        </pc:sldMkLst>
        <pc:spChg chg="mod">
          <ac:chgData name="Mohan Reddy C" userId="326c0b85c6eb23bd" providerId="LiveId" clId="{9FF1FCC6-3490-4538-9F59-8DF5F148A4A2}" dt="2026-10-10T10:59:30.415" v="20" actId="26606"/>
          <ac:spMkLst>
            <pc:docMk/>
            <pc:sldMk cId="1154972952" sldId="269"/>
            <ac:spMk id="4" creationId="{5CC9127D-0B81-6CC6-322E-14B15EDCD26D}"/>
          </ac:spMkLst>
        </pc:spChg>
        <pc:spChg chg="mod">
          <ac:chgData name="Mohan Reddy C" userId="326c0b85c6eb23bd" providerId="LiveId" clId="{9FF1FCC6-3490-4538-9F59-8DF5F148A4A2}" dt="2026-10-10T10:59:30.415" v="20" actId="26606"/>
          <ac:spMkLst>
            <pc:docMk/>
            <pc:sldMk cId="1154972952" sldId="269"/>
            <ac:spMk id="5" creationId="{86476820-3FDB-A2FA-534C-AD3DD13C07F0}"/>
          </ac:spMkLst>
        </pc:spChg>
        <pc:spChg chg="mod">
          <ac:chgData name="Mohan Reddy C" userId="326c0b85c6eb23bd" providerId="LiveId" clId="{9FF1FCC6-3490-4538-9F59-8DF5F148A4A2}" dt="2026-10-10T10:59:30.415" v="20" actId="26606"/>
          <ac:spMkLst>
            <pc:docMk/>
            <pc:sldMk cId="1154972952" sldId="269"/>
            <ac:spMk id="8" creationId="{5DBEBEAB-5C3A-E2A8-3819-622BEC8906B8}"/>
          </ac:spMkLst>
        </pc:spChg>
        <pc:spChg chg="mod">
          <ac:chgData name="Mohan Reddy C" userId="326c0b85c6eb23bd" providerId="LiveId" clId="{9FF1FCC6-3490-4538-9F59-8DF5F148A4A2}" dt="2026-10-10T10:59:30.415" v="20" actId="26606"/>
          <ac:spMkLst>
            <pc:docMk/>
            <pc:sldMk cId="1154972952" sldId="269"/>
            <ac:spMk id="11" creationId="{566605DF-553E-169C-7827-72009C03D946}"/>
          </ac:spMkLst>
        </pc:spChg>
        <pc:spChg chg="mod">
          <ac:chgData name="Mohan Reddy C" userId="326c0b85c6eb23bd" providerId="LiveId" clId="{9FF1FCC6-3490-4538-9F59-8DF5F148A4A2}" dt="2026-10-10T10:59:30.415" v="20" actId="26606"/>
          <ac:spMkLst>
            <pc:docMk/>
            <pc:sldMk cId="1154972952" sldId="269"/>
            <ac:spMk id="15" creationId="{D8060359-54DD-3A25-7137-961D5545903C}"/>
          </ac:spMkLst>
        </pc:spChg>
        <pc:spChg chg="mod">
          <ac:chgData name="Mohan Reddy C" userId="326c0b85c6eb23bd" providerId="LiveId" clId="{9FF1FCC6-3490-4538-9F59-8DF5F148A4A2}" dt="2026-10-10T10:59:30.415" v="20" actId="26606"/>
          <ac:spMkLst>
            <pc:docMk/>
            <pc:sldMk cId="1154972952" sldId="269"/>
            <ac:spMk id="21" creationId="{BD1321A2-32F1-5AEF-FB0D-80DE3263FAED}"/>
          </ac:spMkLst>
        </pc:spChg>
        <pc:spChg chg="mod">
          <ac:chgData name="Mohan Reddy C" userId="326c0b85c6eb23bd" providerId="LiveId" clId="{9FF1FCC6-3490-4538-9F59-8DF5F148A4A2}" dt="2026-10-10T10:59:30.415" v="20" actId="26606"/>
          <ac:spMkLst>
            <pc:docMk/>
            <pc:sldMk cId="1154972952" sldId="269"/>
            <ac:spMk id="24" creationId="{F53AD383-FD76-EF1A-B5BD-D658CD707E6D}"/>
          </ac:spMkLst>
        </pc:spChg>
        <pc:spChg chg="mod">
          <ac:chgData name="Mohan Reddy C" userId="326c0b85c6eb23bd" providerId="LiveId" clId="{9FF1FCC6-3490-4538-9F59-8DF5F148A4A2}" dt="2026-10-10T10:59:30.415" v="20" actId="26606"/>
          <ac:spMkLst>
            <pc:docMk/>
            <pc:sldMk cId="1154972952" sldId="269"/>
            <ac:spMk id="27" creationId="{83D503A5-5CEB-DA99-2572-8360C87DE90E}"/>
          </ac:spMkLst>
        </pc:spChg>
        <pc:spChg chg="mod">
          <ac:chgData name="Mohan Reddy C" userId="326c0b85c6eb23bd" providerId="LiveId" clId="{9FF1FCC6-3490-4538-9F59-8DF5F148A4A2}" dt="2026-10-10T10:59:30.415" v="20" actId="26606"/>
          <ac:spMkLst>
            <pc:docMk/>
            <pc:sldMk cId="1154972952" sldId="269"/>
            <ac:spMk id="29" creationId="{F7094A57-BD66-E25E-2EDA-24A0B3726A99}"/>
          </ac:spMkLst>
        </pc:spChg>
        <pc:spChg chg="mod">
          <ac:chgData name="Mohan Reddy C" userId="326c0b85c6eb23bd" providerId="LiveId" clId="{9FF1FCC6-3490-4538-9F59-8DF5F148A4A2}" dt="2026-10-10T10:59:30.415" v="20" actId="26606"/>
          <ac:spMkLst>
            <pc:docMk/>
            <pc:sldMk cId="1154972952" sldId="269"/>
            <ac:spMk id="32" creationId="{47D1937A-AC79-CFA5-C5C0-524BECAEE978}"/>
          </ac:spMkLst>
        </pc:spChg>
      </pc:sldChg>
      <pc:sldChg chg="modSp mod ord">
        <pc:chgData name="Mohan Reddy C" userId="326c0b85c6eb23bd" providerId="LiveId" clId="{9FF1FCC6-3490-4538-9F59-8DF5F148A4A2}" dt="2026-10-10T12:56:01.705" v="92" actId="26606"/>
        <pc:sldMkLst>
          <pc:docMk/>
          <pc:sldMk cId="681348475" sldId="270"/>
        </pc:sldMkLst>
        <pc:spChg chg="mod">
          <ac:chgData name="Mohan Reddy C" userId="326c0b85c6eb23bd" providerId="LiveId" clId="{9FF1FCC6-3490-4538-9F59-8DF5F148A4A2}" dt="2026-10-10T10:59:30.415" v="20" actId="26606"/>
          <ac:spMkLst>
            <pc:docMk/>
            <pc:sldMk cId="681348475" sldId="270"/>
            <ac:spMk id="2" creationId="{195A8490-0675-AB9F-C4FA-EAC7CB6E406D}"/>
          </ac:spMkLst>
        </pc:spChg>
        <pc:spChg chg="mod">
          <ac:chgData name="Mohan Reddy C" userId="326c0b85c6eb23bd" providerId="LiveId" clId="{9FF1FCC6-3490-4538-9F59-8DF5F148A4A2}" dt="2026-10-10T10:59:30.415" v="20" actId="26606"/>
          <ac:spMkLst>
            <pc:docMk/>
            <pc:sldMk cId="681348475" sldId="270"/>
            <ac:spMk id="7" creationId="{00000000-0000-0000-0000-000000000000}"/>
          </ac:spMkLst>
        </pc:spChg>
        <pc:spChg chg="mod">
          <ac:chgData name="Mohan Reddy C" userId="326c0b85c6eb23bd" providerId="LiveId" clId="{9FF1FCC6-3490-4538-9F59-8DF5F148A4A2}" dt="2026-10-10T10:59:30.415" v="20" actId="26606"/>
          <ac:spMkLst>
            <pc:docMk/>
            <pc:sldMk cId="681348475" sldId="270"/>
            <ac:spMk id="10" creationId="{00000000-0000-0000-0000-000000000000}"/>
          </ac:spMkLst>
        </pc:spChg>
        <pc:spChg chg="mod">
          <ac:chgData name="Mohan Reddy C" userId="326c0b85c6eb23bd" providerId="LiveId" clId="{9FF1FCC6-3490-4538-9F59-8DF5F148A4A2}" dt="2026-10-10T10:59:30.415" v="20" actId="26606"/>
          <ac:spMkLst>
            <pc:docMk/>
            <pc:sldMk cId="681348475" sldId="270"/>
            <ac:spMk id="30" creationId="{00000000-0000-0000-0000-000000000000}"/>
          </ac:spMkLst>
        </pc:spChg>
        <pc:spChg chg="mod">
          <ac:chgData name="Mohan Reddy C" userId="326c0b85c6eb23bd" providerId="LiveId" clId="{9FF1FCC6-3490-4538-9F59-8DF5F148A4A2}" dt="2026-10-10T10:59:30.415" v="20" actId="26606"/>
          <ac:spMkLst>
            <pc:docMk/>
            <pc:sldMk cId="681348475" sldId="270"/>
            <ac:spMk id="31" creationId="{00000000-0000-0000-0000-000000000000}"/>
          </ac:spMkLst>
        </pc:spChg>
        <pc:spChg chg="mod">
          <ac:chgData name="Mohan Reddy C" userId="326c0b85c6eb23bd" providerId="LiveId" clId="{9FF1FCC6-3490-4538-9F59-8DF5F148A4A2}" dt="2026-10-10T10:59:30.415" v="20" actId="26606"/>
          <ac:spMkLst>
            <pc:docMk/>
            <pc:sldMk cId="681348475" sldId="270"/>
            <ac:spMk id="33" creationId="{00000000-0000-0000-0000-000000000000}"/>
          </ac:spMkLst>
        </pc:spChg>
        <pc:spChg chg="mod">
          <ac:chgData name="Mohan Reddy C" userId="326c0b85c6eb23bd" providerId="LiveId" clId="{9FF1FCC6-3490-4538-9F59-8DF5F148A4A2}" dt="2026-10-10T12:54:27.484" v="89" actId="113"/>
          <ac:spMkLst>
            <pc:docMk/>
            <pc:sldMk cId="681348475" sldId="270"/>
            <ac:spMk id="41" creationId="{00000000-0000-0000-0000-000000000000}"/>
          </ac:spMkLst>
        </pc:spChg>
      </pc:sldChg>
      <pc:sldChg chg="modSp mod ord">
        <pc:chgData name="Mohan Reddy C" userId="326c0b85c6eb23bd" providerId="LiveId" clId="{9FF1FCC6-3490-4538-9F59-8DF5F148A4A2}" dt="2026-10-10T12:56:01.705" v="92" actId="26606"/>
        <pc:sldMkLst>
          <pc:docMk/>
          <pc:sldMk cId="90422126" sldId="271"/>
        </pc:sldMkLst>
        <pc:spChg chg="mod">
          <ac:chgData name="Mohan Reddy C" userId="326c0b85c6eb23bd" providerId="LiveId" clId="{9FF1FCC6-3490-4538-9F59-8DF5F148A4A2}" dt="2026-10-10T10:39:53.561" v="2" actId="20577"/>
          <ac:spMkLst>
            <pc:docMk/>
            <pc:sldMk cId="90422126" sldId="271"/>
            <ac:spMk id="57" creationId="{00000000-0000-0000-0000-000000000000}"/>
          </ac:spMkLst>
        </pc:spChg>
      </pc:sldChg>
      <pc:sldChg chg="del">
        <pc:chgData name="Mohan Reddy C" userId="326c0b85c6eb23bd" providerId="LiveId" clId="{9FF1FCC6-3490-4538-9F59-8DF5F148A4A2}" dt="2026-10-10T10:45:03.921" v="3" actId="47"/>
        <pc:sldMkLst>
          <pc:docMk/>
          <pc:sldMk cId="2702852234" sldId="272"/>
        </pc:sldMkLst>
      </pc:sldChg>
      <pc:sldChg chg="del">
        <pc:chgData name="Mohan Reddy C" userId="326c0b85c6eb23bd" providerId="LiveId" clId="{9FF1FCC6-3490-4538-9F59-8DF5F148A4A2}" dt="2026-10-10T10:45:03.921" v="3" actId="47"/>
        <pc:sldMkLst>
          <pc:docMk/>
          <pc:sldMk cId="2666128532" sldId="273"/>
        </pc:sldMkLst>
      </pc:sldChg>
      <pc:sldChg chg="del">
        <pc:chgData name="Mohan Reddy C" userId="326c0b85c6eb23bd" providerId="LiveId" clId="{9FF1FCC6-3490-4538-9F59-8DF5F148A4A2}" dt="2026-10-10T10:45:03.921" v="3" actId="47"/>
        <pc:sldMkLst>
          <pc:docMk/>
          <pc:sldMk cId="3006477466" sldId="274"/>
        </pc:sldMkLst>
      </pc:sldChg>
      <pc:sldChg chg="del">
        <pc:chgData name="Mohan Reddy C" userId="326c0b85c6eb23bd" providerId="LiveId" clId="{9FF1FCC6-3490-4538-9F59-8DF5F148A4A2}" dt="2026-10-10T10:45:03.921" v="3" actId="47"/>
        <pc:sldMkLst>
          <pc:docMk/>
          <pc:sldMk cId="2890975388" sldId="275"/>
        </pc:sldMkLst>
      </pc:sldChg>
      <pc:sldChg chg="del">
        <pc:chgData name="Mohan Reddy C" userId="326c0b85c6eb23bd" providerId="LiveId" clId="{9FF1FCC6-3490-4538-9F59-8DF5F148A4A2}" dt="2026-10-10T10:45:03.921" v="3" actId="47"/>
        <pc:sldMkLst>
          <pc:docMk/>
          <pc:sldMk cId="1516406607" sldId="276"/>
        </pc:sldMkLst>
      </pc:sldChg>
      <pc:sldChg chg="del">
        <pc:chgData name="Mohan Reddy C" userId="326c0b85c6eb23bd" providerId="LiveId" clId="{9FF1FCC6-3490-4538-9F59-8DF5F148A4A2}" dt="2026-10-10T10:45:03.921" v="3" actId="47"/>
        <pc:sldMkLst>
          <pc:docMk/>
          <pc:sldMk cId="1633123479" sldId="277"/>
        </pc:sldMkLst>
      </pc:sldChg>
      <pc:sldChg chg="del">
        <pc:chgData name="Mohan Reddy C" userId="326c0b85c6eb23bd" providerId="LiveId" clId="{9FF1FCC6-3490-4538-9F59-8DF5F148A4A2}" dt="2026-10-10T10:45:03.921" v="3" actId="47"/>
        <pc:sldMkLst>
          <pc:docMk/>
          <pc:sldMk cId="3907173399" sldId="278"/>
        </pc:sldMkLst>
      </pc:sldChg>
      <pc:sldChg chg="del">
        <pc:chgData name="Mohan Reddy C" userId="326c0b85c6eb23bd" providerId="LiveId" clId="{9FF1FCC6-3490-4538-9F59-8DF5F148A4A2}" dt="2026-10-10T10:45:03.921" v="3" actId="47"/>
        <pc:sldMkLst>
          <pc:docMk/>
          <pc:sldMk cId="212711536" sldId="279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031033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D2F9F8-85B4-4793-90A1-52C02CAC1F68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81410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0746C3-5E8B-A77E-9C9A-1D155391E3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441B5AB-A1E7-8175-BE1A-54E2DC190D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9561A95-6FDF-747E-F1A9-AC2E185180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0DB1C9-D5EA-C21C-6957-DFAFCD27F6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D2F9F8-85B4-4793-90A1-52C02CAC1F68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215116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D21386-FC84-9041-6589-3B284FA024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37A6962-CF40-AE8B-45D7-1ECE33E1F6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848331D-EA69-877A-39DB-B655070BC3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98C3A6-1455-5678-EFEA-81DE71E0F5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D2F9F8-85B4-4793-90A1-52C02CAC1F68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08309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C39ABD-C6ED-7A5F-30AC-7B4623B747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55670DF-2E10-CE8E-14DB-BADE29E269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A69BA0-2CD1-B555-75CC-D22F9AC099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21DDA4-5341-4C62-A4D8-EBBCD13DE7D6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370D12-AA53-C890-6C9D-174C49401B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671197-F659-660A-3A81-BC4927C66E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93E2B-8C53-4CE6-87EA-C3936E520B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13952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7EE7A0-673F-14D1-5F59-1E7DC8A146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48DA1C-5F8F-1554-970A-A15F897C25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54D771-8EC5-AB0B-3A7D-972E38CDC0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21DDA4-5341-4C62-A4D8-EBBCD13DE7D6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8562B0-BAEC-A9F2-6AAC-7CD65FC489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5A5BD0-735E-14CB-874E-7EAB2F13BD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93E2B-8C53-4CE6-87EA-C3936E520B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2607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3882F6-51BF-6530-C8BC-19ADFA352A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7293F1-94FD-EE8C-D783-EF2C10D599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9A09F-F841-1C17-17EC-7A97811825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21DDA4-5341-4C62-A4D8-EBBCD13DE7D6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8BC9D0-9E7E-83BB-3545-2BEE2DADAE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44493D-D6B4-973B-BCBB-FE49FFCAFC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93E2B-8C53-4CE6-87EA-C3936E520B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89975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80C66C-BB82-423B-12E8-7A00E17BD1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134C8C-F3F7-0C69-99DC-C43DC4C438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5F8559-80E8-4812-D445-0DEAA5F0B7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E8827E-BC70-690A-DEFE-32BD67F2CD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21DDA4-5341-4C62-A4D8-EBBCD13DE7D6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6D66F1-D9FD-B9FE-E6F3-08F8276017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9EEFA4-BE82-1260-06D5-D0E8C6DD66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93E2B-8C53-4CE6-87EA-C3936E520B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67535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CEA2BE-D48F-FD39-BA0C-E4329A7BED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BBF590-5992-8271-88B2-19DA45AF5A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125291-D241-7EEF-A4D5-F52F58FF8B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F3E8B0E-178D-12EC-0AA8-39FA3C84767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CAA2E23-73D9-CDFF-5D39-E96CD490D68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DAD971D-66F2-3715-F749-3A67F0DF3E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21DDA4-5341-4C62-A4D8-EBBCD13DE7D6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21F5F3-2289-EBEB-7C70-FBC44C8DDD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45ED1C0-1DB7-4CD4-8CEB-432BFA8B4E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93E2B-8C53-4CE6-87EA-C3936E520B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69730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E8C4D4-8B1C-597A-7A52-B2F28ACF06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C48DC2B-0BAD-D10D-820C-5BF46E92F7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21DDA4-5341-4C62-A4D8-EBBCD13DE7D6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73662BA-1195-DC33-0CD0-6425A312FA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09A0D2-1158-AC74-FC37-0ECC7CDD81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93E2B-8C53-4CE6-87EA-C3936E520B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87562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57F91CC-2328-88F4-A021-F12015F48B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21DDA4-5341-4C62-A4D8-EBBCD13DE7D6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496A12C-D478-15D9-8A8E-55E2146D6D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2B3CF9-3CF0-3301-E958-C4C2529F84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93E2B-8C53-4CE6-87EA-C3936E520B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82142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pyright">
            <a:extLst>
              <a:ext uri="{FF2B5EF4-FFF2-40B4-BE49-F238E27FC236}">
                <a16:creationId xmlns:a16="http://schemas.microsoft.com/office/drawing/2014/main" id="{125C18E8-89C0-EFC9-9E87-07DE6D431042}"/>
              </a:ext>
            </a:extLst>
          </p:cNvPr>
          <p:cNvSpPr txBox="1"/>
          <p:nvPr userDrawn="1"/>
        </p:nvSpPr>
        <p:spPr>
          <a:xfrm>
            <a:off x="9898229" y="6605709"/>
            <a:ext cx="2096728" cy="138499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900" dirty="0">
                <a:solidFill>
                  <a:schemeClr val="tx1">
                    <a:lumMod val="50000"/>
                    <a:lumOff val="50000"/>
                    <a:alpha val="75000"/>
                  </a:schemeClr>
                </a:solidFill>
                <a:latin typeface="Graphik" panose="020B0503030202060203" pitchFamily="34" charset="77"/>
              </a:rPr>
              <a:t>Copyright © 2026. All rights reserved.</a:t>
            </a:r>
            <a:endParaRPr lang="en-US" sz="1400" noProof="0" dirty="0">
              <a:solidFill>
                <a:schemeClr val="tx1">
                  <a:lumMod val="50000"/>
                  <a:lumOff val="50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7811904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7E41C8-BD10-3ADF-15F6-7E8A019FFF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E9E5DE-19EF-4775-BC5E-21FBA0EBA3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19B9BE-F5A2-A852-27C3-B2FFDBB3B1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F55094-EFFD-F8EE-638A-6E5F6CDB15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21DDA4-5341-4C62-A4D8-EBBCD13DE7D6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648B2D-ECAD-4334-F8C0-0C54FA35D6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FDE0E7-2FE6-ECC1-6ACC-59CC268007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93E2B-8C53-4CE6-87EA-C3936E520B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9123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4C6904-CAE5-7AF6-957C-E2D99CACAB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3AB84FD-968B-CA5C-3393-EC375F4230F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FD40C2-8099-66FF-BF5D-183C45FD40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D78D66-5A4C-76E8-9FDA-B23A2026E3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21DDA4-5341-4C62-A4D8-EBBCD13DE7D6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8B9EEA-3466-D9A9-C63D-9C4772F879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F4518A-B00B-EA23-E983-A4B4356022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93E2B-8C53-4CE6-87EA-C3936E520B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18903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32AE8B-5BB1-CA0B-A198-A9960F79B4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0BF7FF6-6890-F551-2A43-5A225F7007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ED8EB7-2BD5-D574-55A8-777B96237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21DDA4-5341-4C62-A4D8-EBBCD13DE7D6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0E7D7A-C0C8-3046-276F-EB8B1B634C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692653-DD65-362C-EB9B-1618D66498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93E2B-8C53-4CE6-87EA-C3936E520B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43836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9F6F794-2E7B-53A6-4856-25B3A58A37D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1D62631-BFCD-5504-8CC0-4E63602800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69FF9C-5741-5C9F-FAB8-70F5EB9109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21DDA4-5341-4C62-A4D8-EBBCD13DE7D6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BA5337-2CC1-9496-013C-9B1086B383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9A6EF7-925D-510A-1DC6-C8D0827354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93E2B-8C53-4CE6-87EA-C3936E520B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40218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D391B1A-E344-7641-46C4-93CD50FF1B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A919C4-5156-BD9C-C68F-D13411678A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8E0B59-1D1D-D23C-758D-9BB3B052DC9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021DDA4-5341-4C62-A4D8-EBBCD13DE7D6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05A492-0BE6-F1B9-EEE1-3E94B062B6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475D72-A334-56AA-6DA9-EEFF7D5F1A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A993E2B-8C53-4CE6-87EA-C3936E520B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65056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72" r:id="rId8"/>
    <p:sldLayoutId id="2147483668" r:id="rId9"/>
    <p:sldLayoutId id="2147483669" r:id="rId10"/>
    <p:sldLayoutId id="2147483670" r:id="rId11"/>
    <p:sldLayoutId id="2147483671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10.svg"/><Relationship Id="rId7" Type="http://schemas.openxmlformats.org/officeDocument/2006/relationships/image" Target="../media/image14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3.svg"/><Relationship Id="rId5" Type="http://schemas.openxmlformats.org/officeDocument/2006/relationships/image" Target="../media/image12.svg"/><Relationship Id="rId4" Type="http://schemas.openxmlformats.org/officeDocument/2006/relationships/image" Target="../media/image11.sv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anel">
            <a:extLst>
              <a:ext uri="{FF2B5EF4-FFF2-40B4-BE49-F238E27FC236}">
                <a16:creationId xmlns:a16="http://schemas.microsoft.com/office/drawing/2014/main" id="{1A7AFF66-19D4-2354-0C82-74075D0E60B2}"/>
              </a:ext>
            </a:extLst>
          </p:cNvPr>
          <p:cNvSpPr/>
          <p:nvPr/>
        </p:nvSpPr>
        <p:spPr>
          <a:xfrm>
            <a:off x="8140233" y="-28105"/>
            <a:ext cx="4064000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5" name="Flow Label">
            <a:extLst>
              <a:ext uri="{FF2B5EF4-FFF2-40B4-BE49-F238E27FC236}">
                <a16:creationId xmlns:a16="http://schemas.microsoft.com/office/drawing/2014/main" id="{C3A8641F-FE33-9265-CF61-DEF71DE49BE4}"/>
              </a:ext>
            </a:extLst>
          </p:cNvPr>
          <p:cNvSpPr/>
          <p:nvPr/>
        </p:nvSpPr>
        <p:spPr>
          <a:xfrm>
            <a:off x="8546633" y="1495895"/>
            <a:ext cx="3251200" cy="6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en-US" sz="1200" b="1" spc="200" dirty="0">
                <a:solidFill>
                  <a:schemeClr val="bg1"/>
                </a:solidFill>
              </a:rPr>
              <a:t>HIT RECORD.</a:t>
            </a:r>
          </a:p>
          <a:p>
            <a:pPr marL="0" indent="0" algn="l">
              <a:buNone/>
            </a:pPr>
            <a:r>
              <a:rPr lang="en-US" sz="1200" b="1" spc="200" dirty="0">
                <a:solidFill>
                  <a:schemeClr val="bg1"/>
                </a:solidFill>
              </a:rPr>
              <a:t>WE HANDLE THE REST.</a:t>
            </a:r>
          </a:p>
        </p:txBody>
      </p:sp>
      <p:sp>
        <p:nvSpPr>
          <p:cNvPr id="7" name="Flow Line">
            <a:extLst>
              <a:ext uri="{FF2B5EF4-FFF2-40B4-BE49-F238E27FC236}">
                <a16:creationId xmlns:a16="http://schemas.microsoft.com/office/drawing/2014/main" id="{CA0C263D-1B80-1069-038B-7129BB202BE9}"/>
              </a:ext>
            </a:extLst>
          </p:cNvPr>
          <p:cNvSpPr/>
          <p:nvPr/>
        </p:nvSpPr>
        <p:spPr>
          <a:xfrm>
            <a:off x="8753475" y="2667000"/>
            <a:ext cx="19050" cy="2133600"/>
          </a:xfrm>
          <a:prstGeom prst="rect">
            <a:avLst/>
          </a:prstGeom>
          <a:solidFill>
            <a:srgbClr val="FFFFFF">
              <a:alpha val="45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" name="Flow Step 1">
            <a:extLst>
              <a:ext uri="{FF2B5EF4-FFF2-40B4-BE49-F238E27FC236}">
                <a16:creationId xmlns:a16="http://schemas.microsoft.com/office/drawing/2014/main" id="{A4C2F3FE-A4DA-E6E3-1620-BE82803734CA}"/>
              </a:ext>
            </a:extLst>
          </p:cNvPr>
          <p:cNvSpPr/>
          <p:nvPr/>
        </p:nvSpPr>
        <p:spPr>
          <a:xfrm>
            <a:off x="8546633" y="2410295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en-US" sz="1400" b="1">
                <a:solidFill>
                  <a:schemeClr val="accent1"/>
                </a:solidFill>
              </a:rPr>
              <a:t>1</a:t>
            </a:r>
          </a:p>
        </p:txBody>
      </p:sp>
      <p:sp>
        <p:nvSpPr>
          <p:cNvPr id="11" name="Flow Text 1">
            <a:extLst>
              <a:ext uri="{FF2B5EF4-FFF2-40B4-BE49-F238E27FC236}">
                <a16:creationId xmlns:a16="http://schemas.microsoft.com/office/drawing/2014/main" id="{DE4C295D-023F-900F-4680-859BE0AFE3C5}"/>
              </a:ext>
            </a:extLst>
          </p:cNvPr>
          <p:cNvSpPr/>
          <p:nvPr/>
        </p:nvSpPr>
        <p:spPr>
          <a:xfrm>
            <a:off x="9232433" y="2410295"/>
            <a:ext cx="26670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en-US" sz="2000" b="1">
                <a:solidFill>
                  <a:srgbClr val="FFFFFF"/>
                </a:solidFill>
              </a:rPr>
              <a:t>Transcript</a:t>
            </a:r>
          </a:p>
        </p:txBody>
      </p:sp>
      <p:sp>
        <p:nvSpPr>
          <p:cNvPr id="13" name="Flow Step 2">
            <a:extLst>
              <a:ext uri="{FF2B5EF4-FFF2-40B4-BE49-F238E27FC236}">
                <a16:creationId xmlns:a16="http://schemas.microsoft.com/office/drawing/2014/main" id="{C15E3FCA-BD8A-124A-FE63-C2A2124A4B8D}"/>
              </a:ext>
            </a:extLst>
          </p:cNvPr>
          <p:cNvSpPr/>
          <p:nvPr/>
        </p:nvSpPr>
        <p:spPr>
          <a:xfrm>
            <a:off x="8534400" y="3505200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en-US" sz="1400" b="1">
                <a:solidFill>
                  <a:schemeClr val="accent1"/>
                </a:solidFill>
              </a:rPr>
              <a:t>2</a:t>
            </a:r>
          </a:p>
        </p:txBody>
      </p:sp>
      <p:sp>
        <p:nvSpPr>
          <p:cNvPr id="15" name="Flow Text 2">
            <a:extLst>
              <a:ext uri="{FF2B5EF4-FFF2-40B4-BE49-F238E27FC236}">
                <a16:creationId xmlns:a16="http://schemas.microsoft.com/office/drawing/2014/main" id="{9C76298B-3331-5792-F3D3-4A692A767136}"/>
              </a:ext>
            </a:extLst>
          </p:cNvPr>
          <p:cNvSpPr/>
          <p:nvPr/>
        </p:nvSpPr>
        <p:spPr>
          <a:xfrm>
            <a:off x="9232433" y="3477095"/>
            <a:ext cx="26670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</a:rPr>
              <a:t>Meeting intelligence</a:t>
            </a:r>
          </a:p>
        </p:txBody>
      </p:sp>
      <p:sp>
        <p:nvSpPr>
          <p:cNvPr id="17" name="Flow Step 3">
            <a:extLst>
              <a:ext uri="{FF2B5EF4-FFF2-40B4-BE49-F238E27FC236}">
                <a16:creationId xmlns:a16="http://schemas.microsoft.com/office/drawing/2014/main" id="{B7BD4BC7-B9F7-C58E-C807-CA272014676E}"/>
              </a:ext>
            </a:extLst>
          </p:cNvPr>
          <p:cNvSpPr/>
          <p:nvPr/>
        </p:nvSpPr>
        <p:spPr>
          <a:xfrm>
            <a:off x="8546633" y="4543895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en-US" sz="1400" b="1">
                <a:solidFill>
                  <a:schemeClr val="accent1"/>
                </a:solidFill>
              </a:rPr>
              <a:t>3</a:t>
            </a:r>
          </a:p>
        </p:txBody>
      </p:sp>
      <p:sp>
        <p:nvSpPr>
          <p:cNvPr id="19" name="Flow Text 3">
            <a:extLst>
              <a:ext uri="{FF2B5EF4-FFF2-40B4-BE49-F238E27FC236}">
                <a16:creationId xmlns:a16="http://schemas.microsoft.com/office/drawing/2014/main" id="{F5D845C4-5E11-8AE5-4162-9A75AC0317E6}"/>
              </a:ext>
            </a:extLst>
          </p:cNvPr>
          <p:cNvSpPr/>
          <p:nvPr/>
        </p:nvSpPr>
        <p:spPr>
          <a:xfrm>
            <a:off x="9232433" y="4391495"/>
            <a:ext cx="26670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en-US" sz="2000" b="1">
                <a:solidFill>
                  <a:srgbClr val="FFFFFF"/>
                </a:solidFill>
              </a:rPr>
              <a:t>Jira · Calendar</a:t>
            </a:r>
          </a:p>
          <a:p>
            <a:pPr marL="0" indent="0" algn="l">
              <a:buNone/>
            </a:pPr>
            <a:r>
              <a:rPr lang="en-US" sz="2000" b="1">
                <a:solidFill>
                  <a:srgbClr val="FFFFFF"/>
                </a:solidFill>
              </a:rPr>
              <a:t>Gmail · Slack</a:t>
            </a:r>
          </a:p>
        </p:txBody>
      </p:sp>
      <p:sp>
        <p:nvSpPr>
          <p:cNvPr id="21" name="Kicker">
            <a:extLst>
              <a:ext uri="{FF2B5EF4-FFF2-40B4-BE49-F238E27FC236}">
                <a16:creationId xmlns:a16="http://schemas.microsoft.com/office/drawing/2014/main" id="{3A03D76A-BE23-046B-D3E5-98646AF0D841}"/>
              </a:ext>
            </a:extLst>
          </p:cNvPr>
          <p:cNvSpPr/>
          <p:nvPr/>
        </p:nvSpPr>
        <p:spPr>
          <a:xfrm>
            <a:off x="482600" y="241300"/>
            <a:ext cx="711200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45720" rIns="0" bIns="45720" anchor="t">
            <a:noAutofit/>
          </a:bodyPr>
          <a:lstStyle/>
          <a:p>
            <a:pPr marL="0" indent="0" algn="l">
              <a:buNone/>
            </a:pPr>
            <a:r>
              <a:rPr lang="en-US" sz="1400" b="1" spc="200" dirty="0">
                <a:solidFill>
                  <a:schemeClr val="accent1"/>
                </a:solidFill>
              </a:rPr>
              <a:t>CAPSTONE PROJECT DEMO</a:t>
            </a:r>
          </a:p>
        </p:txBody>
      </p:sp>
      <p:sp>
        <p:nvSpPr>
          <p:cNvPr id="23" name="Deck Title">
            <a:extLst>
              <a:ext uri="{FF2B5EF4-FFF2-40B4-BE49-F238E27FC236}">
                <a16:creationId xmlns:a16="http://schemas.microsoft.com/office/drawing/2014/main" id="{2A6E9E6C-859F-E60A-E65B-31D967EFF7DE}"/>
              </a:ext>
            </a:extLst>
          </p:cNvPr>
          <p:cNvSpPr/>
          <p:nvPr/>
        </p:nvSpPr>
        <p:spPr>
          <a:xfrm>
            <a:off x="482600" y="596900"/>
            <a:ext cx="7239000" cy="1198995"/>
          </a:xfrm>
          <a:prstGeom prst="rect">
            <a:avLst/>
          </a:prstGeom>
          <a:noFill/>
          <a:ln>
            <a:noFill/>
          </a:ln>
        </p:spPr>
        <p:txBody>
          <a:bodyPr wrap="square" lIns="0" tIns="45720" rIns="0" bIns="45720" anchor="t">
            <a:noAutofit/>
          </a:bodyPr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Meeting Intelligence &amp; Action Tracking System</a:t>
            </a:r>
          </a:p>
        </p:txBody>
      </p:sp>
      <p:sp>
        <p:nvSpPr>
          <p:cNvPr id="25" name="Rule">
            <a:extLst>
              <a:ext uri="{FF2B5EF4-FFF2-40B4-BE49-F238E27FC236}">
                <a16:creationId xmlns:a16="http://schemas.microsoft.com/office/drawing/2014/main" id="{A3FDDBA9-3084-A64F-D676-23305C6BC225}"/>
              </a:ext>
            </a:extLst>
          </p:cNvPr>
          <p:cNvSpPr/>
          <p:nvPr/>
        </p:nvSpPr>
        <p:spPr>
          <a:xfrm flipV="1">
            <a:off x="415636" y="6428972"/>
            <a:ext cx="11369964" cy="4571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endParaRPr lang="en-US"/>
          </a:p>
        </p:txBody>
      </p:sp>
      <p:pic>
        <p:nvPicPr>
          <p:cNvPr id="29" name="Picture 28" descr="image.png">
            <a:extLst>
              <a:ext uri="{FF2B5EF4-FFF2-40B4-BE49-F238E27FC236}">
                <a16:creationId xmlns:a16="http://schemas.microsoft.com/office/drawing/2014/main" id="{816BBA29-27B7-A828-7DE6-FC9F4B110BB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0138"/>
          <a:stretch>
            <a:fillRect/>
          </a:stretch>
        </p:blipFill>
        <p:spPr>
          <a:xfrm>
            <a:off x="1699767" y="1816570"/>
            <a:ext cx="4396233" cy="3321050"/>
          </a:xfrm>
          <a:prstGeom prst="rect">
            <a:avLst/>
          </a:prstGeom>
        </p:spPr>
      </p:pic>
      <p:sp>
        <p:nvSpPr>
          <p:cNvPr id="55" name="Rule">
            <a:extLst>
              <a:ext uri="{FF2B5EF4-FFF2-40B4-BE49-F238E27FC236}">
                <a16:creationId xmlns:a16="http://schemas.microsoft.com/office/drawing/2014/main" id="{BEEAE793-52D0-A6F6-0463-2999AF85514E}"/>
              </a:ext>
            </a:extLst>
          </p:cNvPr>
          <p:cNvSpPr/>
          <p:nvPr/>
        </p:nvSpPr>
        <p:spPr>
          <a:xfrm>
            <a:off x="8128000" y="6428972"/>
            <a:ext cx="3810000" cy="457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endParaRPr lang="en-US"/>
          </a:p>
        </p:txBody>
      </p:sp>
      <p:sp>
        <p:nvSpPr>
          <p:cNvPr id="57" name="Project Team"/>
          <p:cNvSpPr txBox="1"/>
          <p:nvPr/>
        </p:nvSpPr>
        <p:spPr>
          <a:xfrm>
            <a:off x="482600" y="5716615"/>
            <a:ext cx="3340865" cy="621721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marL="0" indent="0" algn="l">
              <a:lnSpc>
                <a:spcPct val="95000"/>
              </a:lnSpc>
              <a:buNone/>
              <a:tabLst>
                <a:tab pos="3251200" algn="r"/>
              </a:tabLst>
            </a:pPr>
            <a:r>
              <a:rPr lang="en-US" sz="1050" b="1" dirty="0"/>
              <a:t>Mohan Reddy (Coordinator)</a:t>
            </a:r>
            <a:r>
              <a:rPr lang="en-US" sz="1050" dirty="0">
                <a:solidFill>
                  <a:schemeClr val="accent2"/>
                </a:solidFill>
              </a:rPr>
              <a:t>	</a:t>
            </a:r>
            <a:r>
              <a:rPr lang="en-US" sz="1050" dirty="0"/>
              <a:t>2616382</a:t>
            </a:r>
          </a:p>
          <a:p>
            <a:pPr marL="0" indent="0" algn="l">
              <a:lnSpc>
                <a:spcPct val="95000"/>
              </a:lnSpc>
              <a:buNone/>
              <a:tabLst>
                <a:tab pos="3251200" algn="r"/>
              </a:tabLst>
            </a:pPr>
            <a:r>
              <a:rPr lang="en-US" sz="1050" b="1" dirty="0"/>
              <a:t>Chethan L</a:t>
            </a:r>
            <a:r>
              <a:rPr lang="en-US" sz="1050" dirty="0"/>
              <a:t>	2616808</a:t>
            </a:r>
          </a:p>
          <a:p>
            <a:pPr marL="0" indent="0" algn="l">
              <a:lnSpc>
                <a:spcPct val="95000"/>
              </a:lnSpc>
              <a:buNone/>
              <a:tabLst>
                <a:tab pos="3251200" algn="r"/>
              </a:tabLst>
            </a:pPr>
            <a:r>
              <a:rPr lang="en-US" sz="1050" b="1" dirty="0"/>
              <a:t>Pullaiahgari Manideep Reddy</a:t>
            </a:r>
            <a:r>
              <a:rPr lang="en-US" sz="1050" dirty="0"/>
              <a:t>	2616388</a:t>
            </a:r>
          </a:p>
          <a:p>
            <a:pPr marL="0" indent="0" algn="l">
              <a:lnSpc>
                <a:spcPct val="95000"/>
              </a:lnSpc>
              <a:buNone/>
              <a:tabLst>
                <a:tab pos="3251200" algn="r"/>
              </a:tabLst>
            </a:pPr>
            <a:endParaRPr lang="en-US" sz="1050" dirty="0"/>
          </a:p>
        </p:txBody>
      </p:sp>
      <p:sp>
        <p:nvSpPr>
          <p:cNvPr id="4" name="Project Team">
            <a:extLst>
              <a:ext uri="{FF2B5EF4-FFF2-40B4-BE49-F238E27FC236}">
                <a16:creationId xmlns:a16="http://schemas.microsoft.com/office/drawing/2014/main" id="{E1058102-6930-3ECF-7E6E-B603A4907CA3}"/>
              </a:ext>
            </a:extLst>
          </p:cNvPr>
          <p:cNvSpPr txBox="1"/>
          <p:nvPr/>
        </p:nvSpPr>
        <p:spPr>
          <a:xfrm>
            <a:off x="4369098" y="5717756"/>
            <a:ext cx="3300730" cy="544078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marL="0" indent="0" algn="l">
              <a:lnSpc>
                <a:spcPct val="95000"/>
              </a:lnSpc>
              <a:buNone/>
              <a:tabLst>
                <a:tab pos="3251200" algn="r"/>
              </a:tabLst>
            </a:pPr>
            <a:r>
              <a:rPr lang="en-US" sz="1050" b="1" dirty="0"/>
              <a:t>Swetha Raut</a:t>
            </a:r>
            <a:r>
              <a:rPr lang="en-US" sz="1050" dirty="0"/>
              <a:t>	2616306</a:t>
            </a:r>
          </a:p>
          <a:p>
            <a:pPr marL="0" indent="0" algn="l">
              <a:lnSpc>
                <a:spcPct val="95000"/>
              </a:lnSpc>
              <a:buNone/>
              <a:tabLst>
                <a:tab pos="3251200" algn="r"/>
              </a:tabLst>
            </a:pPr>
            <a:r>
              <a:rPr lang="en-US" sz="1050" b="1" dirty="0"/>
              <a:t>Chaitali Prabhu</a:t>
            </a:r>
            <a:r>
              <a:rPr lang="en-US" sz="1050" dirty="0"/>
              <a:t>	2616376</a:t>
            </a:r>
          </a:p>
          <a:p>
            <a:pPr marL="0" indent="0" algn="l">
              <a:lnSpc>
                <a:spcPct val="95000"/>
              </a:lnSpc>
              <a:buNone/>
              <a:tabLst>
                <a:tab pos="3251200" algn="r"/>
              </a:tabLst>
            </a:pPr>
            <a:r>
              <a:rPr lang="en-US" sz="1050" b="1" dirty="0"/>
              <a:t>Seema Sada Shanker</a:t>
            </a:r>
            <a:r>
              <a:rPr lang="en-US" sz="1050" dirty="0"/>
              <a:t>	2616385</a:t>
            </a:r>
          </a:p>
          <a:p>
            <a:pPr marL="0" indent="0" algn="l">
              <a:lnSpc>
                <a:spcPct val="95000"/>
              </a:lnSpc>
              <a:buNone/>
              <a:tabLst>
                <a:tab pos="3251200" algn="r"/>
              </a:tabLst>
            </a:pPr>
            <a:r>
              <a:rPr lang="en-US" sz="1050" b="1" dirty="0"/>
              <a:t>Sharmila Pallipati</a:t>
            </a:r>
            <a:r>
              <a:rPr lang="en-US" sz="1050" dirty="0"/>
              <a:t>	2617489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11D27D7-5FA5-B034-6561-3E34A54657F7}"/>
              </a:ext>
            </a:extLst>
          </p:cNvPr>
          <p:cNvSpPr txBox="1"/>
          <p:nvPr/>
        </p:nvSpPr>
        <p:spPr>
          <a:xfrm>
            <a:off x="2261870" y="5333587"/>
            <a:ext cx="406400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spcAft>
                <a:spcPts val="400"/>
              </a:spcAft>
              <a:defRPr/>
            </a:pPr>
            <a:r>
              <a:rPr kumimoji="0" lang="en-US" sz="1050" b="1" i="0" u="none" strike="noStrike" kern="1200" cap="none" spc="2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PROJECT TEAM - </a:t>
            </a:r>
            <a:r>
              <a:rPr lang="en-US" sz="1050" dirty="0"/>
              <a:t>Cohort-6 Batch-4 </a:t>
            </a:r>
            <a:endParaRPr kumimoji="0" lang="en-US" sz="1050" b="1" i="0" u="none" strike="noStrike" kern="1200" cap="none" spc="200" normalizeH="0" baseline="0" noProof="0" dirty="0">
              <a:ln>
                <a:noFill/>
              </a:ln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93F781E-3E1C-3015-B163-1994B2575ED9}"/>
              </a:ext>
            </a:extLst>
          </p:cNvPr>
          <p:cNvSpPr txBox="1"/>
          <p:nvPr/>
        </p:nvSpPr>
        <p:spPr>
          <a:xfrm>
            <a:off x="8453887" y="6089574"/>
            <a:ext cx="348411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</a:rPr>
              <a:t>Mentor: Aarnav Singh</a:t>
            </a:r>
          </a:p>
        </p:txBody>
      </p:sp>
    </p:spTree>
    <p:extLst>
      <p:ext uri="{BB962C8B-B14F-4D97-AF65-F5344CB8AC3E}">
        <p14:creationId xmlns:p14="http://schemas.microsoft.com/office/powerpoint/2010/main" val="904221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FAEFE327-3C91-28D5-7944-3EF1B8F33129}"/>
              </a:ext>
            </a:extLst>
          </p:cNvPr>
          <p:cNvSpPr txBox="1">
            <a:spLocks/>
          </p:cNvSpPr>
          <p:nvPr/>
        </p:nvSpPr>
        <p:spPr>
          <a:xfrm>
            <a:off x="341745" y="249382"/>
            <a:ext cx="10344728" cy="9906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000">
                <a:solidFill>
                  <a:schemeClr val="accent1"/>
                </a:solidFill>
                <a:latin typeface="Graphik Black" panose="020B0A03030202060203" pitchFamily="34" charset="0"/>
              </a:rPr>
              <a:t>The gap between meeting summaries and tracked work</a:t>
            </a:r>
            <a:endParaRPr lang="en-US" sz="3000" dirty="0">
              <a:solidFill>
                <a:schemeClr val="accent1"/>
              </a:solidFill>
              <a:latin typeface="Graphik Black" panose="020B0A03030202060203" pitchFamily="34" charset="0"/>
            </a:endParaRPr>
          </a:p>
        </p:txBody>
      </p:sp>
      <p:sp>
        <p:nvSpPr>
          <p:cNvPr id="6" name="Guideline Label">
            <a:extLst>
              <a:ext uri="{FF2B5EF4-FFF2-40B4-BE49-F238E27FC236}">
                <a16:creationId xmlns:a16="http://schemas.microsoft.com/office/drawing/2014/main" id="{B4D6FF6F-0D97-71C0-E903-68917528ECC2}"/>
              </a:ext>
            </a:extLst>
          </p:cNvPr>
          <p:cNvSpPr txBox="1"/>
          <p:nvPr/>
        </p:nvSpPr>
        <p:spPr>
          <a:xfrm>
            <a:off x="424872" y="1323110"/>
            <a:ext cx="4830619" cy="254000"/>
          </a:xfrm>
          <a:prstGeom prst="rect">
            <a:avLst/>
          </a:prstGeom>
          <a:noFill/>
        </p:spPr>
        <p:txBody>
          <a:bodyPr vertOverflow="overflow" vert="horz" wrap="square" lIns="0" tIns="0" bIns="0" rtlCol="0" anchor="t" anchorCtr="0">
            <a:noAutofit/>
          </a:bodyPr>
          <a:lstStyle/>
          <a:p>
            <a:pPr algn="l"/>
            <a:r>
              <a:rPr lang="en-US" sz="1200" b="1" spc="200" dirty="0">
                <a:solidFill>
                  <a:schemeClr val="accent1"/>
                </a:solidFill>
              </a:rPr>
              <a:t>PROBLEM STATEMENT · </a:t>
            </a:r>
            <a:r>
              <a:rPr lang="en-US" sz="1200" b="1" spc="200">
                <a:solidFill>
                  <a:schemeClr val="accent1"/>
                </a:solidFill>
              </a:rPr>
              <a:t>AFTER THE MEETING</a:t>
            </a:r>
            <a:endParaRPr lang="en-IN" sz="1200" b="1" dirty="0">
              <a:solidFill>
                <a:schemeClr val="accent1"/>
              </a:solidFill>
            </a:endParaRPr>
          </a:p>
        </p:txBody>
      </p:sp>
      <p:sp>
        <p:nvSpPr>
          <p:cNvPr id="8" name="Stage Head 1">
            <a:extLst>
              <a:ext uri="{FF2B5EF4-FFF2-40B4-BE49-F238E27FC236}">
                <a16:creationId xmlns:a16="http://schemas.microsoft.com/office/drawing/2014/main" id="{339B0304-94E5-A0D7-0C91-3BBA28536BC9}"/>
              </a:ext>
            </a:extLst>
          </p:cNvPr>
          <p:cNvSpPr/>
          <p:nvPr/>
        </p:nvSpPr>
        <p:spPr>
          <a:xfrm>
            <a:off x="480290" y="1798780"/>
            <a:ext cx="3454400" cy="838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wrap="square" lIns="177800" tIns="152400" rIns="711200" bIns="152400" anchor="ctr">
            <a:noAutofit/>
          </a:bodyPr>
          <a:lstStyle/>
          <a:p>
            <a:pPr marL="0" indent="0" algn="l">
              <a:buNone/>
            </a:pPr>
            <a:r>
              <a:rPr lang="en-US" sz="1200" b="1">
                <a:solidFill>
                  <a:srgbClr val="FFFFFF"/>
                </a:solidFill>
              </a:rPr>
              <a:t>PLATFORM CAPABILITIES</a:t>
            </a:r>
            <a:endParaRPr lang="en-US" sz="1200" b="1" dirty="0">
              <a:solidFill>
                <a:srgbClr val="FFFFFF"/>
              </a:solidFill>
            </a:endParaRPr>
          </a:p>
          <a:p>
            <a:pPr marL="0" indent="0" algn="l">
              <a:spcBef>
                <a:spcPts val="100"/>
              </a:spcBef>
              <a:buNone/>
            </a:pPr>
            <a:r>
              <a:rPr lang="en-US" sz="1800" b="1">
                <a:solidFill>
                  <a:srgbClr val="FFFFFF"/>
                </a:solidFill>
              </a:rPr>
              <a:t>Meeting intelligence</a:t>
            </a:r>
          </a:p>
        </p:txBody>
      </p:sp>
      <p:sp>
        <p:nvSpPr>
          <p:cNvPr id="10" name="Stage Body 1">
            <a:extLst>
              <a:ext uri="{FF2B5EF4-FFF2-40B4-BE49-F238E27FC236}">
                <a16:creationId xmlns:a16="http://schemas.microsoft.com/office/drawing/2014/main" id="{36EC1D62-1585-9B4C-5242-22373E8D1F44}"/>
              </a:ext>
            </a:extLst>
          </p:cNvPr>
          <p:cNvSpPr/>
          <p:nvPr/>
        </p:nvSpPr>
        <p:spPr>
          <a:xfrm>
            <a:off x="480290" y="2636980"/>
            <a:ext cx="3454400" cy="246149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3CC"/>
            </a:solidFill>
          </a:ln>
        </p:spPr>
        <p:txBody>
          <a:bodyPr wrap="square" lIns="177800" tIns="152400" rIns="177800" bIns="152400" anchor="t">
            <a:noAutofit/>
          </a:bodyPr>
          <a:lstStyle/>
          <a:p>
            <a:pPr marL="0" indent="0" algn="l">
              <a:buNone/>
            </a:pPr>
            <a:r>
              <a:rPr lang="en-US" sz="1200" b="1"/>
              <a:t>ZOOM, TEAMS AND GOOGLE MEET</a:t>
            </a:r>
            <a:endParaRPr lang="en-US" sz="1200" b="1" dirty="0"/>
          </a:p>
          <a:p>
            <a:pPr marL="228600" indent="-228600" algn="l">
              <a:spcBef>
                <a:spcPts val="700"/>
              </a:spcBef>
              <a:buClr>
                <a:srgbClr val="0E7C66"/>
              </a:buClr>
              <a:buFont typeface="Arial"/>
              <a:buChar char="•"/>
            </a:pPr>
            <a:r>
              <a:rPr lang="en-US" sz="1600"/>
              <a:t>Transcription captures </a:t>
            </a:r>
            <a:r>
              <a:rPr lang="en-US" sz="1600" dirty="0"/>
              <a:t>the discussion</a:t>
            </a:r>
          </a:p>
          <a:p>
            <a:pPr marL="228600" indent="-228600" algn="l">
              <a:spcBef>
                <a:spcPts val="700"/>
              </a:spcBef>
              <a:buClr>
                <a:srgbClr val="0E7C66"/>
              </a:buClr>
              <a:buFont typeface="Arial"/>
              <a:buChar char="•"/>
            </a:pPr>
            <a:r>
              <a:rPr lang="en-US" sz="1600"/>
              <a:t>AI summaries recap the meeting</a:t>
            </a:r>
            <a:endParaRPr lang="en-US" sz="1600" dirty="0"/>
          </a:p>
          <a:p>
            <a:pPr marL="228600" indent="-228600" algn="l">
              <a:spcBef>
                <a:spcPts val="700"/>
              </a:spcBef>
              <a:buClr>
                <a:srgbClr val="0E7C66"/>
              </a:buClr>
              <a:buFont typeface="Arial"/>
              <a:buChar char="•"/>
            </a:pPr>
            <a:r>
              <a:rPr lang="en-US" sz="1600"/>
              <a:t>Action-item extraction suggests tentative owners</a:t>
            </a:r>
            <a:endParaRPr lang="en-US" sz="1600" dirty="0"/>
          </a:p>
        </p:txBody>
      </p:sp>
      <p:sp>
        <p:nvSpPr>
          <p:cNvPr id="12" name="Stage Head 2">
            <a:extLst>
              <a:ext uri="{FF2B5EF4-FFF2-40B4-BE49-F238E27FC236}">
                <a16:creationId xmlns:a16="http://schemas.microsoft.com/office/drawing/2014/main" id="{FE4588AD-1629-CD7F-368C-5851CB6D3638}"/>
              </a:ext>
            </a:extLst>
          </p:cNvPr>
          <p:cNvSpPr/>
          <p:nvPr/>
        </p:nvSpPr>
        <p:spPr>
          <a:xfrm>
            <a:off x="4239490" y="1798780"/>
            <a:ext cx="3454400" cy="838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wrap="square" lIns="177800" tIns="152400" rIns="711200" bIns="152400" anchor="ctr">
            <a:noAutofit/>
          </a:bodyPr>
          <a:lstStyle/>
          <a:p>
            <a:pPr marL="0" indent="0" algn="l">
              <a:buNone/>
            </a:pPr>
            <a:r>
              <a:rPr lang="en-US" sz="1200" b="1">
                <a:solidFill>
                  <a:srgbClr val="FFFFFF"/>
                </a:solidFill>
              </a:rPr>
              <a:t>CURRENT OUTPUT</a:t>
            </a:r>
            <a:endParaRPr lang="en-US" sz="1200" b="1" dirty="0">
              <a:solidFill>
                <a:srgbClr val="FFFFFF"/>
              </a:solidFill>
            </a:endParaRPr>
          </a:p>
          <a:p>
            <a:pPr marL="0" indent="0" algn="l">
              <a:spcBef>
                <a:spcPts val="100"/>
              </a:spcBef>
              <a:buNone/>
            </a:pPr>
            <a:r>
              <a:rPr lang="en-US" sz="1800" b="1">
                <a:solidFill>
                  <a:srgbClr val="FFFFFF"/>
                </a:solidFill>
              </a:rPr>
              <a:t>A static document</a:t>
            </a:r>
            <a:endParaRPr lang="en-US" sz="1800" b="1" dirty="0">
              <a:solidFill>
                <a:srgbClr val="FFFFFF"/>
              </a:solidFill>
            </a:endParaRPr>
          </a:p>
        </p:txBody>
      </p:sp>
      <p:sp>
        <p:nvSpPr>
          <p:cNvPr id="14" name="Stage Body 2">
            <a:extLst>
              <a:ext uri="{FF2B5EF4-FFF2-40B4-BE49-F238E27FC236}">
                <a16:creationId xmlns:a16="http://schemas.microsoft.com/office/drawing/2014/main" id="{45BA28FF-C2CD-EB81-7856-8455E12CBE38}"/>
              </a:ext>
            </a:extLst>
          </p:cNvPr>
          <p:cNvSpPr/>
          <p:nvPr/>
        </p:nvSpPr>
        <p:spPr>
          <a:xfrm>
            <a:off x="4239490" y="2636980"/>
            <a:ext cx="3454400" cy="246149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3CC"/>
            </a:solidFill>
          </a:ln>
        </p:spPr>
        <p:txBody>
          <a:bodyPr wrap="square" lIns="177800" tIns="152400" rIns="177800" bIns="152400" anchor="t">
            <a:noAutofit/>
          </a:bodyPr>
          <a:lstStyle/>
          <a:p>
            <a:r>
              <a:rPr lang="en-US" sz="1200" b="1"/>
              <a:t>WHERE THE WORKFLOW STOPS</a:t>
            </a:r>
            <a:endParaRPr lang="en-US" sz="1200" b="1" dirty="0"/>
          </a:p>
          <a:p>
            <a:pPr marL="228600" indent="-228600" algn="l">
              <a:spcBef>
                <a:spcPts val="700"/>
              </a:spcBef>
              <a:buClr>
                <a:srgbClr val="0E7C66"/>
              </a:buClr>
              <a:buFont typeface="Arial"/>
              <a:buChar char="•"/>
            </a:pPr>
            <a:r>
              <a:rPr lang="en-US" sz="1600"/>
              <a:t>The </a:t>
            </a:r>
            <a:r>
              <a:rPr lang="en-US" sz="1600" dirty="0"/>
              <a:t>recap</a:t>
            </a:r>
            <a:r>
              <a:rPr lang="en-US" sz="1600"/>
              <a:t> records what was discussed</a:t>
            </a:r>
            <a:endParaRPr lang="en-US" sz="1600" dirty="0"/>
          </a:p>
          <a:p>
            <a:pPr marL="228600" indent="-228600" algn="l">
              <a:spcBef>
                <a:spcPts val="700"/>
              </a:spcBef>
              <a:buClr>
                <a:srgbClr val="0E7C66"/>
              </a:buClr>
              <a:buFont typeface="Arial"/>
              <a:buChar char="•"/>
            </a:pPr>
            <a:r>
              <a:rPr lang="en-US" sz="1600"/>
              <a:t>Extracted actions remain in the document</a:t>
            </a:r>
            <a:endParaRPr lang="en-US" sz="1600" dirty="0"/>
          </a:p>
          <a:p>
            <a:pPr marL="228600" indent="-228600" algn="l">
              <a:spcBef>
                <a:spcPts val="700"/>
              </a:spcBef>
              <a:buClr>
                <a:srgbClr val="0E7C66"/>
              </a:buClr>
              <a:buFont typeface="Arial"/>
              <a:buChar char="•"/>
            </a:pPr>
            <a:r>
              <a:rPr lang="en-US" sz="1600"/>
              <a:t>Participants must turn those actions into tracked work</a:t>
            </a:r>
            <a:endParaRPr lang="en-US" sz="1600" dirty="0"/>
          </a:p>
        </p:txBody>
      </p:sp>
      <p:sp>
        <p:nvSpPr>
          <p:cNvPr id="16" name="Stage Head 3">
            <a:extLst>
              <a:ext uri="{FF2B5EF4-FFF2-40B4-BE49-F238E27FC236}">
                <a16:creationId xmlns:a16="http://schemas.microsoft.com/office/drawing/2014/main" id="{D43FE499-804B-0456-E65C-0A3439E07E09}"/>
              </a:ext>
            </a:extLst>
          </p:cNvPr>
          <p:cNvSpPr/>
          <p:nvPr/>
        </p:nvSpPr>
        <p:spPr>
          <a:xfrm>
            <a:off x="7998690" y="1798780"/>
            <a:ext cx="3454400" cy="838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wrap="square" lIns="177800" tIns="152400" rIns="711200" bIns="152400" anchor="ctr">
            <a:noAutofit/>
          </a:bodyPr>
          <a:lstStyle/>
          <a:p>
            <a:pPr marL="0" indent="0" algn="l">
              <a:buNone/>
            </a:pPr>
            <a:r>
              <a:rPr lang="en-US" sz="1200" b="1">
                <a:solidFill>
                  <a:srgbClr val="FFFFFF"/>
                </a:solidFill>
              </a:rPr>
              <a:t>WORK LEFT TO PEOPLE</a:t>
            </a:r>
            <a:endParaRPr lang="en-US" sz="1200" b="1" dirty="0">
              <a:solidFill>
                <a:srgbClr val="FFFFFF"/>
              </a:solidFill>
            </a:endParaRPr>
          </a:p>
          <a:p>
            <a:pPr marL="0" indent="0" algn="l">
              <a:spcBef>
                <a:spcPts val="100"/>
              </a:spcBef>
              <a:buNone/>
            </a:pPr>
            <a:r>
              <a:rPr lang="en-US" sz="1800" b="1">
                <a:solidFill>
                  <a:srgbClr val="FFFFFF"/>
                </a:solidFill>
              </a:rPr>
              <a:t>Manual follow-through</a:t>
            </a:r>
            <a:endParaRPr lang="en-US" sz="1800" b="1" dirty="0">
              <a:solidFill>
                <a:srgbClr val="FFFFFF"/>
              </a:solidFill>
            </a:endParaRPr>
          </a:p>
        </p:txBody>
      </p:sp>
      <p:sp>
        <p:nvSpPr>
          <p:cNvPr id="18" name="Stage Body 3">
            <a:extLst>
              <a:ext uri="{FF2B5EF4-FFF2-40B4-BE49-F238E27FC236}">
                <a16:creationId xmlns:a16="http://schemas.microsoft.com/office/drawing/2014/main" id="{6B7BF355-AD2D-066B-174B-1396FB144053}"/>
              </a:ext>
            </a:extLst>
          </p:cNvPr>
          <p:cNvSpPr/>
          <p:nvPr/>
        </p:nvSpPr>
        <p:spPr>
          <a:xfrm>
            <a:off x="7998690" y="2636980"/>
            <a:ext cx="3454400" cy="246149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3CC"/>
            </a:solidFill>
          </a:ln>
        </p:spPr>
        <p:txBody>
          <a:bodyPr wrap="square" lIns="177800" tIns="152400" rIns="177800" bIns="152400" anchor="t">
            <a:noAutofit/>
          </a:bodyPr>
          <a:lstStyle/>
          <a:p>
            <a:r>
              <a:rPr lang="en-US" sz="1200" b="1"/>
              <a:t>WHAT PARTICIPANTS STILL DO</a:t>
            </a:r>
          </a:p>
          <a:p>
            <a:pPr marL="228600" indent="-228600" algn="l">
              <a:spcBef>
                <a:spcPts val="700"/>
              </a:spcBef>
              <a:buClr>
                <a:srgbClr val="0E7C66"/>
              </a:buClr>
              <a:buFont typeface="Arial"/>
              <a:buChar char="•"/>
            </a:pPr>
            <a:r>
              <a:rPr lang="en-US" sz="1600"/>
              <a:t>Create tasks and schedule follow-ups</a:t>
            </a:r>
          </a:p>
          <a:p>
            <a:pPr marL="228600" indent="-228600" algn="l">
              <a:spcBef>
                <a:spcPts val="700"/>
              </a:spcBef>
              <a:buClr>
                <a:srgbClr val="0E7C66"/>
              </a:buClr>
              <a:buFont typeface="Arial"/>
              <a:buChar char="•"/>
            </a:pPr>
            <a:r>
              <a:rPr lang="en-US" sz="1600"/>
              <a:t>Archive meeting records</a:t>
            </a:r>
            <a:endParaRPr lang="en-US" sz="1600" dirty="0"/>
          </a:p>
          <a:p>
            <a:pPr marL="228600" indent="-228600" algn="l">
              <a:spcBef>
                <a:spcPts val="700"/>
              </a:spcBef>
              <a:buClr>
                <a:srgbClr val="0E7C66"/>
              </a:buClr>
              <a:buFont typeface="Arial"/>
              <a:buChar char="•"/>
            </a:pPr>
            <a:r>
              <a:rPr lang="en-US" sz="1600"/>
              <a:t>Track progress </a:t>
            </a:r>
            <a:r>
              <a:rPr lang="en-US" sz="1600" dirty="0"/>
              <a:t>and </a:t>
            </a:r>
            <a:r>
              <a:rPr lang="en-US" sz="1600"/>
              <a:t>verify completion</a:t>
            </a:r>
            <a:endParaRPr lang="en-US" sz="1600" dirty="0"/>
          </a:p>
        </p:txBody>
      </p:sp>
      <p:sp>
        <p:nvSpPr>
          <p:cNvPr id="20" name="Head Accent 1">
            <a:extLst>
              <a:ext uri="{FF2B5EF4-FFF2-40B4-BE49-F238E27FC236}">
                <a16:creationId xmlns:a16="http://schemas.microsoft.com/office/drawing/2014/main" id="{E16AE2E5-8FD6-2CB4-9239-A449F2367B45}"/>
              </a:ext>
            </a:extLst>
          </p:cNvPr>
          <p:cNvSpPr/>
          <p:nvPr/>
        </p:nvSpPr>
        <p:spPr>
          <a:xfrm>
            <a:off x="480290" y="1798780"/>
            <a:ext cx="3454400" cy="5715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2" name="Result 1">
            <a:extLst>
              <a:ext uri="{FF2B5EF4-FFF2-40B4-BE49-F238E27FC236}">
                <a16:creationId xmlns:a16="http://schemas.microsoft.com/office/drawing/2014/main" id="{C3E2B646-D086-8139-AE2C-D6DAD21454D9}"/>
              </a:ext>
            </a:extLst>
          </p:cNvPr>
          <p:cNvSpPr/>
          <p:nvPr/>
        </p:nvSpPr>
        <p:spPr>
          <a:xfrm>
            <a:off x="480290" y="5098470"/>
            <a:ext cx="3454400" cy="6858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wrap="square" lIns="228600" tIns="45720" rIns="177800" bIns="45720" anchor="ctr">
            <a:noAutofit/>
          </a:bodyPr>
          <a:lstStyle/>
          <a:p>
            <a:pPr marL="0" indent="0" algn="l">
              <a:buNone/>
            </a:pPr>
            <a:r>
              <a:rPr lang="en-US" sz="1100" b="1" spc="150">
                <a:solidFill>
                  <a:srgbClr val="6B7280"/>
                </a:solidFill>
              </a:rPr>
              <a:t>OUTPUT</a:t>
            </a:r>
            <a:endParaRPr lang="en-US" sz="1100" b="1" spc="150" dirty="0">
              <a:solidFill>
                <a:srgbClr val="6B7280"/>
              </a:solidFill>
            </a:endParaRPr>
          </a:p>
          <a:p>
            <a:pPr marL="0" indent="0" algn="l">
              <a:spcBef>
                <a:spcPts val="200"/>
              </a:spcBef>
              <a:buNone/>
            </a:pPr>
            <a:r>
              <a:rPr lang="en-US" sz="1600" b="1"/>
              <a:t>Transcript and action items</a:t>
            </a:r>
            <a:endParaRPr lang="en-US" sz="1600" b="1" dirty="0"/>
          </a:p>
        </p:txBody>
      </p:sp>
      <p:sp>
        <p:nvSpPr>
          <p:cNvPr id="24" name="Result Bar 1">
            <a:extLst>
              <a:ext uri="{FF2B5EF4-FFF2-40B4-BE49-F238E27FC236}">
                <a16:creationId xmlns:a16="http://schemas.microsoft.com/office/drawing/2014/main" id="{C697CCB9-CF17-CFEF-EBA5-D6A9A3C90F93}"/>
              </a:ext>
            </a:extLst>
          </p:cNvPr>
          <p:cNvSpPr/>
          <p:nvPr/>
        </p:nvSpPr>
        <p:spPr>
          <a:xfrm>
            <a:off x="480290" y="5098470"/>
            <a:ext cx="57150" cy="68580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26" name="Head Accent 2">
            <a:extLst>
              <a:ext uri="{FF2B5EF4-FFF2-40B4-BE49-F238E27FC236}">
                <a16:creationId xmlns:a16="http://schemas.microsoft.com/office/drawing/2014/main" id="{B24373E0-ED89-C851-8E9D-F2A7E8270E90}"/>
              </a:ext>
            </a:extLst>
          </p:cNvPr>
          <p:cNvSpPr/>
          <p:nvPr/>
        </p:nvSpPr>
        <p:spPr>
          <a:xfrm>
            <a:off x="4239490" y="1798780"/>
            <a:ext cx="3454400" cy="5715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8" name="Result 2">
            <a:extLst>
              <a:ext uri="{FF2B5EF4-FFF2-40B4-BE49-F238E27FC236}">
                <a16:creationId xmlns:a16="http://schemas.microsoft.com/office/drawing/2014/main" id="{C6C49038-93B9-8D9F-18ED-3C14153D3868}"/>
              </a:ext>
            </a:extLst>
          </p:cNvPr>
          <p:cNvSpPr/>
          <p:nvPr/>
        </p:nvSpPr>
        <p:spPr>
          <a:xfrm>
            <a:off x="4239490" y="5098470"/>
            <a:ext cx="3454400" cy="6858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wrap="square" lIns="228600" tIns="45720" rIns="177800" bIns="45720" anchor="ctr">
            <a:noAutofit/>
          </a:bodyPr>
          <a:lstStyle/>
          <a:p>
            <a:pPr marL="0" indent="0" algn="l">
              <a:buNone/>
            </a:pPr>
            <a:r>
              <a:rPr lang="en-US" sz="1100" b="1" spc="150">
                <a:solidFill>
                  <a:srgbClr val="6B7280"/>
                </a:solidFill>
              </a:rPr>
              <a:t>GAP</a:t>
            </a:r>
            <a:endParaRPr lang="en-US" sz="1100" b="1" spc="150" dirty="0">
              <a:solidFill>
                <a:srgbClr val="6B7280"/>
              </a:solidFill>
            </a:endParaRPr>
          </a:p>
          <a:p>
            <a:pPr>
              <a:spcBef>
                <a:spcPts val="200"/>
              </a:spcBef>
            </a:pPr>
            <a:r>
              <a:rPr lang="en-US" sz="1600" b="1"/>
              <a:t>Summary without execution</a:t>
            </a:r>
            <a:endParaRPr lang="en-US" sz="1600" b="1" dirty="0"/>
          </a:p>
        </p:txBody>
      </p:sp>
      <p:sp>
        <p:nvSpPr>
          <p:cNvPr id="30" name="Result Bar 2">
            <a:extLst>
              <a:ext uri="{FF2B5EF4-FFF2-40B4-BE49-F238E27FC236}">
                <a16:creationId xmlns:a16="http://schemas.microsoft.com/office/drawing/2014/main" id="{62494E59-B070-A683-6D8F-522420C0A40C}"/>
              </a:ext>
            </a:extLst>
          </p:cNvPr>
          <p:cNvSpPr/>
          <p:nvPr/>
        </p:nvSpPr>
        <p:spPr>
          <a:xfrm>
            <a:off x="4239490" y="5098470"/>
            <a:ext cx="57150" cy="68580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32" name="Head Accent 3">
            <a:extLst>
              <a:ext uri="{FF2B5EF4-FFF2-40B4-BE49-F238E27FC236}">
                <a16:creationId xmlns:a16="http://schemas.microsoft.com/office/drawing/2014/main" id="{BB84DE86-050E-7E58-0C1D-21C2C106C91F}"/>
              </a:ext>
            </a:extLst>
          </p:cNvPr>
          <p:cNvSpPr/>
          <p:nvPr/>
        </p:nvSpPr>
        <p:spPr>
          <a:xfrm>
            <a:off x="7998690" y="1798780"/>
            <a:ext cx="3454400" cy="5715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4" name="Result 3">
            <a:extLst>
              <a:ext uri="{FF2B5EF4-FFF2-40B4-BE49-F238E27FC236}">
                <a16:creationId xmlns:a16="http://schemas.microsoft.com/office/drawing/2014/main" id="{8E389346-6D76-2076-22C2-132421BF005C}"/>
              </a:ext>
            </a:extLst>
          </p:cNvPr>
          <p:cNvSpPr/>
          <p:nvPr/>
        </p:nvSpPr>
        <p:spPr>
          <a:xfrm>
            <a:off x="7998690" y="5098470"/>
            <a:ext cx="3454400" cy="6858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wrap="square" lIns="228600" tIns="45720" rIns="177800" bIns="45720" anchor="ctr">
            <a:noAutofit/>
          </a:bodyPr>
          <a:lstStyle/>
          <a:p>
            <a:pPr marL="0" indent="0" algn="l">
              <a:buNone/>
            </a:pPr>
            <a:r>
              <a:rPr lang="en-US" sz="1100" b="1" spc="150">
                <a:solidFill>
                  <a:srgbClr val="6B7280"/>
                </a:solidFill>
              </a:rPr>
              <a:t>RISK</a:t>
            </a:r>
            <a:endParaRPr lang="en-US" sz="1100" b="1" spc="150" dirty="0">
              <a:solidFill>
                <a:srgbClr val="6B7280"/>
              </a:solidFill>
            </a:endParaRPr>
          </a:p>
          <a:p>
            <a:pPr>
              <a:spcBef>
                <a:spcPts val="200"/>
              </a:spcBef>
            </a:pPr>
            <a:r>
              <a:rPr lang="en-US" sz="1600" b="1"/>
              <a:t>Meeting outcomes get lost</a:t>
            </a:r>
            <a:endParaRPr lang="en-US" sz="1600" b="1" dirty="0"/>
          </a:p>
        </p:txBody>
      </p:sp>
      <p:sp>
        <p:nvSpPr>
          <p:cNvPr id="36" name="Result Bar 3">
            <a:extLst>
              <a:ext uri="{FF2B5EF4-FFF2-40B4-BE49-F238E27FC236}">
                <a16:creationId xmlns:a16="http://schemas.microsoft.com/office/drawing/2014/main" id="{6C643EA1-1A28-9E18-F555-F9D265AB7075}"/>
              </a:ext>
            </a:extLst>
          </p:cNvPr>
          <p:cNvSpPr/>
          <p:nvPr/>
        </p:nvSpPr>
        <p:spPr>
          <a:xfrm>
            <a:off x="7998690" y="5098470"/>
            <a:ext cx="57150" cy="68580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38" name="Takeaway">
            <a:extLst>
              <a:ext uri="{FF2B5EF4-FFF2-40B4-BE49-F238E27FC236}">
                <a16:creationId xmlns:a16="http://schemas.microsoft.com/office/drawing/2014/main" id="{E9996EC8-BB80-736C-583A-21CD5797D55F}"/>
              </a:ext>
            </a:extLst>
          </p:cNvPr>
          <p:cNvSpPr/>
          <p:nvPr/>
        </p:nvSpPr>
        <p:spPr>
          <a:xfrm>
            <a:off x="480290" y="5948215"/>
            <a:ext cx="10972800" cy="533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wrap="square" lIns="228600" tIns="45720" rIns="228600" bIns="45720" anchor="ctr">
            <a:noAutofit/>
          </a:bodyPr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</a:rPr>
              <a:t>The last mile: turning extracted action items into tracked work and completed commitments</a:t>
            </a:r>
          </a:p>
        </p:txBody>
      </p:sp>
      <p:pic>
        <p:nvPicPr>
          <p:cNvPr id="40" name="Icon 1" descr="Example 1 icon">
            <a:extLst>
              <a:ext uri="{FF2B5EF4-FFF2-40B4-BE49-F238E27FC236}">
                <a16:creationId xmlns:a16="http://schemas.microsoft.com/office/drawing/2014/main" id="{E2ECD646-FF03-BB46-AC05-4026248BF6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9690" y="2003567"/>
            <a:ext cx="457200" cy="457200"/>
          </a:xfrm>
          <a:prstGeom prst="rect">
            <a:avLst/>
          </a:prstGeom>
        </p:spPr>
      </p:pic>
      <p:pic>
        <p:nvPicPr>
          <p:cNvPr id="42" name="Icon 2" descr="Example 2 icon">
            <a:extLst>
              <a:ext uri="{FF2B5EF4-FFF2-40B4-BE49-F238E27FC236}">
                <a16:creationId xmlns:a16="http://schemas.microsoft.com/office/drawing/2014/main" id="{47D3CFCA-77C4-C92C-7F9D-D48CD97BFD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8890" y="2003567"/>
            <a:ext cx="457200" cy="457200"/>
          </a:xfrm>
          <a:prstGeom prst="rect">
            <a:avLst/>
          </a:prstGeom>
        </p:spPr>
      </p:pic>
      <p:pic>
        <p:nvPicPr>
          <p:cNvPr id="44" name="Icon 3" descr="Example 3 icon">
            <a:extLst>
              <a:ext uri="{FF2B5EF4-FFF2-40B4-BE49-F238E27FC236}">
                <a16:creationId xmlns:a16="http://schemas.microsoft.com/office/drawing/2014/main" id="{72A51AB0-1963-7523-BF40-0273C9C933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18090" y="2003567"/>
            <a:ext cx="45720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531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543B86-81CA-22DC-BD7D-81F42BB798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D72717FA-D127-9C0F-0A06-490062F2CA72}"/>
              </a:ext>
            </a:extLst>
          </p:cNvPr>
          <p:cNvSpPr txBox="1">
            <a:spLocks/>
          </p:cNvSpPr>
          <p:nvPr/>
        </p:nvSpPr>
        <p:spPr>
          <a:xfrm>
            <a:off x="341745" y="249382"/>
            <a:ext cx="10344728" cy="47625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000">
                <a:solidFill>
                  <a:schemeClr val="accent1"/>
                </a:solidFill>
                <a:latin typeface="Graphik Black" panose="020B0A03030202060203" pitchFamily="34" charset="0"/>
              </a:rPr>
              <a:t>Action items become tracked work</a:t>
            </a:r>
            <a:endParaRPr lang="en-US" sz="3000" dirty="0">
              <a:solidFill>
                <a:schemeClr val="accent1"/>
              </a:solidFill>
              <a:latin typeface="Graphik Black" panose="020B0A03030202060203" pitchFamily="34" charset="0"/>
            </a:endParaRPr>
          </a:p>
        </p:txBody>
      </p:sp>
      <p:sp>
        <p:nvSpPr>
          <p:cNvPr id="6" name="Guideline Label">
            <a:extLst>
              <a:ext uri="{FF2B5EF4-FFF2-40B4-BE49-F238E27FC236}">
                <a16:creationId xmlns:a16="http://schemas.microsoft.com/office/drawing/2014/main" id="{A2141717-AD0E-C8AF-A25A-B5923D36C1CC}"/>
              </a:ext>
            </a:extLst>
          </p:cNvPr>
          <p:cNvSpPr txBox="1"/>
          <p:nvPr/>
        </p:nvSpPr>
        <p:spPr>
          <a:xfrm>
            <a:off x="482022" y="916710"/>
            <a:ext cx="5781964" cy="254000"/>
          </a:xfrm>
          <a:prstGeom prst="rect">
            <a:avLst/>
          </a:prstGeom>
          <a:noFill/>
        </p:spPr>
        <p:txBody>
          <a:bodyPr vertOverflow="overflow" vert="horz" wrap="square" lIns="0" tIns="0" bIns="0" rtlCol="0" anchor="t" anchorCtr="0">
            <a:noAutofit/>
          </a:bodyPr>
          <a:lstStyle/>
          <a:p>
            <a:pPr algn="l"/>
            <a:r>
              <a:rPr lang="en-US" sz="1200" b="1" spc="200" dirty="0">
                <a:solidFill>
                  <a:schemeClr val="accent1"/>
                </a:solidFill>
              </a:rPr>
              <a:t>PROJECT </a:t>
            </a:r>
            <a:r>
              <a:rPr lang="en-US" sz="1200" b="1" spc="200">
                <a:solidFill>
                  <a:schemeClr val="accent1"/>
                </a:solidFill>
              </a:rPr>
              <a:t>APPROACH </a:t>
            </a:r>
            <a:r>
              <a:rPr lang="en-US" sz="1200" b="1" spc="200" dirty="0">
                <a:solidFill>
                  <a:schemeClr val="accent1"/>
                </a:solidFill>
              </a:rPr>
              <a:t>· </a:t>
            </a:r>
            <a:r>
              <a:rPr lang="en-US" sz="1200" b="1" spc="200">
                <a:solidFill>
                  <a:schemeClr val="accent1"/>
                </a:solidFill>
              </a:rPr>
              <a:t>DOWNSTREAM INTEGRATIONS</a:t>
            </a:r>
            <a:endParaRPr lang="en-US" sz="1200" b="1" spc="200" dirty="0">
              <a:solidFill>
                <a:schemeClr val="accent1"/>
              </a:solidFill>
            </a:endParaRPr>
          </a:p>
        </p:txBody>
      </p:sp>
      <p:sp>
        <p:nvSpPr>
          <p:cNvPr id="8" name="Stage Head 1">
            <a:extLst>
              <a:ext uri="{FF2B5EF4-FFF2-40B4-BE49-F238E27FC236}">
                <a16:creationId xmlns:a16="http://schemas.microsoft.com/office/drawing/2014/main" id="{7DB61A16-21F6-35B2-0B3A-AE5F629BCE75}"/>
              </a:ext>
            </a:extLst>
          </p:cNvPr>
          <p:cNvSpPr/>
          <p:nvPr/>
        </p:nvSpPr>
        <p:spPr>
          <a:xfrm>
            <a:off x="482022" y="1475507"/>
            <a:ext cx="3454400" cy="838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wrap="square" lIns="177800" tIns="152400" rIns="711200" bIns="152400" anchor="ctr">
            <a:noAutofit/>
          </a:bodyPr>
          <a:lstStyle/>
          <a:p>
            <a:pPr marL="0" indent="0" algn="l">
              <a:buNone/>
            </a:pPr>
            <a:r>
              <a:rPr lang="en-US" sz="1200" b="1">
                <a:solidFill>
                  <a:srgbClr val="FFFFFF"/>
                </a:solidFill>
              </a:rPr>
              <a:t>JIRA</a:t>
            </a:r>
            <a:endParaRPr lang="en-US" sz="1200" b="1" dirty="0">
              <a:solidFill>
                <a:srgbClr val="FFFFFF"/>
              </a:solidFill>
            </a:endParaRPr>
          </a:p>
          <a:p>
            <a:pPr>
              <a:spcBef>
                <a:spcPts val="100"/>
              </a:spcBef>
            </a:pPr>
            <a:r>
              <a:rPr lang="en-US" b="1">
                <a:solidFill>
                  <a:srgbClr val="FFFFFF"/>
                </a:solidFill>
              </a:rPr>
              <a:t>Task creation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10" name="Stage Body 1">
            <a:extLst>
              <a:ext uri="{FF2B5EF4-FFF2-40B4-BE49-F238E27FC236}">
                <a16:creationId xmlns:a16="http://schemas.microsoft.com/office/drawing/2014/main" id="{BE579F91-88CB-DF7C-3CDD-0865C92C2E83}"/>
              </a:ext>
            </a:extLst>
          </p:cNvPr>
          <p:cNvSpPr/>
          <p:nvPr/>
        </p:nvSpPr>
        <p:spPr>
          <a:xfrm>
            <a:off x="482022" y="2313707"/>
            <a:ext cx="3454400" cy="246149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3CC"/>
            </a:solidFill>
          </a:ln>
        </p:spPr>
        <p:txBody>
          <a:bodyPr wrap="square" lIns="177800" tIns="152400" rIns="177800" bIns="152400" anchor="t">
            <a:noAutofit/>
          </a:bodyPr>
          <a:lstStyle/>
          <a:p>
            <a:pPr marL="0" indent="0" algn="l">
              <a:buNone/>
            </a:pPr>
            <a:r>
              <a:rPr lang="en-US" sz="1200" b="1"/>
              <a:t>WHAT THE SYSTEM DOES</a:t>
            </a:r>
          </a:p>
          <a:p>
            <a:pPr marL="228600" indent="-228600">
              <a:spcBef>
                <a:spcPts val="700"/>
              </a:spcBef>
              <a:buClr>
                <a:srgbClr val="0E7C66"/>
              </a:buClr>
              <a:buFont typeface="Arial"/>
              <a:buChar char="•"/>
            </a:pPr>
            <a:r>
              <a:rPr lang="en-US" sz="1600"/>
              <a:t>Turns extracted </a:t>
            </a:r>
            <a:r>
              <a:rPr lang="en-US" sz="1600" dirty="0"/>
              <a:t>action items </a:t>
            </a:r>
            <a:r>
              <a:rPr lang="en-US" sz="1600"/>
              <a:t>into Jira tickets</a:t>
            </a:r>
          </a:p>
          <a:p>
            <a:pPr marL="228600" indent="-228600">
              <a:spcBef>
                <a:spcPts val="700"/>
              </a:spcBef>
              <a:buClr>
                <a:srgbClr val="0E7C66"/>
              </a:buClr>
              <a:buFont typeface="Arial"/>
              <a:buChar char="•"/>
            </a:pPr>
            <a:r>
              <a:rPr lang="en-US" sz="1600"/>
              <a:t>Includes an owner and deadline</a:t>
            </a:r>
            <a:endParaRPr lang="en-US" sz="1600" dirty="0"/>
          </a:p>
          <a:p>
            <a:pPr marL="228600" indent="-228600">
              <a:spcBef>
                <a:spcPts val="700"/>
              </a:spcBef>
              <a:buClr>
                <a:srgbClr val="0E7C66"/>
              </a:buClr>
              <a:buFont typeface="Arial"/>
              <a:buChar char="•"/>
            </a:pPr>
            <a:r>
              <a:rPr lang="en-US" sz="1600"/>
              <a:t>Links each ticket to the meeting</a:t>
            </a:r>
            <a:endParaRPr lang="en-US" sz="1600" dirty="0"/>
          </a:p>
        </p:txBody>
      </p:sp>
      <p:sp>
        <p:nvSpPr>
          <p:cNvPr id="12" name="Stage Head 2">
            <a:extLst>
              <a:ext uri="{FF2B5EF4-FFF2-40B4-BE49-F238E27FC236}">
                <a16:creationId xmlns:a16="http://schemas.microsoft.com/office/drawing/2014/main" id="{B17263FF-21BE-4E2A-DD42-08528F08F655}"/>
              </a:ext>
            </a:extLst>
          </p:cNvPr>
          <p:cNvSpPr/>
          <p:nvPr/>
        </p:nvSpPr>
        <p:spPr>
          <a:xfrm>
            <a:off x="4241222" y="1475507"/>
            <a:ext cx="3454400" cy="838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wrap="square" lIns="177800" tIns="152400" rIns="711200" bIns="152400" anchor="ctr">
            <a:noAutofit/>
          </a:bodyPr>
          <a:lstStyle/>
          <a:p>
            <a:pPr marL="0" indent="0" algn="l">
              <a:buNone/>
            </a:pPr>
            <a:r>
              <a:rPr lang="en-US" sz="1200" b="1">
                <a:solidFill>
                  <a:srgbClr val="FFFFFF"/>
                </a:solidFill>
              </a:rPr>
              <a:t>GOOGLE CALENDAR</a:t>
            </a:r>
            <a:endParaRPr lang="en-US" sz="1200" b="1" dirty="0">
              <a:solidFill>
                <a:srgbClr val="FFFFFF"/>
              </a:solidFill>
            </a:endParaRPr>
          </a:p>
          <a:p>
            <a:pPr>
              <a:spcBef>
                <a:spcPts val="100"/>
              </a:spcBef>
            </a:pPr>
            <a:r>
              <a:rPr lang="en-US" b="1">
                <a:solidFill>
                  <a:srgbClr val="FFFFFF"/>
                </a:solidFill>
              </a:rPr>
              <a:t>Follow-up scheduling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14" name="Stage Body 2">
            <a:extLst>
              <a:ext uri="{FF2B5EF4-FFF2-40B4-BE49-F238E27FC236}">
                <a16:creationId xmlns:a16="http://schemas.microsoft.com/office/drawing/2014/main" id="{3EF24863-D672-E906-429A-2AAAD86A9DFD}"/>
              </a:ext>
            </a:extLst>
          </p:cNvPr>
          <p:cNvSpPr/>
          <p:nvPr/>
        </p:nvSpPr>
        <p:spPr>
          <a:xfrm>
            <a:off x="4241222" y="2313707"/>
            <a:ext cx="3454400" cy="246149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3CC"/>
            </a:solidFill>
          </a:ln>
        </p:spPr>
        <p:txBody>
          <a:bodyPr wrap="square" lIns="177800" tIns="152400" rIns="177800" bIns="152400" anchor="t">
            <a:noAutofit/>
          </a:bodyPr>
          <a:lstStyle/>
          <a:p>
            <a:r>
              <a:rPr lang="en-US" sz="1200" b="1"/>
              <a:t>WHAT THE SYSTEM DOES</a:t>
            </a:r>
          </a:p>
          <a:p>
            <a:pPr marL="228600" indent="-228600">
              <a:spcBef>
                <a:spcPts val="700"/>
              </a:spcBef>
              <a:buClr>
                <a:srgbClr val="0E7C66"/>
              </a:buClr>
              <a:buFont typeface="Arial"/>
              <a:buChar char="•"/>
            </a:pPr>
            <a:r>
              <a:rPr lang="en-US" sz="1600"/>
              <a:t>Identifies </a:t>
            </a:r>
            <a:r>
              <a:rPr lang="en-US" sz="1600" dirty="0"/>
              <a:t>follow-ups </a:t>
            </a:r>
            <a:r>
              <a:rPr lang="en-US" sz="1600"/>
              <a:t>from the meeting</a:t>
            </a:r>
          </a:p>
          <a:p>
            <a:pPr marL="228600" indent="-228600">
              <a:spcBef>
                <a:spcPts val="700"/>
              </a:spcBef>
              <a:buClr>
                <a:srgbClr val="0E7C66"/>
              </a:buClr>
              <a:buFont typeface="Arial"/>
              <a:buChar char="•"/>
            </a:pPr>
            <a:r>
              <a:rPr lang="en-US" sz="1600"/>
              <a:t>Creates </a:t>
            </a:r>
            <a:r>
              <a:rPr lang="en-US" sz="1600" dirty="0"/>
              <a:t>Google Calendar</a:t>
            </a:r>
            <a:r>
              <a:rPr lang="en-US" sz="1600"/>
              <a:t> events</a:t>
            </a:r>
            <a:endParaRPr lang="en-US" sz="1600" dirty="0"/>
          </a:p>
          <a:p>
            <a:pPr marL="228600" indent="-228600">
              <a:spcBef>
                <a:spcPts val="700"/>
              </a:spcBef>
              <a:buClr>
                <a:srgbClr val="0E7C66"/>
              </a:buClr>
              <a:buFont typeface="Arial"/>
              <a:buChar char="•"/>
            </a:pPr>
            <a:r>
              <a:rPr lang="en-US" sz="1600"/>
              <a:t>Includes the relevant</a:t>
            </a:r>
            <a:r>
              <a:rPr lang="en-US" sz="1600" dirty="0"/>
              <a:t> participants</a:t>
            </a:r>
          </a:p>
        </p:txBody>
      </p:sp>
      <p:sp>
        <p:nvSpPr>
          <p:cNvPr id="16" name="Stage Head 3">
            <a:extLst>
              <a:ext uri="{FF2B5EF4-FFF2-40B4-BE49-F238E27FC236}">
                <a16:creationId xmlns:a16="http://schemas.microsoft.com/office/drawing/2014/main" id="{B7BEF485-359E-273B-0A53-469046262203}"/>
              </a:ext>
            </a:extLst>
          </p:cNvPr>
          <p:cNvSpPr/>
          <p:nvPr/>
        </p:nvSpPr>
        <p:spPr>
          <a:xfrm>
            <a:off x="8000422" y="1475507"/>
            <a:ext cx="3454400" cy="838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wrap="square" lIns="177800" tIns="152400" rIns="711200" bIns="152400" anchor="ctr">
            <a:noAutofit/>
          </a:bodyPr>
          <a:lstStyle/>
          <a:p>
            <a:pPr marL="0" indent="0" algn="l">
              <a:buNone/>
            </a:pPr>
            <a:r>
              <a:rPr lang="en-US" sz="1200" b="1">
                <a:solidFill>
                  <a:srgbClr val="FFFFFF"/>
                </a:solidFill>
              </a:rPr>
              <a:t>GOOGLE DOCS AND EMAIL</a:t>
            </a:r>
            <a:endParaRPr lang="en-US" sz="1200" b="1" dirty="0">
              <a:solidFill>
                <a:srgbClr val="FFFFFF"/>
              </a:solidFill>
            </a:endParaRPr>
          </a:p>
          <a:p>
            <a:pPr>
              <a:spcBef>
                <a:spcPts val="100"/>
              </a:spcBef>
            </a:pPr>
            <a:r>
              <a:rPr lang="en-US" b="1">
                <a:solidFill>
                  <a:srgbClr val="FFFFFF"/>
                </a:solidFill>
              </a:rPr>
              <a:t>Documentation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18" name="Stage Body 3">
            <a:extLst>
              <a:ext uri="{FF2B5EF4-FFF2-40B4-BE49-F238E27FC236}">
                <a16:creationId xmlns:a16="http://schemas.microsoft.com/office/drawing/2014/main" id="{23C814E8-2E5C-6C73-08BB-DF23E277A43A}"/>
              </a:ext>
            </a:extLst>
          </p:cNvPr>
          <p:cNvSpPr/>
          <p:nvPr/>
        </p:nvSpPr>
        <p:spPr>
          <a:xfrm>
            <a:off x="8000422" y="2313707"/>
            <a:ext cx="3454400" cy="246149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3CC"/>
            </a:solidFill>
          </a:ln>
        </p:spPr>
        <p:txBody>
          <a:bodyPr wrap="square" lIns="177800" tIns="152400" rIns="177800" bIns="152400" anchor="t">
            <a:noAutofit/>
          </a:bodyPr>
          <a:lstStyle/>
          <a:p>
            <a:r>
              <a:rPr lang="en-US" sz="1200" b="1"/>
              <a:t>WHAT THE SYSTEM DOES</a:t>
            </a:r>
            <a:endParaRPr lang="en-US" sz="1200" b="1" dirty="0"/>
          </a:p>
          <a:p>
            <a:pPr marL="228600" indent="-228600">
              <a:spcBef>
                <a:spcPts val="700"/>
              </a:spcBef>
              <a:buClr>
                <a:srgbClr val="0E7C66"/>
              </a:buClr>
              <a:buFont typeface="Arial"/>
              <a:buChar char="•"/>
            </a:pPr>
            <a:r>
              <a:rPr lang="en-US" sz="1600"/>
              <a:t>Creates meeting notes in Google Docs</a:t>
            </a:r>
            <a:endParaRPr lang="en-US" sz="1600" dirty="0"/>
          </a:p>
          <a:p>
            <a:pPr marL="228600" indent="-228600">
              <a:spcBef>
                <a:spcPts val="700"/>
              </a:spcBef>
              <a:buClr>
                <a:srgbClr val="0E7C66"/>
              </a:buClr>
              <a:buFont typeface="Arial"/>
              <a:buChar char="•"/>
            </a:pPr>
            <a:r>
              <a:rPr lang="en-US" sz="1600"/>
              <a:t>Preserves a shared meeting record</a:t>
            </a:r>
            <a:endParaRPr lang="en-US" sz="1600" dirty="0"/>
          </a:p>
          <a:p>
            <a:pPr marL="228600" indent="-228600">
              <a:spcBef>
                <a:spcPts val="700"/>
              </a:spcBef>
              <a:buClr>
                <a:srgbClr val="0E7C66"/>
              </a:buClr>
              <a:buFont typeface="Arial"/>
              <a:buChar char="•"/>
            </a:pPr>
            <a:r>
              <a:rPr lang="en-US" sz="1600"/>
              <a:t>Emails a summary to participants</a:t>
            </a:r>
            <a:endParaRPr lang="en-US" sz="1600" dirty="0"/>
          </a:p>
        </p:txBody>
      </p:sp>
      <p:sp>
        <p:nvSpPr>
          <p:cNvPr id="20" name="Head Accent 1">
            <a:extLst>
              <a:ext uri="{FF2B5EF4-FFF2-40B4-BE49-F238E27FC236}">
                <a16:creationId xmlns:a16="http://schemas.microsoft.com/office/drawing/2014/main" id="{6E7DA8B6-514B-6E2C-C231-7ED1409D439B}"/>
              </a:ext>
            </a:extLst>
          </p:cNvPr>
          <p:cNvSpPr/>
          <p:nvPr/>
        </p:nvSpPr>
        <p:spPr>
          <a:xfrm>
            <a:off x="482022" y="1475507"/>
            <a:ext cx="3454400" cy="5715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2" name="Result 1">
            <a:extLst>
              <a:ext uri="{FF2B5EF4-FFF2-40B4-BE49-F238E27FC236}">
                <a16:creationId xmlns:a16="http://schemas.microsoft.com/office/drawing/2014/main" id="{25093B38-91B9-F6AF-B716-574F4FE5F349}"/>
              </a:ext>
            </a:extLst>
          </p:cNvPr>
          <p:cNvSpPr/>
          <p:nvPr/>
        </p:nvSpPr>
        <p:spPr>
          <a:xfrm>
            <a:off x="482022" y="4775197"/>
            <a:ext cx="3454400" cy="6858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wrap="square" lIns="228600" tIns="45720" rIns="177800" bIns="45720" anchor="ctr">
            <a:noAutofit/>
          </a:bodyPr>
          <a:lstStyle/>
          <a:p>
            <a:r>
              <a:rPr lang="en-US" sz="1100" b="1" spc="150" dirty="0">
                <a:solidFill>
                  <a:srgbClr val="6B7280"/>
                </a:solidFill>
              </a:rPr>
              <a:t>OUTCOME</a:t>
            </a:r>
          </a:p>
          <a:p>
            <a:pPr marL="0" indent="0" algn="l">
              <a:spcBef>
                <a:spcPts val="200"/>
              </a:spcBef>
              <a:buNone/>
            </a:pPr>
            <a:r>
              <a:rPr lang="en-US" sz="1600" b="1"/>
              <a:t>Actions become tracked tickets</a:t>
            </a:r>
            <a:endParaRPr lang="en-US" sz="1600" b="1" dirty="0"/>
          </a:p>
        </p:txBody>
      </p:sp>
      <p:sp>
        <p:nvSpPr>
          <p:cNvPr id="24" name="Result Bar 1">
            <a:extLst>
              <a:ext uri="{FF2B5EF4-FFF2-40B4-BE49-F238E27FC236}">
                <a16:creationId xmlns:a16="http://schemas.microsoft.com/office/drawing/2014/main" id="{CFE48F79-06A6-09C5-D677-6124B220DD21}"/>
              </a:ext>
            </a:extLst>
          </p:cNvPr>
          <p:cNvSpPr/>
          <p:nvPr/>
        </p:nvSpPr>
        <p:spPr>
          <a:xfrm>
            <a:off x="482022" y="4775197"/>
            <a:ext cx="57150" cy="68580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26" name="Head Accent 2">
            <a:extLst>
              <a:ext uri="{FF2B5EF4-FFF2-40B4-BE49-F238E27FC236}">
                <a16:creationId xmlns:a16="http://schemas.microsoft.com/office/drawing/2014/main" id="{BC025BF7-FF1C-77B4-B38E-E82456B8A5B7}"/>
              </a:ext>
            </a:extLst>
          </p:cNvPr>
          <p:cNvSpPr/>
          <p:nvPr/>
        </p:nvSpPr>
        <p:spPr>
          <a:xfrm>
            <a:off x="4241222" y="1475507"/>
            <a:ext cx="3454400" cy="5715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8" name="Result 2">
            <a:extLst>
              <a:ext uri="{FF2B5EF4-FFF2-40B4-BE49-F238E27FC236}">
                <a16:creationId xmlns:a16="http://schemas.microsoft.com/office/drawing/2014/main" id="{EE6D0520-E12E-100A-B8AB-DF268722C3B2}"/>
              </a:ext>
            </a:extLst>
          </p:cNvPr>
          <p:cNvSpPr/>
          <p:nvPr/>
        </p:nvSpPr>
        <p:spPr>
          <a:xfrm>
            <a:off x="4241222" y="4775197"/>
            <a:ext cx="3454400" cy="6858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wrap="square" lIns="228600" tIns="45720" rIns="177800" bIns="45720" anchor="ctr">
            <a:noAutofit/>
          </a:bodyPr>
          <a:lstStyle/>
          <a:p>
            <a:r>
              <a:rPr lang="en-US" sz="1100" b="1" spc="150" dirty="0">
                <a:solidFill>
                  <a:srgbClr val="6B7280"/>
                </a:solidFill>
              </a:rPr>
              <a:t>OUTCOME</a:t>
            </a:r>
          </a:p>
          <a:p>
            <a:pPr>
              <a:spcBef>
                <a:spcPts val="200"/>
              </a:spcBef>
            </a:pPr>
            <a:r>
              <a:rPr lang="en-US" sz="1600" b="1"/>
              <a:t>Follow-ups enter calendars</a:t>
            </a:r>
            <a:endParaRPr lang="en-US" sz="1600" b="1" dirty="0"/>
          </a:p>
        </p:txBody>
      </p:sp>
      <p:sp>
        <p:nvSpPr>
          <p:cNvPr id="30" name="Result Bar 2">
            <a:extLst>
              <a:ext uri="{FF2B5EF4-FFF2-40B4-BE49-F238E27FC236}">
                <a16:creationId xmlns:a16="http://schemas.microsoft.com/office/drawing/2014/main" id="{55DA022D-D23D-31AF-8570-E75DFA5FC397}"/>
              </a:ext>
            </a:extLst>
          </p:cNvPr>
          <p:cNvSpPr/>
          <p:nvPr/>
        </p:nvSpPr>
        <p:spPr>
          <a:xfrm>
            <a:off x="4241222" y="4775197"/>
            <a:ext cx="57150" cy="68580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32" name="Head Accent 3">
            <a:extLst>
              <a:ext uri="{FF2B5EF4-FFF2-40B4-BE49-F238E27FC236}">
                <a16:creationId xmlns:a16="http://schemas.microsoft.com/office/drawing/2014/main" id="{785A3477-0074-6797-223E-4E060C4739C1}"/>
              </a:ext>
            </a:extLst>
          </p:cNvPr>
          <p:cNvSpPr/>
          <p:nvPr/>
        </p:nvSpPr>
        <p:spPr>
          <a:xfrm>
            <a:off x="8000422" y="1475507"/>
            <a:ext cx="3454400" cy="5715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4" name="Result 3">
            <a:extLst>
              <a:ext uri="{FF2B5EF4-FFF2-40B4-BE49-F238E27FC236}">
                <a16:creationId xmlns:a16="http://schemas.microsoft.com/office/drawing/2014/main" id="{F64FC6AF-B5B8-0292-A2DE-E65A237901D1}"/>
              </a:ext>
            </a:extLst>
          </p:cNvPr>
          <p:cNvSpPr/>
          <p:nvPr/>
        </p:nvSpPr>
        <p:spPr>
          <a:xfrm>
            <a:off x="8000422" y="4775197"/>
            <a:ext cx="3454400" cy="6858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wrap="square" lIns="228600" tIns="45720" rIns="177800" bIns="45720" anchor="ctr">
            <a:noAutofit/>
          </a:bodyPr>
          <a:lstStyle/>
          <a:p>
            <a:r>
              <a:rPr lang="en-US" sz="1100" b="1" spc="150" dirty="0">
                <a:solidFill>
                  <a:srgbClr val="6B7280"/>
                </a:solidFill>
              </a:rPr>
              <a:t>OUTCOME</a:t>
            </a:r>
          </a:p>
          <a:p>
            <a:pPr>
              <a:spcBef>
                <a:spcPts val="200"/>
              </a:spcBef>
            </a:pPr>
            <a:r>
              <a:rPr lang="en-US" sz="1600" b="1"/>
              <a:t>Notes stored and shared</a:t>
            </a:r>
            <a:endParaRPr lang="en-US" sz="1600" b="1" dirty="0"/>
          </a:p>
        </p:txBody>
      </p:sp>
      <p:sp>
        <p:nvSpPr>
          <p:cNvPr id="36" name="Result Bar 3">
            <a:extLst>
              <a:ext uri="{FF2B5EF4-FFF2-40B4-BE49-F238E27FC236}">
                <a16:creationId xmlns:a16="http://schemas.microsoft.com/office/drawing/2014/main" id="{754E1F85-22BB-A9BD-AD9A-ED43DC5087C6}"/>
              </a:ext>
            </a:extLst>
          </p:cNvPr>
          <p:cNvSpPr/>
          <p:nvPr/>
        </p:nvSpPr>
        <p:spPr>
          <a:xfrm>
            <a:off x="8000422" y="4775197"/>
            <a:ext cx="57150" cy="68580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38" name="Takeaway">
            <a:extLst>
              <a:ext uri="{FF2B5EF4-FFF2-40B4-BE49-F238E27FC236}">
                <a16:creationId xmlns:a16="http://schemas.microsoft.com/office/drawing/2014/main" id="{37E3C0EE-9E0F-34F5-AA68-1A036AC976FB}"/>
              </a:ext>
            </a:extLst>
          </p:cNvPr>
          <p:cNvSpPr/>
          <p:nvPr/>
        </p:nvSpPr>
        <p:spPr>
          <a:xfrm>
            <a:off x="482022" y="5624942"/>
            <a:ext cx="10972800" cy="533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wrap="square" lIns="228600" tIns="45720" rIns="228600" bIns="45720" anchor="ctr">
            <a:noAutofit/>
          </a:bodyPr>
          <a:lstStyle/>
          <a:p>
            <a:pPr algn="ctr"/>
            <a:r>
              <a:rPr lang="en-US" sz="1600" b="1">
                <a:solidFill>
                  <a:srgbClr val="FFFFFF"/>
                </a:solidFill>
              </a:rPr>
              <a:t>Extracted </a:t>
            </a:r>
            <a:r>
              <a:rPr lang="en-US" sz="1600" b="1" dirty="0">
                <a:solidFill>
                  <a:srgbClr val="FFFFFF"/>
                </a:solidFill>
              </a:rPr>
              <a:t>action </a:t>
            </a:r>
            <a:r>
              <a:rPr lang="en-US" sz="1600" b="1">
                <a:solidFill>
                  <a:srgbClr val="FFFFFF"/>
                </a:solidFill>
              </a:rPr>
              <a:t>items are the starting point. The system continues beyond the meeting summary.</a:t>
            </a:r>
            <a:endParaRPr lang="en-US" sz="1600" b="1" dirty="0">
              <a:solidFill>
                <a:srgbClr val="FFFFFF"/>
              </a:solidFill>
            </a:endParaRPr>
          </a:p>
        </p:txBody>
      </p:sp>
      <p:pic>
        <p:nvPicPr>
          <p:cNvPr id="40" name="Icon 1" descr="Example 1 icon">
            <a:extLst>
              <a:ext uri="{FF2B5EF4-FFF2-40B4-BE49-F238E27FC236}">
                <a16:creationId xmlns:a16="http://schemas.microsoft.com/office/drawing/2014/main" id="{F8F92EE0-F1A7-0263-9C1B-D724D4B4CB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1422" y="1680294"/>
            <a:ext cx="457200" cy="457200"/>
          </a:xfrm>
          <a:prstGeom prst="rect">
            <a:avLst/>
          </a:prstGeom>
        </p:spPr>
      </p:pic>
      <p:pic>
        <p:nvPicPr>
          <p:cNvPr id="42" name="Icon 2" descr="Example 2 icon">
            <a:extLst>
              <a:ext uri="{FF2B5EF4-FFF2-40B4-BE49-F238E27FC236}">
                <a16:creationId xmlns:a16="http://schemas.microsoft.com/office/drawing/2014/main" id="{4F9A25F1-EECE-D39B-BD9F-FCF8AB115C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0622" y="1680294"/>
            <a:ext cx="457200" cy="457200"/>
          </a:xfrm>
          <a:prstGeom prst="rect">
            <a:avLst/>
          </a:prstGeom>
        </p:spPr>
      </p:pic>
      <p:pic>
        <p:nvPicPr>
          <p:cNvPr id="44" name="Icon 3" descr="Example 3 icon">
            <a:extLst>
              <a:ext uri="{FF2B5EF4-FFF2-40B4-BE49-F238E27FC236}">
                <a16:creationId xmlns:a16="http://schemas.microsoft.com/office/drawing/2014/main" id="{D201FB21-63EA-C7A2-C77F-1A6A4EDCCC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19822" y="1680294"/>
            <a:ext cx="45720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24473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9E25C2-147F-5CDD-2301-5F1550EF3E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7AFCD248-C441-AE95-D307-7B84429DC049}"/>
              </a:ext>
            </a:extLst>
          </p:cNvPr>
          <p:cNvSpPr txBox="1">
            <a:spLocks/>
          </p:cNvSpPr>
          <p:nvPr/>
        </p:nvSpPr>
        <p:spPr>
          <a:xfrm>
            <a:off x="341745" y="249382"/>
            <a:ext cx="10344728" cy="47625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000" dirty="0">
                <a:solidFill>
                  <a:schemeClr val="accent1"/>
                </a:solidFill>
                <a:latin typeface="Graphik Black" panose="020B0A03030202060203" pitchFamily="34" charset="0"/>
              </a:rPr>
              <a:t>One upload in, tickets, invites and emails out</a:t>
            </a:r>
          </a:p>
        </p:txBody>
      </p:sp>
      <p:sp>
        <p:nvSpPr>
          <p:cNvPr id="6" name="Guideline Label">
            <a:extLst>
              <a:ext uri="{FF2B5EF4-FFF2-40B4-BE49-F238E27FC236}">
                <a16:creationId xmlns:a16="http://schemas.microsoft.com/office/drawing/2014/main" id="{68F772A8-3168-2699-80D5-0F2F52ECF7EC}"/>
              </a:ext>
            </a:extLst>
          </p:cNvPr>
          <p:cNvSpPr txBox="1"/>
          <p:nvPr/>
        </p:nvSpPr>
        <p:spPr>
          <a:xfrm>
            <a:off x="482022" y="916710"/>
            <a:ext cx="5781964" cy="254000"/>
          </a:xfrm>
          <a:prstGeom prst="rect">
            <a:avLst/>
          </a:prstGeom>
          <a:noFill/>
        </p:spPr>
        <p:txBody>
          <a:bodyPr vertOverflow="overflow" vert="horz" wrap="square" lIns="0" tIns="0" bIns="0" rtlCol="0" anchor="t" anchorCtr="0">
            <a:noAutofit/>
          </a:bodyPr>
          <a:lstStyle/>
          <a:p>
            <a:pPr algn="l"/>
            <a:r>
              <a:rPr lang="en-US" sz="1200" b="1" spc="200" dirty="0">
                <a:solidFill>
                  <a:schemeClr val="accent1"/>
                </a:solidFill>
              </a:rPr>
              <a:t>PROPOSED SOLUTION · ARCHITECTURE AND WORKFLOW</a:t>
            </a:r>
          </a:p>
        </p:txBody>
      </p:sp>
      <p:sp>
        <p:nvSpPr>
          <p:cNvPr id="2" name="Stage 1"/>
          <p:cNvSpPr/>
          <p:nvPr/>
        </p:nvSpPr>
        <p:spPr>
          <a:xfrm>
            <a:off x="609600" y="1600200"/>
            <a:ext cx="4318000" cy="33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wrap="square" lIns="177800" tIns="152400" rIns="711200" bIns="152400" anchor="ctr">
            <a:noAutofit/>
          </a:bodyPr>
          <a:lstStyle/>
          <a:p>
            <a:r>
              <a:rPr lang="en-US" sz="1200" b="1" dirty="0">
                <a:solidFill>
                  <a:srgbClr val="FFFFFF"/>
                </a:solidFill>
              </a:rPr>
              <a:t>1  Meeting processing</a:t>
            </a:r>
          </a:p>
        </p:txBody>
      </p:sp>
      <p:sp>
        <p:nvSpPr>
          <p:cNvPr id="13" name="Stage Rule 1"/>
          <p:cNvSpPr/>
          <p:nvPr/>
        </p:nvSpPr>
        <p:spPr>
          <a:xfrm>
            <a:off x="609600" y="1562100"/>
            <a:ext cx="4318000" cy="381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txBody>
          <a:bodyPr wrap="square" lIns="101600" tIns="50800" rIns="101600" bIns="50800" anchor="ctr">
            <a:noAutofit/>
          </a:bodyPr>
          <a:lstStyle/>
          <a:p>
            <a:endParaRPr lang="en-US"/>
          </a:p>
        </p:txBody>
      </p:sp>
      <p:sp>
        <p:nvSpPr>
          <p:cNvPr id="11" name="Stage 2"/>
          <p:cNvSpPr/>
          <p:nvPr/>
        </p:nvSpPr>
        <p:spPr>
          <a:xfrm>
            <a:off x="5152736" y="1600200"/>
            <a:ext cx="2623127" cy="33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wrap="square" lIns="177800" tIns="152400" rIns="711200" bIns="152400" anchor="ctr">
            <a:noAutofit/>
          </a:bodyPr>
          <a:lstStyle/>
          <a:p>
            <a:r>
              <a:rPr lang="en-US" sz="1200" b="1" dirty="0">
                <a:solidFill>
                  <a:srgbClr val="FFFFFF"/>
                </a:solidFill>
              </a:rPr>
              <a:t>2  Meeting intelligence</a:t>
            </a:r>
          </a:p>
        </p:txBody>
      </p:sp>
      <p:sp>
        <p:nvSpPr>
          <p:cNvPr id="3" name="Stage Rule 2"/>
          <p:cNvSpPr/>
          <p:nvPr/>
        </p:nvSpPr>
        <p:spPr>
          <a:xfrm>
            <a:off x="5152737" y="1562099"/>
            <a:ext cx="2623126" cy="4571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txBody>
          <a:bodyPr wrap="square" lIns="101600" tIns="50800" rIns="101600" bIns="50800" anchor="ctr">
            <a:noAutofit/>
          </a:bodyPr>
          <a:lstStyle/>
          <a:p>
            <a:endParaRPr lang="en-US"/>
          </a:p>
        </p:txBody>
      </p:sp>
      <p:sp>
        <p:nvSpPr>
          <p:cNvPr id="5" name="Stage 3"/>
          <p:cNvSpPr/>
          <p:nvPr/>
        </p:nvSpPr>
        <p:spPr>
          <a:xfrm>
            <a:off x="8001000" y="1600200"/>
            <a:ext cx="3581400" cy="33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wrap="square" lIns="177800" tIns="152400" rIns="711200" bIns="152400" anchor="ctr">
            <a:noAutofit/>
          </a:bodyPr>
          <a:lstStyle/>
          <a:p>
            <a:r>
              <a:rPr lang="en-US" sz="1200" b="1">
                <a:solidFill>
                  <a:srgbClr val="FFFFFF"/>
                </a:solidFill>
              </a:rPr>
              <a:t>3  Action tracking</a:t>
            </a:r>
          </a:p>
        </p:txBody>
      </p:sp>
      <p:sp>
        <p:nvSpPr>
          <p:cNvPr id="15" name="Stage Rule 3"/>
          <p:cNvSpPr/>
          <p:nvPr/>
        </p:nvSpPr>
        <p:spPr>
          <a:xfrm>
            <a:off x="8001000" y="1562100"/>
            <a:ext cx="3581400" cy="381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txBody>
          <a:bodyPr wrap="square" lIns="101600" tIns="50800" rIns="101600" bIns="50800" anchor="ctr">
            <a:noAutofit/>
          </a:bodyPr>
          <a:lstStyle/>
          <a:p>
            <a:endParaRPr lang="en-US"/>
          </a:p>
        </p:txBody>
      </p:sp>
      <p:sp>
        <p:nvSpPr>
          <p:cNvPr id="7" name="Intake"/>
          <p:cNvSpPr/>
          <p:nvPr/>
        </p:nvSpPr>
        <p:spPr>
          <a:xfrm>
            <a:off x="609600" y="3111500"/>
            <a:ext cx="1473200" cy="127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6BE"/>
            </a:solidFill>
          </a:ln>
        </p:spPr>
        <p:txBody>
          <a:bodyPr wrap="square" lIns="101600" tIns="50800" rIns="101600" bIns="50800" anchor="ctr">
            <a:noAutofit/>
          </a:bodyPr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900" b="1" spc="100" dirty="0">
                <a:solidFill>
                  <a:schemeClr val="accent1"/>
                </a:solidFill>
              </a:rPr>
              <a:t>INPUT</a:t>
            </a:r>
          </a:p>
          <a:p>
            <a:pPr marL="0" indent="0" algn="l">
              <a:buNone/>
            </a:pPr>
            <a:r>
              <a:rPr lang="en-US" sz="1400" b="1" dirty="0"/>
              <a:t>Intake form</a:t>
            </a:r>
          </a:p>
          <a:p>
            <a:pPr marL="0" indent="0" algn="l">
              <a:spcBef>
                <a:spcPts val="200"/>
              </a:spcBef>
              <a:buNone/>
            </a:pPr>
            <a:r>
              <a:rPr lang="en-US" sz="1400" dirty="0">
                <a:solidFill>
                  <a:srgbClr val="4B5563"/>
                </a:solidFill>
              </a:rPr>
              <a:t>Title, emails, file</a:t>
            </a:r>
          </a:p>
        </p:txBody>
      </p:sp>
      <p:sp>
        <p:nvSpPr>
          <p:cNvPr id="21" name="JSON Path"/>
          <p:cNvSpPr/>
          <p:nvPr/>
        </p:nvSpPr>
        <p:spPr>
          <a:xfrm>
            <a:off x="2438400" y="2095500"/>
            <a:ext cx="2489200" cy="101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6BE"/>
            </a:solidFill>
          </a:ln>
        </p:spPr>
        <p:txBody>
          <a:bodyPr wrap="square" lIns="101600" tIns="50800" rIns="101600" bIns="50800" anchor="ctr">
            <a:noAutofit/>
          </a:bodyPr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900" b="1" spc="100" dirty="0">
                <a:solidFill>
                  <a:schemeClr val="accent1"/>
                </a:solidFill>
              </a:rPr>
              <a:t>TEXT PATH</a:t>
            </a:r>
          </a:p>
          <a:p>
            <a:pPr marL="0" indent="0" algn="l">
              <a:buNone/>
            </a:pPr>
            <a:r>
              <a:rPr lang="en-US" sz="1400" b="1" dirty="0"/>
              <a:t>JSON transcript</a:t>
            </a:r>
          </a:p>
          <a:p>
            <a:pPr marL="0" indent="0" algn="l">
              <a:spcBef>
                <a:spcPts val="200"/>
              </a:spcBef>
              <a:buNone/>
            </a:pPr>
            <a:r>
              <a:rPr lang="en-US" sz="1400" dirty="0">
                <a:solidFill>
                  <a:srgbClr val="4B5563"/>
                </a:solidFill>
              </a:rPr>
              <a:t>Parsed to plain text</a:t>
            </a:r>
          </a:p>
        </p:txBody>
      </p:sp>
      <p:sp>
        <p:nvSpPr>
          <p:cNvPr id="9" name="Audio Path"/>
          <p:cNvSpPr/>
          <p:nvPr/>
        </p:nvSpPr>
        <p:spPr>
          <a:xfrm>
            <a:off x="2438400" y="3619500"/>
            <a:ext cx="2489200" cy="152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6BE"/>
            </a:solidFill>
          </a:ln>
        </p:spPr>
        <p:txBody>
          <a:bodyPr wrap="square" lIns="101600" tIns="50800" rIns="101600" bIns="50800" anchor="ctr">
            <a:noAutofit/>
          </a:bodyPr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900" b="1" spc="100" dirty="0">
                <a:solidFill>
                  <a:schemeClr val="accent1"/>
                </a:solidFill>
              </a:rPr>
              <a:t>AUDIO PATH</a:t>
            </a:r>
          </a:p>
          <a:p>
            <a:pPr marL="0" indent="0" algn="l">
              <a:buNone/>
            </a:pPr>
            <a:r>
              <a:rPr lang="en-US" sz="1400" b="1" dirty="0"/>
              <a:t>Audio file</a:t>
            </a:r>
          </a:p>
          <a:p>
            <a:pPr marL="0" indent="0" algn="l">
              <a:spcBef>
                <a:spcPts val="200"/>
              </a:spcBef>
              <a:buNone/>
            </a:pPr>
            <a:r>
              <a:rPr lang="en-US" sz="1400" dirty="0">
                <a:solidFill>
                  <a:srgbClr val="4B5563"/>
                </a:solidFill>
              </a:rPr>
              <a:t>AssemblyAI with speaker labels</a:t>
            </a:r>
          </a:p>
        </p:txBody>
      </p:sp>
      <p:sp>
        <p:nvSpPr>
          <p:cNvPr id="23" name="Extraction"/>
          <p:cNvSpPr/>
          <p:nvPr/>
        </p:nvSpPr>
        <p:spPr>
          <a:xfrm>
            <a:off x="5283200" y="2730500"/>
            <a:ext cx="2387600" cy="20320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accent1">
                <a:lumMod val="50000"/>
              </a:schemeClr>
            </a:solidFill>
          </a:ln>
        </p:spPr>
        <p:txBody>
          <a:bodyPr wrap="square" lIns="101600" tIns="50800" rIns="101600" bIns="50800" anchor="ctr">
            <a:noAutofit/>
          </a:bodyPr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900" b="1" spc="100" dirty="0">
                <a:solidFill>
                  <a:schemeClr val="bg1"/>
                </a:solidFill>
              </a:rPr>
              <a:t>AI EXTRACTION</a:t>
            </a:r>
          </a:p>
          <a:p>
            <a:pPr marL="0" indent="0" algn="l">
              <a:buNone/>
            </a:pPr>
            <a:r>
              <a:rPr lang="en-US" sz="1400" b="1" dirty="0">
                <a:solidFill>
                  <a:schemeClr val="bg1"/>
                </a:solidFill>
              </a:rPr>
              <a:t>GPT-5 extraction</a:t>
            </a:r>
          </a:p>
          <a:p>
            <a:pPr marL="0" indent="0" algn="l">
              <a:spcBef>
                <a:spcPts val="200"/>
              </a:spcBef>
              <a:buNone/>
            </a:pPr>
            <a:r>
              <a:rPr lang="en-US" sz="1400" dirty="0">
                <a:solidFill>
                  <a:schemeClr val="bg1"/>
                </a:solidFill>
              </a:rPr>
              <a:t>Summary, decisions, action items, risks, follow-up as JSON</a:t>
            </a:r>
          </a:p>
        </p:txBody>
      </p:sp>
      <p:sp>
        <p:nvSpPr>
          <p:cNvPr id="17" name="Super Agent"/>
          <p:cNvSpPr/>
          <p:nvPr/>
        </p:nvSpPr>
        <p:spPr>
          <a:xfrm>
            <a:off x="8001000" y="3175000"/>
            <a:ext cx="1574800" cy="1143000"/>
          </a:xfrm>
          <a:prstGeom prst="rect">
            <a:avLst/>
          </a:prstGeom>
          <a:solidFill>
            <a:schemeClr val="accent1">
              <a:lumMod val="50000"/>
            </a:schemeClr>
          </a:solidFill>
          <a:ln w="12700">
            <a:solidFill>
              <a:srgbClr val="0E7C66"/>
            </a:solidFill>
          </a:ln>
        </p:spPr>
        <p:txBody>
          <a:bodyPr wrap="square" lIns="101600" tIns="50800" rIns="101600" bIns="50800" anchor="ctr">
            <a:noAutofit/>
          </a:bodyPr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900" b="1" spc="100" dirty="0">
                <a:solidFill>
                  <a:srgbClr val="BFE3D9"/>
                </a:solidFill>
              </a:rPr>
              <a:t>ORCHESTRATOR</a:t>
            </a:r>
          </a:p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</a:rPr>
              <a:t>Super Agent</a:t>
            </a:r>
          </a:p>
          <a:p>
            <a:pPr marL="0" indent="0" algn="l">
              <a:spcBef>
                <a:spcPts val="200"/>
              </a:spcBef>
              <a:buNone/>
            </a:pPr>
            <a:r>
              <a:rPr lang="en-US" sz="1400" dirty="0">
                <a:solidFill>
                  <a:srgbClr val="FFFFFF"/>
                </a:solidFill>
              </a:rPr>
              <a:t>gpt-5-mini</a:t>
            </a:r>
          </a:p>
        </p:txBody>
      </p:sp>
      <p:sp>
        <p:nvSpPr>
          <p:cNvPr id="19" name="Jira Agent"/>
          <p:cNvSpPr/>
          <p:nvPr/>
        </p:nvSpPr>
        <p:spPr>
          <a:xfrm>
            <a:off x="9956800" y="2032000"/>
            <a:ext cx="1625600" cy="88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6BE"/>
            </a:solidFill>
          </a:ln>
        </p:spPr>
        <p:txBody>
          <a:bodyPr wrap="square" lIns="101600" tIns="50800" rIns="101600" bIns="50800" anchor="ctr">
            <a:noAutofit/>
          </a:bodyPr>
          <a:lstStyle/>
          <a:p>
            <a:pPr marL="0" indent="0" algn="l">
              <a:buNone/>
            </a:pPr>
            <a:r>
              <a:rPr lang="en-US" sz="1400" b="1">
                <a:solidFill>
                  <a:srgbClr val="0E7C66"/>
                </a:solidFill>
              </a:rPr>
              <a:t>1</a:t>
            </a:r>
            <a:r>
              <a:rPr lang="en-US" sz="1400" b="1" dirty="0"/>
              <a:t>  Jira agent</a:t>
            </a:r>
          </a:p>
          <a:p>
            <a:pPr marL="0" indent="0" algn="l">
              <a:spcBef>
                <a:spcPts val="200"/>
              </a:spcBef>
              <a:buNone/>
            </a:pPr>
            <a:r>
              <a:rPr lang="en-US" sz="1400" dirty="0">
                <a:solidFill>
                  <a:srgbClr val="4B5563"/>
                </a:solidFill>
              </a:rPr>
              <a:t>Create or update</a:t>
            </a:r>
          </a:p>
        </p:txBody>
      </p:sp>
      <p:sp>
        <p:nvSpPr>
          <p:cNvPr id="27" name="Calendar Agent"/>
          <p:cNvSpPr/>
          <p:nvPr/>
        </p:nvSpPr>
        <p:spPr>
          <a:xfrm>
            <a:off x="9956800" y="3302000"/>
            <a:ext cx="1625600" cy="88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6BE"/>
            </a:solidFill>
          </a:ln>
        </p:spPr>
        <p:txBody>
          <a:bodyPr wrap="square" lIns="101600" tIns="50800" rIns="101600" bIns="50800" anchor="ctr">
            <a:noAutofit/>
          </a:bodyPr>
          <a:lstStyle/>
          <a:p>
            <a:pPr marL="0" indent="0" algn="l">
              <a:buNone/>
            </a:pPr>
            <a:r>
              <a:rPr lang="en-US" sz="1400" b="1">
                <a:solidFill>
                  <a:srgbClr val="0E7C66"/>
                </a:solidFill>
              </a:rPr>
              <a:t>2</a:t>
            </a:r>
            <a:r>
              <a:rPr lang="en-US" sz="1400" b="1" dirty="0"/>
              <a:t>  Calendar</a:t>
            </a:r>
          </a:p>
          <a:p>
            <a:pPr marL="0" indent="0" algn="l">
              <a:spcBef>
                <a:spcPts val="200"/>
              </a:spcBef>
              <a:buNone/>
            </a:pPr>
            <a:r>
              <a:rPr lang="en-US" sz="1400" dirty="0">
                <a:solidFill>
                  <a:srgbClr val="4B5563"/>
                </a:solidFill>
              </a:rPr>
              <a:t>Reminders, follow-up</a:t>
            </a:r>
          </a:p>
        </p:txBody>
      </p:sp>
      <p:sp>
        <p:nvSpPr>
          <p:cNvPr id="29" name="Gmail Docs Agent"/>
          <p:cNvSpPr/>
          <p:nvPr/>
        </p:nvSpPr>
        <p:spPr>
          <a:xfrm>
            <a:off x="9956800" y="4572000"/>
            <a:ext cx="1625600" cy="88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6BE"/>
            </a:solidFill>
          </a:ln>
        </p:spPr>
        <p:txBody>
          <a:bodyPr wrap="square" lIns="101600" tIns="50800" rIns="101600" bIns="50800" anchor="ctr">
            <a:no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E7C66"/>
                </a:solidFill>
              </a:rPr>
              <a:t>3</a:t>
            </a:r>
            <a:r>
              <a:rPr lang="en-US" sz="1400" b="1" dirty="0"/>
              <a:t>  Gmail &amp; Docs</a:t>
            </a:r>
          </a:p>
          <a:p>
            <a:pPr marL="0" indent="0" algn="l">
              <a:spcBef>
                <a:spcPts val="200"/>
              </a:spcBef>
              <a:buNone/>
            </a:pPr>
            <a:r>
              <a:rPr lang="en-US" sz="1400" dirty="0">
                <a:solidFill>
                  <a:srgbClr val="4B5563"/>
                </a:solidFill>
              </a:rPr>
              <a:t>Notes and email</a:t>
            </a:r>
          </a:p>
        </p:txBody>
      </p:sp>
      <p:sp>
        <p:nvSpPr>
          <p:cNvPr id="31" name="Slack"/>
          <p:cNvSpPr/>
          <p:nvPr/>
        </p:nvSpPr>
        <p:spPr>
          <a:xfrm>
            <a:off x="9956800" y="5638799"/>
            <a:ext cx="1625600" cy="812799"/>
          </a:xfrm>
          <a:prstGeom prst="rect">
            <a:avLst/>
          </a:prstGeom>
          <a:solidFill>
            <a:srgbClr val="F3F2EE"/>
          </a:solidFill>
          <a:ln w="12700">
            <a:solidFill>
              <a:srgbClr val="C9C6BE"/>
            </a:solidFill>
          </a:ln>
        </p:spPr>
        <p:txBody>
          <a:bodyPr wrap="square" lIns="101600" tIns="50800" rIns="101600" bIns="50800" anchor="ctr">
            <a:noAutofit/>
          </a:bodyPr>
          <a:lstStyle/>
          <a:p>
            <a:pPr marL="0" indent="0" algn="l">
              <a:buNone/>
            </a:pPr>
            <a:r>
              <a:rPr lang="en-US" sz="1400" b="1" dirty="0"/>
              <a:t>Slack digest</a:t>
            </a:r>
          </a:p>
          <a:p>
            <a:pPr marL="0" indent="0" algn="l">
              <a:spcBef>
                <a:spcPts val="200"/>
              </a:spcBef>
              <a:buNone/>
            </a:pPr>
            <a:r>
              <a:rPr lang="en-US" sz="1400" dirty="0">
                <a:solidFill>
                  <a:srgbClr val="4B5563"/>
                </a:solidFill>
              </a:rPr>
              <a:t>Weekly, from Jira</a:t>
            </a:r>
          </a:p>
        </p:txBody>
      </p:sp>
      <p:cxnSp>
        <p:nvCxnSpPr>
          <p:cNvPr id="33" name="Connector 40"/>
          <p:cNvCxnSpPr/>
          <p:nvPr/>
        </p:nvCxnSpPr>
        <p:spPr>
          <a:xfrm flipV="1">
            <a:off x="2082800" y="2603500"/>
            <a:ext cx="355600" cy="1143000"/>
          </a:xfrm>
          <a:prstGeom prst="bentConnector3">
            <a:avLst/>
          </a:prstGeom>
          <a:ln w="15875">
            <a:solidFill>
              <a:srgbClr val="6B7280"/>
            </a:solidFill>
            <a:tailEnd type="triangle" w="med" len="med"/>
          </a:ln>
        </p:spPr>
      </p:cxnSp>
      <p:cxnSp>
        <p:nvCxnSpPr>
          <p:cNvPr id="41" name="Connector 41"/>
          <p:cNvCxnSpPr/>
          <p:nvPr/>
        </p:nvCxnSpPr>
        <p:spPr>
          <a:xfrm>
            <a:off x="2082800" y="3746500"/>
            <a:ext cx="355600" cy="635000"/>
          </a:xfrm>
          <a:prstGeom prst="bentConnector3">
            <a:avLst/>
          </a:prstGeom>
          <a:ln w="15875">
            <a:solidFill>
              <a:srgbClr val="6B7280"/>
            </a:solidFill>
            <a:tailEnd type="triangle" w="med" len="med"/>
          </a:ln>
        </p:spPr>
      </p:cxnSp>
      <p:cxnSp>
        <p:nvCxnSpPr>
          <p:cNvPr id="35" name="Connector 42"/>
          <p:cNvCxnSpPr/>
          <p:nvPr/>
        </p:nvCxnSpPr>
        <p:spPr>
          <a:xfrm>
            <a:off x="4927600" y="2603500"/>
            <a:ext cx="355600" cy="1143000"/>
          </a:xfrm>
          <a:prstGeom prst="bentConnector3">
            <a:avLst/>
          </a:prstGeom>
          <a:ln w="15875">
            <a:solidFill>
              <a:srgbClr val="6B7280"/>
            </a:solidFill>
            <a:tailEnd type="triangle" w="med" len="med"/>
          </a:ln>
        </p:spPr>
      </p:cxnSp>
      <p:cxnSp>
        <p:nvCxnSpPr>
          <p:cNvPr id="43" name="Connector 43"/>
          <p:cNvCxnSpPr/>
          <p:nvPr/>
        </p:nvCxnSpPr>
        <p:spPr>
          <a:xfrm flipV="1">
            <a:off x="4927600" y="3746500"/>
            <a:ext cx="355600" cy="635000"/>
          </a:xfrm>
          <a:prstGeom prst="bentConnector3">
            <a:avLst/>
          </a:prstGeom>
          <a:ln w="15875">
            <a:solidFill>
              <a:srgbClr val="6B7280"/>
            </a:solidFill>
            <a:tailEnd type="triangle" w="med" len="med"/>
          </a:ln>
        </p:spPr>
      </p:cxnSp>
      <p:cxnSp>
        <p:nvCxnSpPr>
          <p:cNvPr id="37" name="Connector 44"/>
          <p:cNvCxnSpPr/>
          <p:nvPr/>
        </p:nvCxnSpPr>
        <p:spPr>
          <a:xfrm>
            <a:off x="7670800" y="3746500"/>
            <a:ext cx="330200" cy="0"/>
          </a:xfrm>
          <a:prstGeom prst="straightConnector1">
            <a:avLst/>
          </a:prstGeom>
          <a:ln w="15875">
            <a:solidFill>
              <a:srgbClr val="6B7280"/>
            </a:solidFill>
            <a:tailEnd type="triangle" w="med" len="med"/>
          </a:ln>
        </p:spPr>
      </p:cxnSp>
      <p:cxnSp>
        <p:nvCxnSpPr>
          <p:cNvPr id="45" name="Connector 45"/>
          <p:cNvCxnSpPr/>
          <p:nvPr/>
        </p:nvCxnSpPr>
        <p:spPr>
          <a:xfrm flipV="1">
            <a:off x="9575800" y="2476500"/>
            <a:ext cx="381000" cy="1270000"/>
          </a:xfrm>
          <a:prstGeom prst="bentConnector3">
            <a:avLst/>
          </a:prstGeom>
          <a:ln w="15875">
            <a:solidFill>
              <a:srgbClr val="6B7280"/>
            </a:solidFill>
            <a:tailEnd type="triangle" w="med" len="med"/>
          </a:ln>
        </p:spPr>
      </p:cxnSp>
      <p:cxnSp>
        <p:nvCxnSpPr>
          <p:cNvPr id="46" name="Connector 46"/>
          <p:cNvCxnSpPr/>
          <p:nvPr/>
        </p:nvCxnSpPr>
        <p:spPr>
          <a:xfrm>
            <a:off x="9575800" y="3746500"/>
            <a:ext cx="381000" cy="0"/>
          </a:xfrm>
          <a:prstGeom prst="straightConnector1">
            <a:avLst/>
          </a:prstGeom>
          <a:ln w="15875">
            <a:solidFill>
              <a:srgbClr val="6B7280"/>
            </a:solidFill>
            <a:tailEnd type="triangle" w="med" len="med"/>
          </a:ln>
        </p:spPr>
      </p:cxnSp>
      <p:cxnSp>
        <p:nvCxnSpPr>
          <p:cNvPr id="47" name="Connector 47"/>
          <p:cNvCxnSpPr/>
          <p:nvPr/>
        </p:nvCxnSpPr>
        <p:spPr>
          <a:xfrm>
            <a:off x="9575800" y="3746500"/>
            <a:ext cx="381000" cy="1270000"/>
          </a:xfrm>
          <a:prstGeom prst="bentConnector3">
            <a:avLst/>
          </a:prstGeom>
          <a:ln w="15875">
            <a:solidFill>
              <a:srgbClr val="6B7280"/>
            </a:solidFill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41087694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17F770-6DCF-A921-9D57-F679CFC5AB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C3C3A475-1369-0688-01DA-BECDB68996C4}"/>
              </a:ext>
            </a:extLst>
          </p:cNvPr>
          <p:cNvSpPr txBox="1">
            <a:spLocks/>
          </p:cNvSpPr>
          <p:nvPr/>
        </p:nvSpPr>
        <p:spPr>
          <a:xfrm>
            <a:off x="341745" y="249382"/>
            <a:ext cx="10344728" cy="9906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000" dirty="0">
                <a:solidFill>
                  <a:schemeClr val="accent1"/>
                </a:solidFill>
                <a:latin typeface="Graphik Black" panose="020B0A03030202060203" pitchFamily="34" charset="0"/>
              </a:rPr>
              <a:t>Under the hood: from raw audio to action in three smart stages</a:t>
            </a:r>
          </a:p>
        </p:txBody>
      </p:sp>
      <p:sp>
        <p:nvSpPr>
          <p:cNvPr id="6" name="Guideline Label">
            <a:extLst>
              <a:ext uri="{FF2B5EF4-FFF2-40B4-BE49-F238E27FC236}">
                <a16:creationId xmlns:a16="http://schemas.microsoft.com/office/drawing/2014/main" id="{F5A2D282-B9FD-4E60-06CE-B8B61D8E6AB3}"/>
              </a:ext>
            </a:extLst>
          </p:cNvPr>
          <p:cNvSpPr txBox="1"/>
          <p:nvPr/>
        </p:nvSpPr>
        <p:spPr>
          <a:xfrm>
            <a:off x="424872" y="1323110"/>
            <a:ext cx="6853383" cy="254000"/>
          </a:xfrm>
          <a:prstGeom prst="rect">
            <a:avLst/>
          </a:prstGeom>
          <a:noFill/>
        </p:spPr>
        <p:txBody>
          <a:bodyPr vertOverflow="overflow" vert="horz" wrap="square" lIns="0" tIns="0" bIns="0" rtlCol="0" anchor="t" anchorCtr="0">
            <a:noAutofit/>
          </a:bodyPr>
          <a:lstStyle/>
          <a:p>
            <a:pPr algn="l"/>
            <a:r>
              <a:rPr lang="en-US" sz="1200" b="1" spc="200" dirty="0">
                <a:solidFill>
                  <a:schemeClr val="accent1"/>
                </a:solidFill>
              </a:rPr>
              <a:t>ARCHITECTURE EXPLAINED · HOW THE THREE STAGES WORK</a:t>
            </a:r>
          </a:p>
        </p:txBody>
      </p:sp>
      <p:sp>
        <p:nvSpPr>
          <p:cNvPr id="8" name="Stage Head 1">
            <a:extLst>
              <a:ext uri="{FF2B5EF4-FFF2-40B4-BE49-F238E27FC236}">
                <a16:creationId xmlns:a16="http://schemas.microsoft.com/office/drawing/2014/main" id="{FB6D1E44-9B00-3E3E-4C38-884958CA90A4}"/>
              </a:ext>
            </a:extLst>
          </p:cNvPr>
          <p:cNvSpPr/>
          <p:nvPr/>
        </p:nvSpPr>
        <p:spPr>
          <a:xfrm>
            <a:off x="480290" y="1651000"/>
            <a:ext cx="3454400" cy="838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wrap="square" lIns="177800" tIns="152400" rIns="711200" bIns="152400" anchor="ctr">
            <a:noAutofit/>
          </a:bodyPr>
          <a:lstStyle/>
          <a:p>
            <a:r>
              <a:rPr lang="en-US" sz="1200" b="1" dirty="0">
                <a:solidFill>
                  <a:srgbClr val="FFFFFF"/>
                </a:solidFill>
              </a:rPr>
              <a:t>STAGE 1</a:t>
            </a:r>
          </a:p>
          <a:p>
            <a:pPr>
              <a:spcBef>
                <a:spcPts val="100"/>
              </a:spcBef>
            </a:pPr>
            <a:r>
              <a:rPr lang="en-US" b="1" dirty="0">
                <a:solidFill>
                  <a:srgbClr val="FFFFFF"/>
                </a:solidFill>
              </a:rPr>
              <a:t>Meeting processing</a:t>
            </a:r>
          </a:p>
        </p:txBody>
      </p:sp>
      <p:sp>
        <p:nvSpPr>
          <p:cNvPr id="10" name="Stage Body 1">
            <a:extLst>
              <a:ext uri="{FF2B5EF4-FFF2-40B4-BE49-F238E27FC236}">
                <a16:creationId xmlns:a16="http://schemas.microsoft.com/office/drawing/2014/main" id="{8A2255DB-579D-E986-19DF-24FAC2C3E660}"/>
              </a:ext>
            </a:extLst>
          </p:cNvPr>
          <p:cNvSpPr/>
          <p:nvPr/>
        </p:nvSpPr>
        <p:spPr>
          <a:xfrm>
            <a:off x="480290" y="2489200"/>
            <a:ext cx="3454400" cy="3532904"/>
          </a:xfrm>
          <a:prstGeom prst="rect">
            <a:avLst/>
          </a:prstGeom>
          <a:solidFill>
            <a:srgbClr val="FFFFFF"/>
          </a:solidFill>
          <a:ln w="12700">
            <a:solidFill>
              <a:srgbClr val="D6D3CC"/>
            </a:solidFill>
          </a:ln>
        </p:spPr>
        <p:txBody>
          <a:bodyPr wrap="square" lIns="177800" tIns="152400" rIns="177800" bIns="152400" anchor="t">
            <a:noAutofit/>
          </a:bodyPr>
          <a:lstStyle/>
          <a:p>
            <a:pPr marL="0" indent="0" algn="l">
              <a:buNone/>
            </a:pPr>
            <a:r>
              <a:rPr lang="en-US" sz="1200" b="1" dirty="0"/>
              <a:t>OUTPUT</a:t>
            </a:r>
          </a:p>
          <a:p>
            <a:pPr marL="0" indent="0" algn="l">
              <a:buNone/>
            </a:pPr>
            <a:r>
              <a:rPr lang="en-US" sz="1400" b="1" dirty="0">
                <a:solidFill>
                  <a:schemeClr val="accent1"/>
                </a:solidFill>
              </a:rPr>
              <a:t>Diarized transcript</a:t>
            </a:r>
          </a:p>
          <a:p>
            <a:pPr marL="228600" indent="-228600">
              <a:spcBef>
                <a:spcPts val="900"/>
              </a:spcBef>
              <a:buClr>
                <a:srgbClr val="0E7C66"/>
              </a:buClr>
              <a:buFont typeface="Arial"/>
              <a:buChar char="•"/>
            </a:pPr>
            <a:r>
              <a:rPr lang="en-US" sz="1400" dirty="0"/>
              <a:t>JSON input parsed to plain text</a:t>
            </a:r>
          </a:p>
          <a:p>
            <a:pPr marL="228600" indent="-228600">
              <a:spcBef>
                <a:spcPts val="900"/>
              </a:spcBef>
              <a:buClr>
                <a:srgbClr val="0E7C66"/>
              </a:buClr>
              <a:buFont typeface="Arial"/>
              <a:buChar char="•"/>
            </a:pPr>
            <a:r>
              <a:rPr lang="en-US" sz="1400" dirty="0"/>
              <a:t>Audio sent to </a:t>
            </a:r>
            <a:r>
              <a:rPr lang="en-US" sz="1400" dirty="0" err="1"/>
              <a:t>AssemblyAI</a:t>
            </a:r>
            <a:r>
              <a:rPr lang="en-US" sz="1400" dirty="0"/>
              <a:t> with speaker labels</a:t>
            </a:r>
          </a:p>
          <a:p>
            <a:pPr marL="228600" indent="-228600">
              <a:spcBef>
                <a:spcPts val="900"/>
              </a:spcBef>
              <a:buClr>
                <a:srgbClr val="0E7C66"/>
              </a:buClr>
              <a:buFont typeface="Arial"/>
              <a:buChar char="•"/>
            </a:pPr>
            <a:r>
              <a:rPr lang="en-US" sz="1400" dirty="0"/>
              <a:t>Lines formatted as “Speaker Labels: …”</a:t>
            </a:r>
          </a:p>
          <a:p>
            <a:pPr>
              <a:spcBef>
                <a:spcPts val="1800"/>
              </a:spcBef>
            </a:pPr>
            <a:r>
              <a:rPr lang="en-US" sz="1100" b="1" spc="100" dirty="0">
                <a:solidFill>
                  <a:srgbClr val="6B7280"/>
                </a:solidFill>
              </a:rPr>
              <a:t>BUILT WITH</a:t>
            </a:r>
          </a:p>
          <a:p>
            <a:pPr>
              <a:spcBef>
                <a:spcPts val="100"/>
              </a:spcBef>
            </a:pPr>
            <a:r>
              <a:rPr lang="en-US" sz="1600" b="1" dirty="0">
                <a:solidFill>
                  <a:srgbClr val="2E3A46"/>
                </a:solidFill>
              </a:rPr>
              <a:t>n8n intake form · </a:t>
            </a:r>
            <a:r>
              <a:rPr lang="en-US" sz="1600" b="1" dirty="0" err="1">
                <a:solidFill>
                  <a:srgbClr val="2E3A46"/>
                </a:solidFill>
              </a:rPr>
              <a:t>AssemblyAI</a:t>
            </a:r>
            <a:endParaRPr lang="en-US" sz="1600" b="1" dirty="0">
              <a:solidFill>
                <a:srgbClr val="2E3A46"/>
              </a:solidFill>
            </a:endParaRPr>
          </a:p>
        </p:txBody>
      </p:sp>
      <p:sp>
        <p:nvSpPr>
          <p:cNvPr id="12" name="Stage Head 2">
            <a:extLst>
              <a:ext uri="{FF2B5EF4-FFF2-40B4-BE49-F238E27FC236}">
                <a16:creationId xmlns:a16="http://schemas.microsoft.com/office/drawing/2014/main" id="{A1AECB7C-F523-2AE9-84EA-5188612A5B2D}"/>
              </a:ext>
            </a:extLst>
          </p:cNvPr>
          <p:cNvSpPr/>
          <p:nvPr/>
        </p:nvSpPr>
        <p:spPr>
          <a:xfrm>
            <a:off x="4239490" y="1651000"/>
            <a:ext cx="3454400" cy="838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wrap="square" lIns="177800" tIns="152400" rIns="711200" bIns="152400" anchor="ctr">
            <a:noAutofit/>
          </a:bodyPr>
          <a:lstStyle/>
          <a:p>
            <a:r>
              <a:rPr lang="en-US" sz="1200" b="1" dirty="0">
                <a:solidFill>
                  <a:srgbClr val="FFFFFF"/>
                </a:solidFill>
              </a:rPr>
              <a:t>STAGE 2</a:t>
            </a:r>
          </a:p>
          <a:p>
            <a:pPr>
              <a:spcBef>
                <a:spcPts val="100"/>
              </a:spcBef>
            </a:pPr>
            <a:r>
              <a:rPr lang="en-US" b="1" dirty="0">
                <a:solidFill>
                  <a:srgbClr val="FFFFFF"/>
                </a:solidFill>
              </a:rPr>
              <a:t>Meeting intelligence</a:t>
            </a:r>
          </a:p>
        </p:txBody>
      </p:sp>
      <p:sp>
        <p:nvSpPr>
          <p:cNvPr id="14" name="Stage Body 2">
            <a:extLst>
              <a:ext uri="{FF2B5EF4-FFF2-40B4-BE49-F238E27FC236}">
                <a16:creationId xmlns:a16="http://schemas.microsoft.com/office/drawing/2014/main" id="{9A537A49-D9E9-0C9F-277B-59D1768B2EF2}"/>
              </a:ext>
            </a:extLst>
          </p:cNvPr>
          <p:cNvSpPr/>
          <p:nvPr/>
        </p:nvSpPr>
        <p:spPr>
          <a:xfrm>
            <a:off x="4239490" y="2489200"/>
            <a:ext cx="3454400" cy="3532904"/>
          </a:xfrm>
          <a:prstGeom prst="rect">
            <a:avLst/>
          </a:prstGeom>
          <a:solidFill>
            <a:srgbClr val="FFFFFF"/>
          </a:solidFill>
          <a:ln w="12700">
            <a:solidFill>
              <a:srgbClr val="D6D3CC"/>
            </a:solidFill>
          </a:ln>
        </p:spPr>
        <p:txBody>
          <a:bodyPr wrap="square" lIns="177800" tIns="152400" rIns="177800" bIns="152400" anchor="t">
            <a:noAutofit/>
          </a:bodyPr>
          <a:lstStyle/>
          <a:p>
            <a:r>
              <a:rPr lang="en-US" sz="1200" b="1" dirty="0"/>
              <a:t>OUTPUT</a:t>
            </a:r>
          </a:p>
          <a:p>
            <a:pPr>
              <a:spcBef>
                <a:spcPts val="100"/>
              </a:spcBef>
            </a:pPr>
            <a:r>
              <a:rPr lang="en-US" sz="1400" b="1" dirty="0">
                <a:solidFill>
                  <a:schemeClr val="accent1"/>
                </a:solidFill>
              </a:rPr>
              <a:t>Structured JSON</a:t>
            </a:r>
          </a:p>
          <a:p>
            <a:pPr marL="228600" indent="-228600">
              <a:spcBef>
                <a:spcPts val="900"/>
              </a:spcBef>
              <a:buClr>
                <a:srgbClr val="0E7C66"/>
              </a:buClr>
              <a:buFont typeface="Arial"/>
              <a:buChar char="•"/>
            </a:pPr>
            <a:r>
              <a:rPr lang="en-US" sz="1400" dirty="0"/>
              <a:t>GPT-5 extracts summary, topics, decisions, action items, risks and follow-up</a:t>
            </a:r>
          </a:p>
          <a:p>
            <a:pPr marL="228600" indent="-228600">
              <a:spcBef>
                <a:spcPts val="900"/>
              </a:spcBef>
              <a:buClr>
                <a:srgbClr val="0E7C66"/>
              </a:buClr>
              <a:buFont typeface="Arial"/>
              <a:buChar char="•"/>
            </a:pPr>
            <a:r>
              <a:rPr lang="en-US" sz="1400" dirty="0"/>
              <a:t>Writes “Unassigned” or “No deadline” gets assigned to host</a:t>
            </a:r>
          </a:p>
          <a:p>
            <a:pPr marL="228600" indent="-228600">
              <a:spcBef>
                <a:spcPts val="900"/>
              </a:spcBef>
              <a:buClr>
                <a:srgbClr val="0E7C66"/>
              </a:buClr>
              <a:buFont typeface="Arial"/>
              <a:buChar char="•"/>
            </a:pPr>
            <a:r>
              <a:rPr lang="en-US" sz="1400" dirty="0"/>
              <a:t>Assembly step writes Jira text and the HTML MOM email</a:t>
            </a:r>
          </a:p>
          <a:p>
            <a:pPr>
              <a:spcBef>
                <a:spcPts val="1800"/>
              </a:spcBef>
            </a:pPr>
            <a:r>
              <a:rPr lang="en-US" sz="1200" b="1" spc="100" dirty="0">
                <a:solidFill>
                  <a:srgbClr val="6B7280"/>
                </a:solidFill>
              </a:rPr>
              <a:t>BUILT WITH</a:t>
            </a:r>
          </a:p>
          <a:p>
            <a:pPr>
              <a:spcBef>
                <a:spcPts val="100"/>
              </a:spcBef>
            </a:pPr>
            <a:r>
              <a:rPr lang="en-US" sz="1600" b="1" dirty="0">
                <a:solidFill>
                  <a:srgbClr val="2E3A46"/>
                </a:solidFill>
              </a:rPr>
              <a:t>GPT-5 extraction prompt</a:t>
            </a:r>
          </a:p>
        </p:txBody>
      </p:sp>
      <p:sp>
        <p:nvSpPr>
          <p:cNvPr id="16" name="Stage Head 3">
            <a:extLst>
              <a:ext uri="{FF2B5EF4-FFF2-40B4-BE49-F238E27FC236}">
                <a16:creationId xmlns:a16="http://schemas.microsoft.com/office/drawing/2014/main" id="{A0CA4A05-CD65-CD5E-420D-66C3857C62FF}"/>
              </a:ext>
            </a:extLst>
          </p:cNvPr>
          <p:cNvSpPr/>
          <p:nvPr/>
        </p:nvSpPr>
        <p:spPr>
          <a:xfrm>
            <a:off x="7998690" y="1651000"/>
            <a:ext cx="3454400" cy="838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wrap="square" lIns="177800" tIns="152400" rIns="711200" bIns="152400" anchor="ctr">
            <a:noAutofit/>
          </a:bodyPr>
          <a:lstStyle/>
          <a:p>
            <a:r>
              <a:rPr lang="en-US" sz="1200" b="1" dirty="0">
                <a:solidFill>
                  <a:srgbClr val="FFFFFF"/>
                </a:solidFill>
              </a:rPr>
              <a:t>STAGE 3</a:t>
            </a:r>
          </a:p>
          <a:p>
            <a:pPr>
              <a:spcBef>
                <a:spcPts val="100"/>
              </a:spcBef>
            </a:pPr>
            <a:r>
              <a:rPr lang="en-US" b="1" dirty="0">
                <a:solidFill>
                  <a:srgbClr val="FFFFFF"/>
                </a:solidFill>
              </a:rPr>
              <a:t>Action tracking</a:t>
            </a:r>
          </a:p>
        </p:txBody>
      </p:sp>
      <p:sp>
        <p:nvSpPr>
          <p:cNvPr id="18" name="Stage Body 3">
            <a:extLst>
              <a:ext uri="{FF2B5EF4-FFF2-40B4-BE49-F238E27FC236}">
                <a16:creationId xmlns:a16="http://schemas.microsoft.com/office/drawing/2014/main" id="{25EFBEB2-FDC3-C2FB-7CA4-21C4EAF47381}"/>
              </a:ext>
            </a:extLst>
          </p:cNvPr>
          <p:cNvSpPr/>
          <p:nvPr/>
        </p:nvSpPr>
        <p:spPr>
          <a:xfrm>
            <a:off x="7998690" y="2489200"/>
            <a:ext cx="3454400" cy="3532904"/>
          </a:xfrm>
          <a:prstGeom prst="rect">
            <a:avLst/>
          </a:prstGeom>
          <a:solidFill>
            <a:srgbClr val="FFFFFF"/>
          </a:solidFill>
          <a:ln w="12700">
            <a:solidFill>
              <a:srgbClr val="D6D3CC"/>
            </a:solidFill>
          </a:ln>
        </p:spPr>
        <p:txBody>
          <a:bodyPr wrap="square" lIns="177800" tIns="152400" rIns="177800" bIns="152400" anchor="t">
            <a:noAutofit/>
          </a:bodyPr>
          <a:lstStyle/>
          <a:p>
            <a:r>
              <a:rPr lang="en-US" sz="1200" b="1" dirty="0"/>
              <a:t>OUTPUT</a:t>
            </a:r>
          </a:p>
          <a:p>
            <a:pPr>
              <a:spcBef>
                <a:spcPts val="100"/>
              </a:spcBef>
            </a:pPr>
            <a:r>
              <a:rPr lang="en-US" sz="1400" b="1" dirty="0">
                <a:solidFill>
                  <a:schemeClr val="accent1"/>
                </a:solidFill>
              </a:rPr>
              <a:t>Tickets, events, MOM email</a:t>
            </a:r>
          </a:p>
          <a:p>
            <a:pPr marL="228600" indent="-228600">
              <a:spcBef>
                <a:spcPts val="900"/>
              </a:spcBef>
              <a:buClr>
                <a:srgbClr val="0E7C66"/>
              </a:buClr>
              <a:buFont typeface="Arial"/>
              <a:buChar char="•"/>
            </a:pPr>
            <a:r>
              <a:rPr lang="en-US" sz="1400" b="1" dirty="0"/>
              <a:t> Jira agent: </a:t>
            </a:r>
            <a:r>
              <a:rPr lang="en-US" sz="1400" dirty="0"/>
              <a:t>creates or updates tickets, never duplicates</a:t>
            </a:r>
          </a:p>
          <a:p>
            <a:pPr marL="228600" indent="-228600">
              <a:spcBef>
                <a:spcPts val="900"/>
              </a:spcBef>
              <a:buClr>
                <a:srgbClr val="0E7C66"/>
              </a:buClr>
              <a:buFont typeface="Arial"/>
              <a:buChar char="•"/>
            </a:pPr>
            <a:r>
              <a:rPr lang="en-US" sz="1400" b="1" dirty="0"/>
              <a:t>Calendar agent: </a:t>
            </a:r>
            <a:r>
              <a:rPr lang="en-US" sz="1400" dirty="0"/>
              <a:t>schedules reminders and follow-up meetings</a:t>
            </a:r>
          </a:p>
          <a:p>
            <a:pPr marL="228600" indent="-228600">
              <a:spcBef>
                <a:spcPts val="900"/>
              </a:spcBef>
              <a:buClr>
                <a:srgbClr val="0E7C66"/>
              </a:buClr>
              <a:buFont typeface="Arial"/>
              <a:buChar char="•"/>
            </a:pPr>
            <a:r>
              <a:rPr lang="en-US" sz="1400" b="1" dirty="0"/>
              <a:t>Gmail &amp; Docs agent: </a:t>
            </a:r>
            <a:r>
              <a:rPr lang="en-US" sz="1400" dirty="0"/>
              <a:t>notes doc, MOM auto-emailed to all</a:t>
            </a:r>
          </a:p>
          <a:p>
            <a:pPr>
              <a:spcBef>
                <a:spcPts val="1800"/>
              </a:spcBef>
            </a:pPr>
            <a:r>
              <a:rPr lang="en-US" sz="1200" b="1" spc="100" dirty="0">
                <a:solidFill>
                  <a:srgbClr val="6B7280"/>
                </a:solidFill>
              </a:rPr>
              <a:t>BUILT WITH</a:t>
            </a:r>
          </a:p>
          <a:p>
            <a:pPr>
              <a:spcBef>
                <a:spcPts val="100"/>
              </a:spcBef>
            </a:pPr>
            <a:r>
              <a:rPr lang="en-US" sz="1600" b="1" dirty="0">
                <a:solidFill>
                  <a:srgbClr val="2E3A46"/>
                </a:solidFill>
              </a:rPr>
              <a:t>gpt-5-mini–Super Agent · Slack</a:t>
            </a:r>
          </a:p>
        </p:txBody>
      </p:sp>
      <p:sp>
        <p:nvSpPr>
          <p:cNvPr id="20" name="Head Accent 1">
            <a:extLst>
              <a:ext uri="{FF2B5EF4-FFF2-40B4-BE49-F238E27FC236}">
                <a16:creationId xmlns:a16="http://schemas.microsoft.com/office/drawing/2014/main" id="{C84ECDBD-7243-BF34-7163-A3D10ADA01E8}"/>
              </a:ext>
            </a:extLst>
          </p:cNvPr>
          <p:cNvSpPr/>
          <p:nvPr/>
        </p:nvSpPr>
        <p:spPr>
          <a:xfrm>
            <a:off x="480290" y="1651000"/>
            <a:ext cx="3454400" cy="5715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6" name="Head Accent 2">
            <a:extLst>
              <a:ext uri="{FF2B5EF4-FFF2-40B4-BE49-F238E27FC236}">
                <a16:creationId xmlns:a16="http://schemas.microsoft.com/office/drawing/2014/main" id="{C271D933-E921-F3D1-1829-15651888A778}"/>
              </a:ext>
            </a:extLst>
          </p:cNvPr>
          <p:cNvSpPr/>
          <p:nvPr/>
        </p:nvSpPr>
        <p:spPr>
          <a:xfrm>
            <a:off x="4239490" y="1651000"/>
            <a:ext cx="3454400" cy="5715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2" name="Head Accent 3">
            <a:extLst>
              <a:ext uri="{FF2B5EF4-FFF2-40B4-BE49-F238E27FC236}">
                <a16:creationId xmlns:a16="http://schemas.microsoft.com/office/drawing/2014/main" id="{1309D060-C3C2-3C57-59E9-5C293F6A1512}"/>
              </a:ext>
            </a:extLst>
          </p:cNvPr>
          <p:cNvSpPr/>
          <p:nvPr/>
        </p:nvSpPr>
        <p:spPr>
          <a:xfrm>
            <a:off x="7998690" y="1651000"/>
            <a:ext cx="3454400" cy="5715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8" name="Takeaway">
            <a:extLst>
              <a:ext uri="{FF2B5EF4-FFF2-40B4-BE49-F238E27FC236}">
                <a16:creationId xmlns:a16="http://schemas.microsoft.com/office/drawing/2014/main" id="{ACB691B1-80A5-2514-A4FC-6E0D53B9F9FC}"/>
              </a:ext>
            </a:extLst>
          </p:cNvPr>
          <p:cNvSpPr/>
          <p:nvPr/>
        </p:nvSpPr>
        <p:spPr>
          <a:xfrm>
            <a:off x="480290" y="6022104"/>
            <a:ext cx="10972800" cy="533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wrap="square" lIns="228600" tIns="45720" rIns="228600" bIns="45720" anchor="ctr">
            <a:noAutofit/>
          </a:bodyPr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</a:rPr>
              <a:t>Extracted actions become Jira tickets and Calendar events, with meeting notes saved and emailed.</a:t>
            </a:r>
          </a:p>
        </p:txBody>
      </p:sp>
    </p:spTree>
    <p:extLst>
      <p:ext uri="{BB962C8B-B14F-4D97-AF65-F5344CB8AC3E}">
        <p14:creationId xmlns:p14="http://schemas.microsoft.com/office/powerpoint/2010/main" val="5063417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553F76-2B4B-C4FC-25DA-6AD813CAE0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8EDF46CE-0302-72C3-6CAA-E849398113EB}"/>
              </a:ext>
            </a:extLst>
          </p:cNvPr>
          <p:cNvSpPr txBox="1">
            <a:spLocks/>
          </p:cNvSpPr>
          <p:nvPr/>
        </p:nvSpPr>
        <p:spPr>
          <a:xfrm>
            <a:off x="341745" y="249382"/>
            <a:ext cx="10344728" cy="50626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000" dirty="0">
                <a:solidFill>
                  <a:schemeClr val="accent1"/>
                </a:solidFill>
                <a:latin typeface="Graphik Black" panose="020B0A03030202060203" pitchFamily="34" charset="0"/>
              </a:rPr>
              <a:t>Two release meetings in, a ready Jira board out</a:t>
            </a:r>
          </a:p>
        </p:txBody>
      </p:sp>
      <p:sp>
        <p:nvSpPr>
          <p:cNvPr id="8" name="Stage Head 1">
            <a:extLst>
              <a:ext uri="{FF2B5EF4-FFF2-40B4-BE49-F238E27FC236}">
                <a16:creationId xmlns:a16="http://schemas.microsoft.com/office/drawing/2014/main" id="{324EB8A1-D55A-40B6-2871-F94A52AC1AE0}"/>
              </a:ext>
            </a:extLst>
          </p:cNvPr>
          <p:cNvSpPr/>
          <p:nvPr/>
        </p:nvSpPr>
        <p:spPr>
          <a:xfrm>
            <a:off x="480290" y="1353705"/>
            <a:ext cx="3454400" cy="838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wrap="square" lIns="177800" tIns="152400" rIns="711200" bIns="152400" anchor="ctr">
            <a:noAutofit/>
          </a:bodyPr>
          <a:lstStyle/>
          <a:p>
            <a:r>
              <a:rPr lang="en-US" sz="1200" b="1" dirty="0">
                <a:solidFill>
                  <a:srgbClr val="FFFFFF"/>
                </a:solidFill>
              </a:rPr>
              <a:t>INPUT · TRANSCRIPT 1</a:t>
            </a:r>
          </a:p>
          <a:p>
            <a:pPr>
              <a:spcBef>
                <a:spcPts val="100"/>
              </a:spcBef>
            </a:pPr>
            <a:r>
              <a:rPr lang="en-US" sz="2000" b="1" dirty="0">
                <a:solidFill>
                  <a:srgbClr val="FFFFFF"/>
                </a:solidFill>
              </a:rPr>
              <a:t>Deadlines agreed</a:t>
            </a:r>
          </a:p>
        </p:txBody>
      </p:sp>
      <p:sp>
        <p:nvSpPr>
          <p:cNvPr id="10" name="Stage Body 1">
            <a:extLst>
              <a:ext uri="{FF2B5EF4-FFF2-40B4-BE49-F238E27FC236}">
                <a16:creationId xmlns:a16="http://schemas.microsoft.com/office/drawing/2014/main" id="{B83E3924-DAC8-D3D1-A7D2-7A477FF64A14}"/>
              </a:ext>
            </a:extLst>
          </p:cNvPr>
          <p:cNvSpPr/>
          <p:nvPr/>
        </p:nvSpPr>
        <p:spPr>
          <a:xfrm>
            <a:off x="480290" y="2191905"/>
            <a:ext cx="3454400" cy="3532904"/>
          </a:xfrm>
          <a:prstGeom prst="rect">
            <a:avLst/>
          </a:prstGeom>
          <a:solidFill>
            <a:srgbClr val="FFFFFF"/>
          </a:solidFill>
          <a:ln w="12700">
            <a:solidFill>
              <a:srgbClr val="D6D3CC"/>
            </a:solidFill>
          </a:ln>
        </p:spPr>
        <p:txBody>
          <a:bodyPr wrap="square" lIns="177800" tIns="152400" rIns="177800" bIns="152400" anchor="t">
            <a:noAutofit/>
          </a:bodyPr>
          <a:lstStyle/>
          <a:p>
            <a:r>
              <a:rPr lang="en-US" sz="1100" b="1" dirty="0">
                <a:solidFill>
                  <a:srgbClr val="6B7280"/>
                </a:solidFill>
              </a:rPr>
              <a:t>MEETING 1 · KICKOFF</a:t>
            </a:r>
          </a:p>
          <a:p>
            <a:pPr>
              <a:spcBef>
                <a:spcPts val="100"/>
              </a:spcBef>
            </a:pPr>
            <a:r>
              <a:rPr lang="en-US" sz="1600" b="1" dirty="0">
                <a:solidFill>
                  <a:schemeClr val="accent1"/>
                </a:solidFill>
              </a:rPr>
              <a:t>6 dated tasks, due by 2 Oct</a:t>
            </a:r>
          </a:p>
          <a:p>
            <a:pPr>
              <a:spcBef>
                <a:spcPts val="100"/>
              </a:spcBef>
            </a:pPr>
            <a:endParaRPr lang="en-US" sz="1600" b="1" dirty="0">
              <a:solidFill>
                <a:schemeClr val="accent1"/>
              </a:solidFill>
            </a:endParaRPr>
          </a:p>
          <a:p>
            <a:pPr marL="228600" indent="-228600">
              <a:spcBef>
                <a:spcPts val="600"/>
              </a:spcBef>
              <a:buClr>
                <a:srgbClr val="0E7C66"/>
              </a:buClr>
              <a:buFont typeface="Arial"/>
              <a:buChar char="•"/>
            </a:pPr>
            <a:r>
              <a:rPr lang="en-US" sz="1200" b="1" dirty="0"/>
              <a:t>Chethan · </a:t>
            </a:r>
            <a:r>
              <a:rPr lang="en-US" sz="1200" dirty="0"/>
              <a:t>Requirements doc, 28 Sep</a:t>
            </a:r>
          </a:p>
          <a:p>
            <a:pPr marL="228600" indent="-228600">
              <a:spcBef>
                <a:spcPts val="600"/>
              </a:spcBef>
              <a:buClr>
                <a:srgbClr val="0E7C66"/>
              </a:buClr>
              <a:buFont typeface="Arial"/>
              <a:buChar char="•"/>
            </a:pPr>
            <a:r>
              <a:rPr lang="en-US" sz="1200" b="1" dirty="0"/>
              <a:t>Chethan · </a:t>
            </a:r>
            <a:r>
              <a:rPr lang="en-US" sz="1200" dirty="0"/>
              <a:t>API access, 29 Sep</a:t>
            </a:r>
          </a:p>
          <a:p>
            <a:pPr marL="228600" indent="-228600">
              <a:spcBef>
                <a:spcPts val="600"/>
              </a:spcBef>
              <a:buClr>
                <a:srgbClr val="0E7C66"/>
              </a:buClr>
              <a:buFont typeface="Arial"/>
              <a:buChar char="•"/>
            </a:pPr>
            <a:r>
              <a:rPr lang="en-US" sz="1200" b="1" dirty="0"/>
              <a:t>Mohan · </a:t>
            </a:r>
            <a:r>
              <a:rPr lang="en-US" sz="1200" dirty="0"/>
              <a:t>PM integration, 30 Sep</a:t>
            </a:r>
          </a:p>
          <a:p>
            <a:pPr marL="228600" indent="-228600">
              <a:spcBef>
                <a:spcPts val="600"/>
              </a:spcBef>
              <a:buClr>
                <a:srgbClr val="0E7C66"/>
              </a:buClr>
              <a:buFont typeface="Arial"/>
              <a:buChar char="•"/>
            </a:pPr>
            <a:r>
              <a:rPr lang="en-US" sz="1200" b="1" dirty="0"/>
              <a:t>Mohan · </a:t>
            </a:r>
            <a:r>
              <a:rPr lang="en-US" sz="1200" dirty="0"/>
              <a:t>Build handover, 1 Oct</a:t>
            </a:r>
          </a:p>
          <a:p>
            <a:pPr marL="228600" indent="-228600">
              <a:spcBef>
                <a:spcPts val="600"/>
              </a:spcBef>
              <a:buClr>
                <a:srgbClr val="0E7C66"/>
              </a:buClr>
              <a:buFont typeface="Arial"/>
              <a:buChar char="•"/>
            </a:pPr>
            <a:r>
              <a:rPr lang="en-US" sz="1200" b="1" dirty="0"/>
              <a:t>Sharmila · </a:t>
            </a:r>
            <a:r>
              <a:rPr lang="en-US" sz="1200" dirty="0"/>
              <a:t>Testing + report, 2 Oct</a:t>
            </a:r>
          </a:p>
          <a:p>
            <a:pPr marL="228600" indent="-228600">
              <a:spcBef>
                <a:spcPts val="600"/>
              </a:spcBef>
              <a:buClr>
                <a:srgbClr val="0E7C66"/>
              </a:buClr>
              <a:buFont typeface="Arial"/>
              <a:buChar char="•"/>
            </a:pPr>
            <a:r>
              <a:rPr lang="en-US" sz="1200" b="1" dirty="0"/>
              <a:t>Seema · </a:t>
            </a:r>
            <a:r>
              <a:rPr lang="en-US" sz="1200" dirty="0"/>
              <a:t>Final review, 2 Oct</a:t>
            </a:r>
          </a:p>
          <a:p>
            <a:pPr>
              <a:spcBef>
                <a:spcPts val="1400"/>
              </a:spcBef>
            </a:pPr>
            <a:r>
              <a:rPr lang="en-US" sz="1050" b="1" spc="100" dirty="0">
                <a:solidFill>
                  <a:srgbClr val="6B7280"/>
                </a:solidFill>
              </a:rPr>
              <a:t>DECISION</a:t>
            </a:r>
          </a:p>
          <a:p>
            <a:pPr>
              <a:spcBef>
                <a:spcPts val="100"/>
              </a:spcBef>
            </a:pPr>
            <a:r>
              <a:rPr lang="en-US" sz="1200" b="1" dirty="0">
                <a:solidFill>
                  <a:srgbClr val="2E3A46"/>
                </a:solidFill>
              </a:rPr>
              <a:t>Assignee dashboard moved to next release</a:t>
            </a:r>
          </a:p>
        </p:txBody>
      </p:sp>
      <p:sp>
        <p:nvSpPr>
          <p:cNvPr id="12" name="Stage Head 2">
            <a:extLst>
              <a:ext uri="{FF2B5EF4-FFF2-40B4-BE49-F238E27FC236}">
                <a16:creationId xmlns:a16="http://schemas.microsoft.com/office/drawing/2014/main" id="{5C0E0673-981D-7E08-943F-29216687BFE7}"/>
              </a:ext>
            </a:extLst>
          </p:cNvPr>
          <p:cNvSpPr/>
          <p:nvPr/>
        </p:nvSpPr>
        <p:spPr>
          <a:xfrm>
            <a:off x="4239490" y="1353705"/>
            <a:ext cx="3454400" cy="838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wrap="square" lIns="177800" tIns="152400" rIns="711200" bIns="152400" anchor="ctr">
            <a:noAutofit/>
          </a:bodyPr>
          <a:lstStyle/>
          <a:p>
            <a:r>
              <a:rPr lang="en-US" sz="1200" b="1" dirty="0">
                <a:solidFill>
                  <a:srgbClr val="FFFFFF"/>
                </a:solidFill>
              </a:rPr>
              <a:t>INPUT · TRANSCRIPT 2</a:t>
            </a:r>
          </a:p>
          <a:p>
            <a:pPr>
              <a:spcBef>
                <a:spcPts val="100"/>
              </a:spcBef>
            </a:pPr>
            <a:r>
              <a:rPr lang="en-US" sz="2000" b="1" dirty="0">
                <a:solidFill>
                  <a:srgbClr val="FFFFFF"/>
                </a:solidFill>
              </a:rPr>
              <a:t>Progress reviewed</a:t>
            </a:r>
          </a:p>
        </p:txBody>
      </p:sp>
      <p:sp>
        <p:nvSpPr>
          <p:cNvPr id="14" name="Stage Body 2">
            <a:extLst>
              <a:ext uri="{FF2B5EF4-FFF2-40B4-BE49-F238E27FC236}">
                <a16:creationId xmlns:a16="http://schemas.microsoft.com/office/drawing/2014/main" id="{91B92DF0-5681-B75D-35A9-432B3ABFB4BA}"/>
              </a:ext>
            </a:extLst>
          </p:cNvPr>
          <p:cNvSpPr/>
          <p:nvPr/>
        </p:nvSpPr>
        <p:spPr>
          <a:xfrm>
            <a:off x="4239490" y="2191905"/>
            <a:ext cx="3454400" cy="3532904"/>
          </a:xfrm>
          <a:prstGeom prst="rect">
            <a:avLst/>
          </a:prstGeom>
          <a:solidFill>
            <a:srgbClr val="FFFFFF"/>
          </a:solidFill>
          <a:ln w="12700">
            <a:solidFill>
              <a:srgbClr val="D6D3CC"/>
            </a:solidFill>
          </a:ln>
        </p:spPr>
        <p:txBody>
          <a:bodyPr wrap="square" lIns="177800" tIns="152400" rIns="177800" bIns="152400" anchor="t">
            <a:noAutofit/>
          </a:bodyPr>
          <a:lstStyle/>
          <a:p>
            <a:r>
              <a:rPr lang="en-US" sz="1100" b="1" dirty="0">
                <a:solidFill>
                  <a:srgbClr val="6B7280"/>
                </a:solidFill>
              </a:rPr>
              <a:t>MEETING 2 · FOLLOW-UP</a:t>
            </a:r>
          </a:p>
          <a:p>
            <a:pPr>
              <a:spcBef>
                <a:spcPts val="100"/>
              </a:spcBef>
            </a:pPr>
            <a:r>
              <a:rPr lang="en-US" sz="1600" b="1" dirty="0">
                <a:solidFill>
                  <a:schemeClr val="accent1"/>
                </a:solidFill>
              </a:rPr>
              <a:t>4 tasks closed, 2 added</a:t>
            </a:r>
          </a:p>
          <a:p>
            <a:pPr>
              <a:spcBef>
                <a:spcPts val="100"/>
              </a:spcBef>
            </a:pPr>
            <a:endParaRPr lang="en-US" sz="1600" b="1" dirty="0">
              <a:solidFill>
                <a:schemeClr val="accent1"/>
              </a:solidFill>
            </a:endParaRPr>
          </a:p>
          <a:p>
            <a:pPr marL="228600" indent="-228600">
              <a:spcBef>
                <a:spcPts val="600"/>
              </a:spcBef>
              <a:buClr>
                <a:srgbClr val="0E7C66"/>
              </a:buClr>
              <a:buFont typeface="Arial"/>
              <a:buChar char="•"/>
            </a:pPr>
            <a:r>
              <a:rPr lang="en-US" sz="1200" b="1" dirty="0"/>
              <a:t>Done · </a:t>
            </a:r>
            <a:r>
              <a:rPr lang="en-US" sz="1200" dirty="0"/>
              <a:t>Requirements doc</a:t>
            </a:r>
          </a:p>
          <a:p>
            <a:pPr marL="228600" indent="-228600">
              <a:spcBef>
                <a:spcPts val="600"/>
              </a:spcBef>
              <a:buClr>
                <a:srgbClr val="0E7C66"/>
              </a:buClr>
              <a:buFont typeface="Arial"/>
              <a:buChar char="•"/>
            </a:pPr>
            <a:r>
              <a:rPr lang="en-US" sz="1200" b="1" dirty="0"/>
              <a:t>Done · </a:t>
            </a:r>
            <a:r>
              <a:rPr lang="en-US" sz="1200" dirty="0"/>
              <a:t>API access</a:t>
            </a:r>
          </a:p>
          <a:p>
            <a:pPr marL="228600" indent="-228600">
              <a:spcBef>
                <a:spcPts val="600"/>
              </a:spcBef>
              <a:buClr>
                <a:srgbClr val="0E7C66"/>
              </a:buClr>
              <a:buFont typeface="Arial"/>
              <a:buChar char="•"/>
            </a:pPr>
            <a:r>
              <a:rPr lang="en-US" sz="1200" b="1" dirty="0"/>
              <a:t>Done · </a:t>
            </a:r>
            <a:r>
              <a:rPr lang="en-US" sz="1200" dirty="0"/>
              <a:t>PM integration and build</a:t>
            </a:r>
          </a:p>
          <a:p>
            <a:pPr marL="228600" indent="-228600">
              <a:spcBef>
                <a:spcPts val="600"/>
              </a:spcBef>
              <a:buClr>
                <a:srgbClr val="0E7C66"/>
              </a:buClr>
              <a:buFont typeface="Arial"/>
              <a:buChar char="•"/>
            </a:pPr>
            <a:r>
              <a:rPr lang="en-US" sz="1200" b="1" dirty="0"/>
              <a:t>In progress · </a:t>
            </a:r>
            <a:r>
              <a:rPr lang="en-US" sz="1200" dirty="0"/>
              <a:t>Testing, 1 defect in retest</a:t>
            </a:r>
          </a:p>
          <a:p>
            <a:pPr marL="228600" indent="-228600">
              <a:spcBef>
                <a:spcPts val="600"/>
              </a:spcBef>
              <a:buClr>
                <a:srgbClr val="0E7C66"/>
              </a:buClr>
              <a:buFont typeface="Arial"/>
              <a:buChar char="•"/>
            </a:pPr>
            <a:r>
              <a:rPr lang="en-US" sz="1200" b="1" dirty="0"/>
              <a:t>New · </a:t>
            </a:r>
            <a:r>
              <a:rPr lang="en-US" sz="1200" dirty="0"/>
              <a:t>Mohan fixes last defect today</a:t>
            </a:r>
          </a:p>
          <a:p>
            <a:pPr marL="228600" indent="-228600">
              <a:spcBef>
                <a:spcPts val="600"/>
              </a:spcBef>
              <a:buClr>
                <a:srgbClr val="0E7C66"/>
              </a:buClr>
              <a:buFont typeface="Arial"/>
              <a:buChar char="•"/>
            </a:pPr>
            <a:r>
              <a:rPr lang="en-US" sz="1200" b="1" dirty="0"/>
              <a:t>New · </a:t>
            </a:r>
            <a:r>
              <a:rPr lang="en-US" sz="1200" dirty="0"/>
              <a:t>Sharmila confirms final QA</a:t>
            </a:r>
          </a:p>
          <a:p>
            <a:pPr>
              <a:spcBef>
                <a:spcPts val="1400"/>
              </a:spcBef>
            </a:pPr>
            <a:r>
              <a:rPr lang="en-US" sz="1050" b="1" spc="100" dirty="0">
                <a:solidFill>
                  <a:srgbClr val="6B7280"/>
                </a:solidFill>
              </a:rPr>
              <a:t>OPEN ITEM</a:t>
            </a:r>
          </a:p>
          <a:p>
            <a:pPr>
              <a:spcBef>
                <a:spcPts val="100"/>
              </a:spcBef>
            </a:pPr>
            <a:r>
              <a:rPr lang="en-US" sz="1200" b="1" dirty="0">
                <a:solidFill>
                  <a:srgbClr val="2E3A46"/>
                </a:solidFill>
              </a:rPr>
              <a:t>1 defect, then release decision</a:t>
            </a:r>
          </a:p>
        </p:txBody>
      </p:sp>
      <p:sp>
        <p:nvSpPr>
          <p:cNvPr id="16" name="Stage Head 3">
            <a:extLst>
              <a:ext uri="{FF2B5EF4-FFF2-40B4-BE49-F238E27FC236}">
                <a16:creationId xmlns:a16="http://schemas.microsoft.com/office/drawing/2014/main" id="{7315D7DA-E8B2-9069-BA8A-E9EADA77F6B5}"/>
              </a:ext>
            </a:extLst>
          </p:cNvPr>
          <p:cNvSpPr/>
          <p:nvPr/>
        </p:nvSpPr>
        <p:spPr>
          <a:xfrm>
            <a:off x="7998690" y="1353705"/>
            <a:ext cx="3454400" cy="838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wrap="square" lIns="177800" tIns="152400" rIns="711200" bIns="152400" anchor="ctr">
            <a:noAutofit/>
          </a:bodyPr>
          <a:lstStyle/>
          <a:p>
            <a:r>
              <a:rPr lang="en-US" sz="1200" b="1" dirty="0">
                <a:solidFill>
                  <a:srgbClr val="FFFFFF"/>
                </a:solidFill>
              </a:rPr>
              <a:t>OUTPUT · AUTOMATED</a:t>
            </a:r>
          </a:p>
          <a:p>
            <a:pPr>
              <a:spcBef>
                <a:spcPts val="100"/>
              </a:spcBef>
            </a:pPr>
            <a:r>
              <a:rPr lang="en-US" sz="2000" b="1" dirty="0">
                <a:solidFill>
                  <a:srgbClr val="FFFFFF"/>
                </a:solidFill>
              </a:rPr>
              <a:t>Work tracked</a:t>
            </a:r>
          </a:p>
        </p:txBody>
      </p:sp>
      <p:sp>
        <p:nvSpPr>
          <p:cNvPr id="18" name="Stage Body 3">
            <a:extLst>
              <a:ext uri="{FF2B5EF4-FFF2-40B4-BE49-F238E27FC236}">
                <a16:creationId xmlns:a16="http://schemas.microsoft.com/office/drawing/2014/main" id="{40508AA4-A723-CF5F-4300-C11A528B20BF}"/>
              </a:ext>
            </a:extLst>
          </p:cNvPr>
          <p:cNvSpPr/>
          <p:nvPr/>
        </p:nvSpPr>
        <p:spPr>
          <a:xfrm>
            <a:off x="7998690" y="2191905"/>
            <a:ext cx="3454400" cy="3532904"/>
          </a:xfrm>
          <a:prstGeom prst="rect">
            <a:avLst/>
          </a:prstGeom>
          <a:solidFill>
            <a:srgbClr val="FFFFFF"/>
          </a:solidFill>
          <a:ln w="12700">
            <a:solidFill>
              <a:srgbClr val="D6D3CC"/>
            </a:solidFill>
          </a:ln>
        </p:spPr>
        <p:txBody>
          <a:bodyPr wrap="square" lIns="177800" tIns="152400" rIns="177800" bIns="152400" anchor="t">
            <a:noAutofit/>
          </a:bodyPr>
          <a:lstStyle/>
          <a:p>
            <a:r>
              <a:rPr lang="en-US" sz="1100" b="1" dirty="0">
                <a:solidFill>
                  <a:srgbClr val="6B7280"/>
                </a:solidFill>
              </a:rPr>
              <a:t>SYSTEM ACTIONS</a:t>
            </a:r>
          </a:p>
          <a:p>
            <a:pPr>
              <a:spcBef>
                <a:spcPts val="100"/>
              </a:spcBef>
            </a:pPr>
            <a:r>
              <a:rPr lang="en-US" sz="1600" b="1" dirty="0">
                <a:solidFill>
                  <a:schemeClr val="accent1"/>
                </a:solidFill>
              </a:rPr>
              <a:t>Tracked without retyping</a:t>
            </a:r>
          </a:p>
          <a:p>
            <a:pPr>
              <a:spcBef>
                <a:spcPts val="100"/>
              </a:spcBef>
            </a:pPr>
            <a:endParaRPr lang="en-US" sz="1600" b="1" dirty="0">
              <a:solidFill>
                <a:schemeClr val="accent1"/>
              </a:solidFill>
            </a:endParaRPr>
          </a:p>
          <a:p>
            <a:pPr marL="228600" indent="-228600">
              <a:spcBef>
                <a:spcPts val="600"/>
              </a:spcBef>
              <a:buClr>
                <a:srgbClr val="0E7C66"/>
              </a:buClr>
              <a:buFont typeface="Arial"/>
              <a:buChar char="•"/>
            </a:pPr>
            <a:r>
              <a:rPr lang="en-US" sz="1200" b="1" dirty="0"/>
              <a:t>Jira · </a:t>
            </a:r>
            <a:r>
              <a:rPr lang="en-US" sz="1200" dirty="0"/>
              <a:t>6 tickets created, then updated</a:t>
            </a:r>
          </a:p>
          <a:p>
            <a:pPr marL="228600" indent="-228600">
              <a:spcBef>
                <a:spcPts val="600"/>
              </a:spcBef>
              <a:buClr>
                <a:srgbClr val="0E7C66"/>
              </a:buClr>
              <a:buFont typeface="Arial"/>
              <a:buChar char="•"/>
            </a:pPr>
            <a:r>
              <a:rPr lang="en-US" sz="1200" b="1" dirty="0"/>
              <a:t>Calendar · </a:t>
            </a:r>
            <a:r>
              <a:rPr lang="en-US" sz="1200"/>
              <a:t>Reminder</a:t>
            </a:r>
            <a:r>
              <a:rPr lang="en-US" sz="1200" dirty="0"/>
              <a:t> per deadline</a:t>
            </a:r>
          </a:p>
          <a:p>
            <a:pPr marL="228600" indent="-228600">
              <a:spcBef>
                <a:spcPts val="600"/>
              </a:spcBef>
              <a:buClr>
                <a:srgbClr val="0E7C66"/>
              </a:buClr>
              <a:buFont typeface="Arial"/>
              <a:buChar char="•"/>
            </a:pPr>
            <a:r>
              <a:rPr lang="en-US" sz="1200" b="1" dirty="0"/>
              <a:t>Calendar · </a:t>
            </a:r>
            <a:r>
              <a:rPr lang="en-US" sz="1200" dirty="0"/>
              <a:t>Follow-up booked with all</a:t>
            </a:r>
          </a:p>
          <a:p>
            <a:pPr marL="228600" indent="-228600">
              <a:spcBef>
                <a:spcPts val="600"/>
              </a:spcBef>
              <a:buClr>
                <a:srgbClr val="0E7C66"/>
              </a:buClr>
              <a:buFont typeface="Arial"/>
              <a:buChar char="•"/>
            </a:pPr>
            <a:r>
              <a:rPr lang="en-US" sz="1200" b="1" dirty="0"/>
              <a:t>Docs + Gmail · </a:t>
            </a:r>
            <a:r>
              <a:rPr lang="en-US" sz="1200" dirty="0"/>
              <a:t>Notes, recap email</a:t>
            </a:r>
          </a:p>
          <a:p>
            <a:pPr marL="228600" indent="-228600">
              <a:spcBef>
                <a:spcPts val="600"/>
              </a:spcBef>
              <a:buClr>
                <a:srgbClr val="0E7C66"/>
              </a:buClr>
              <a:buFont typeface="Arial"/>
              <a:buChar char="•"/>
            </a:pPr>
            <a:r>
              <a:rPr lang="en-US" sz="1200" b="1" dirty="0"/>
              <a:t>Slack · </a:t>
            </a:r>
            <a:r>
              <a:rPr lang="en-US" sz="1200" dirty="0"/>
              <a:t>Weekly overdue digest</a:t>
            </a:r>
          </a:p>
          <a:p>
            <a:pPr>
              <a:spcBef>
                <a:spcPts val="1400"/>
              </a:spcBef>
            </a:pPr>
            <a:r>
              <a:rPr lang="en-US" sz="1050" b="1" spc="100" dirty="0">
                <a:solidFill>
                  <a:srgbClr val="6B7280"/>
                </a:solidFill>
              </a:rPr>
              <a:t>RESULT</a:t>
            </a:r>
          </a:p>
          <a:p>
            <a:pPr>
              <a:spcBef>
                <a:spcPts val="100"/>
              </a:spcBef>
            </a:pPr>
            <a:r>
              <a:rPr lang="en-US" sz="1200" b="1" dirty="0">
                <a:solidFill>
                  <a:srgbClr val="2E3A46"/>
                </a:solidFill>
              </a:rPr>
              <a:t>One live view of release status</a:t>
            </a:r>
          </a:p>
        </p:txBody>
      </p:sp>
      <p:sp>
        <p:nvSpPr>
          <p:cNvPr id="20" name="Head Accent 1">
            <a:extLst>
              <a:ext uri="{FF2B5EF4-FFF2-40B4-BE49-F238E27FC236}">
                <a16:creationId xmlns:a16="http://schemas.microsoft.com/office/drawing/2014/main" id="{48F47E87-A100-BF92-2D50-B35B2E7829C4}"/>
              </a:ext>
            </a:extLst>
          </p:cNvPr>
          <p:cNvSpPr/>
          <p:nvPr/>
        </p:nvSpPr>
        <p:spPr>
          <a:xfrm>
            <a:off x="480290" y="1353705"/>
            <a:ext cx="3454400" cy="5715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6" name="Head Accent 2">
            <a:extLst>
              <a:ext uri="{FF2B5EF4-FFF2-40B4-BE49-F238E27FC236}">
                <a16:creationId xmlns:a16="http://schemas.microsoft.com/office/drawing/2014/main" id="{11EAA433-8CB1-FC4C-09C8-52A6EB20F1EE}"/>
              </a:ext>
            </a:extLst>
          </p:cNvPr>
          <p:cNvSpPr/>
          <p:nvPr/>
        </p:nvSpPr>
        <p:spPr>
          <a:xfrm>
            <a:off x="4239490" y="1353705"/>
            <a:ext cx="3454400" cy="5715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2" name="Head Accent 3">
            <a:extLst>
              <a:ext uri="{FF2B5EF4-FFF2-40B4-BE49-F238E27FC236}">
                <a16:creationId xmlns:a16="http://schemas.microsoft.com/office/drawing/2014/main" id="{8D9C3C1D-2871-C237-C85A-149A79623280}"/>
              </a:ext>
            </a:extLst>
          </p:cNvPr>
          <p:cNvSpPr/>
          <p:nvPr/>
        </p:nvSpPr>
        <p:spPr>
          <a:xfrm>
            <a:off x="7998690" y="1353705"/>
            <a:ext cx="3454400" cy="5715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8" name="Takeaway">
            <a:extLst>
              <a:ext uri="{FF2B5EF4-FFF2-40B4-BE49-F238E27FC236}">
                <a16:creationId xmlns:a16="http://schemas.microsoft.com/office/drawing/2014/main" id="{76F60135-B488-8B76-71D0-19386DDF117B}"/>
              </a:ext>
            </a:extLst>
          </p:cNvPr>
          <p:cNvSpPr/>
          <p:nvPr/>
        </p:nvSpPr>
        <p:spPr>
          <a:xfrm>
            <a:off x="480290" y="6022104"/>
            <a:ext cx="10972800" cy="533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wrap="square" lIns="228600" tIns="45720" rIns="228600" bIns="45720" anchor="ctr">
            <a:no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Kickoff sets 6 dated tasks  →  Follow-up closes 4 and adds 2  →  Only 1 defect stays open before release</a:t>
            </a:r>
          </a:p>
        </p:txBody>
      </p:sp>
      <p:sp>
        <p:nvSpPr>
          <p:cNvPr id="3" name="Guideline Label">
            <a:extLst>
              <a:ext uri="{FF2B5EF4-FFF2-40B4-BE49-F238E27FC236}">
                <a16:creationId xmlns:a16="http://schemas.microsoft.com/office/drawing/2014/main" id="{B4320DFD-EB84-561B-CA43-877919420714}"/>
              </a:ext>
            </a:extLst>
          </p:cNvPr>
          <p:cNvSpPr txBox="1"/>
          <p:nvPr/>
        </p:nvSpPr>
        <p:spPr>
          <a:xfrm>
            <a:off x="482022" y="916710"/>
            <a:ext cx="5781964" cy="254000"/>
          </a:xfrm>
          <a:prstGeom prst="rect">
            <a:avLst/>
          </a:prstGeom>
          <a:noFill/>
        </p:spPr>
        <p:txBody>
          <a:bodyPr vertOverflow="overflow" vert="horz" wrap="square" lIns="0" tIns="0" bIns="0" rtlCol="0" anchor="t" anchorCtr="0">
            <a:noAutofit/>
          </a:bodyPr>
          <a:lstStyle/>
          <a:p>
            <a:pPr algn="l"/>
            <a:r>
              <a:rPr lang="en-US" sz="1200" b="1" spc="200" dirty="0">
                <a:solidFill>
                  <a:schemeClr val="accent1"/>
                </a:solidFill>
              </a:rPr>
              <a:t>USE CASE · RELEASE-READINESS MEETINGS</a:t>
            </a:r>
          </a:p>
        </p:txBody>
      </p:sp>
    </p:spTree>
    <p:extLst>
      <p:ext uri="{BB962C8B-B14F-4D97-AF65-F5344CB8AC3E}">
        <p14:creationId xmlns:p14="http://schemas.microsoft.com/office/powerpoint/2010/main" val="33388257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9E033F-BA38-8892-ED61-E9D0FBDF10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1734FA80-60BB-B0D0-57D4-89396F01DFD4}"/>
              </a:ext>
            </a:extLst>
          </p:cNvPr>
          <p:cNvSpPr txBox="1">
            <a:spLocks/>
          </p:cNvSpPr>
          <p:nvPr/>
        </p:nvSpPr>
        <p:spPr>
          <a:xfrm>
            <a:off x="341745" y="249382"/>
            <a:ext cx="10344728" cy="50626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000" dirty="0">
                <a:solidFill>
                  <a:schemeClr val="accent1"/>
                </a:solidFill>
                <a:latin typeface="Graphik Black" panose="020B0A03030202060203" pitchFamily="34" charset="0"/>
              </a:rPr>
              <a:t>The meeting ends, the MOM is already in your inbox</a:t>
            </a:r>
          </a:p>
        </p:txBody>
      </p:sp>
      <p:sp>
        <p:nvSpPr>
          <p:cNvPr id="8" name="Stage Head 1">
            <a:extLst>
              <a:ext uri="{FF2B5EF4-FFF2-40B4-BE49-F238E27FC236}">
                <a16:creationId xmlns:a16="http://schemas.microsoft.com/office/drawing/2014/main" id="{D5A404CB-2FC1-4F0C-5477-CD5A53E40B7F}"/>
              </a:ext>
            </a:extLst>
          </p:cNvPr>
          <p:cNvSpPr/>
          <p:nvPr/>
        </p:nvSpPr>
        <p:spPr>
          <a:xfrm>
            <a:off x="480290" y="1353705"/>
            <a:ext cx="3454400" cy="838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wrap="square" lIns="177800" tIns="152400" rIns="711200" bIns="152400" anchor="ctr">
            <a:noAutofit/>
          </a:bodyPr>
          <a:lstStyle/>
          <a:p>
            <a:r>
              <a:rPr lang="en-US" sz="1200" b="1" dirty="0">
                <a:solidFill>
                  <a:srgbClr val="FFFFFF"/>
                </a:solidFill>
              </a:rPr>
              <a:t>AUTO MOM EMAIL · TEST 1</a:t>
            </a:r>
          </a:p>
          <a:p>
            <a:pPr>
              <a:spcBef>
                <a:spcPts val="100"/>
              </a:spcBef>
            </a:pPr>
            <a:r>
              <a:rPr lang="en-US" sz="2000" b="1" dirty="0">
                <a:solidFill>
                  <a:srgbClr val="FFFFFF"/>
                </a:solidFill>
              </a:rPr>
              <a:t>Kickoff meeting</a:t>
            </a:r>
          </a:p>
        </p:txBody>
      </p:sp>
      <p:sp>
        <p:nvSpPr>
          <p:cNvPr id="10" name="Stage Body 1">
            <a:extLst>
              <a:ext uri="{FF2B5EF4-FFF2-40B4-BE49-F238E27FC236}">
                <a16:creationId xmlns:a16="http://schemas.microsoft.com/office/drawing/2014/main" id="{4032A70D-4E77-5350-4A7D-CD67F3CE64F5}"/>
              </a:ext>
            </a:extLst>
          </p:cNvPr>
          <p:cNvSpPr/>
          <p:nvPr/>
        </p:nvSpPr>
        <p:spPr>
          <a:xfrm>
            <a:off x="480290" y="2191905"/>
            <a:ext cx="3454400" cy="3532904"/>
          </a:xfrm>
          <a:prstGeom prst="rect">
            <a:avLst/>
          </a:prstGeom>
          <a:solidFill>
            <a:srgbClr val="FFFFFF"/>
          </a:solidFill>
          <a:ln w="12700">
            <a:solidFill>
              <a:srgbClr val="D6D3CC"/>
            </a:solidFill>
          </a:ln>
        </p:spPr>
        <p:txBody>
          <a:bodyPr wrap="square" lIns="177800" tIns="152400" rIns="177800" bIns="152400" anchor="t">
            <a:noAutofit/>
          </a:bodyPr>
          <a:lstStyle/>
          <a:p>
            <a:r>
              <a:rPr lang="en-US" sz="1100" b="1" dirty="0">
                <a:solidFill>
                  <a:srgbClr val="6B7280"/>
                </a:solidFill>
              </a:rPr>
              <a:t>SUMMARY</a:t>
            </a:r>
          </a:p>
          <a:p>
            <a:pPr>
              <a:spcBef>
                <a:spcPts val="100"/>
              </a:spcBef>
            </a:pPr>
            <a:r>
              <a:rPr lang="en-US" sz="1600" b="1" dirty="0">
                <a:solidFill>
                  <a:schemeClr val="accent1"/>
                </a:solidFill>
              </a:rPr>
              <a:t>Release set for Fri, 2 Oct</a:t>
            </a:r>
          </a:p>
          <a:p>
            <a:pPr>
              <a:spcBef>
                <a:spcPts val="100"/>
              </a:spcBef>
            </a:pPr>
            <a:endParaRPr lang="en-US" sz="1600" b="1" dirty="0">
              <a:solidFill>
                <a:schemeClr val="accent1"/>
              </a:solidFill>
            </a:endParaRPr>
          </a:p>
          <a:p>
            <a:pPr marL="228600" indent="-228600">
              <a:spcBef>
                <a:spcPts val="600"/>
              </a:spcBef>
              <a:buClr>
                <a:srgbClr val="0E7C66"/>
              </a:buClr>
              <a:buFont typeface="Arial"/>
              <a:buChar char="•"/>
            </a:pPr>
            <a:r>
              <a:rPr lang="en-US" sz="1200" b="1" dirty="0"/>
              <a:t>7 actions · </a:t>
            </a:r>
            <a:r>
              <a:rPr lang="en-US" sz="1200" dirty="0"/>
              <a:t>all High priority</a:t>
            </a:r>
          </a:p>
          <a:p>
            <a:pPr marL="228600" indent="-228600">
              <a:spcBef>
                <a:spcPts val="600"/>
              </a:spcBef>
              <a:buClr>
                <a:srgbClr val="0E7C66"/>
              </a:buClr>
              <a:buFont typeface="Arial"/>
              <a:buChar char="•"/>
            </a:pPr>
            <a:r>
              <a:rPr lang="en-US" sz="1200" b="1" dirty="0"/>
              <a:t>Chetan · </a:t>
            </a:r>
            <a:r>
              <a:rPr lang="en-US" sz="1200" dirty="0"/>
              <a:t>Requirements, API by 29 Sep</a:t>
            </a:r>
          </a:p>
          <a:p>
            <a:pPr marL="228600" indent="-228600">
              <a:spcBef>
                <a:spcPts val="600"/>
              </a:spcBef>
              <a:buClr>
                <a:srgbClr val="0E7C66"/>
              </a:buClr>
              <a:buFont typeface="Arial"/>
              <a:buChar char="•"/>
            </a:pPr>
            <a:r>
              <a:rPr lang="en-US" sz="1200" b="1" dirty="0"/>
              <a:t>Mohan · </a:t>
            </a:r>
            <a:r>
              <a:rPr lang="en-US" sz="1200" dirty="0"/>
              <a:t>Integration, build by 1 Oct</a:t>
            </a:r>
          </a:p>
          <a:p>
            <a:pPr marL="228600" indent="-228600">
              <a:spcBef>
                <a:spcPts val="600"/>
              </a:spcBef>
              <a:buClr>
                <a:srgbClr val="0E7C66"/>
              </a:buClr>
              <a:buFont typeface="Arial"/>
              <a:buChar char="•"/>
            </a:pPr>
            <a:r>
              <a:rPr lang="en-US" sz="1200" b="1" dirty="0"/>
              <a:t>Mani Deep · </a:t>
            </a:r>
            <a:r>
              <a:rPr lang="en-US" sz="1200" dirty="0"/>
              <a:t>Testing and report, 2 Oct</a:t>
            </a:r>
          </a:p>
          <a:p>
            <a:pPr marL="228600" indent="-228600">
              <a:spcBef>
                <a:spcPts val="600"/>
              </a:spcBef>
              <a:buClr>
                <a:srgbClr val="0E7C66"/>
              </a:buClr>
              <a:buFont typeface="Arial"/>
              <a:buChar char="•"/>
            </a:pPr>
            <a:r>
              <a:rPr lang="en-US" sz="1200" b="1" dirty="0"/>
              <a:t>Seema · </a:t>
            </a:r>
            <a:r>
              <a:rPr lang="en-US" sz="1200" dirty="0"/>
              <a:t>Final review, 2 Oct</a:t>
            </a:r>
          </a:p>
          <a:p>
            <a:pPr>
              <a:spcBef>
                <a:spcPts val="1400"/>
              </a:spcBef>
            </a:pPr>
            <a:r>
              <a:rPr lang="en-US" sz="1050" b="1" spc="100" dirty="0">
                <a:solidFill>
                  <a:srgbClr val="6B7280"/>
                </a:solidFill>
              </a:rPr>
              <a:t>DECISIONS</a:t>
            </a:r>
          </a:p>
          <a:p>
            <a:pPr>
              <a:spcBef>
                <a:spcPts val="100"/>
              </a:spcBef>
            </a:pPr>
            <a:r>
              <a:rPr lang="en-US" sz="1200" b="1" dirty="0">
                <a:solidFill>
                  <a:srgbClr val="2E3A46"/>
                </a:solidFill>
              </a:rPr>
              <a:t>Overdue dashboard in; </a:t>
            </a:r>
            <a:r>
              <a:rPr lang="en-US" sz="1200" b="1" dirty="0" err="1">
                <a:solidFill>
                  <a:srgbClr val="2E3A46"/>
                </a:solidFill>
              </a:rPr>
              <a:t>Azaini</a:t>
            </a:r>
            <a:r>
              <a:rPr lang="en-US" sz="1200" b="1" dirty="0">
                <a:solidFill>
                  <a:srgbClr val="2E3A46"/>
                </a:solidFill>
              </a:rPr>
              <a:t> deferred</a:t>
            </a:r>
          </a:p>
        </p:txBody>
      </p:sp>
      <p:sp>
        <p:nvSpPr>
          <p:cNvPr id="12" name="Stage Head 2">
            <a:extLst>
              <a:ext uri="{FF2B5EF4-FFF2-40B4-BE49-F238E27FC236}">
                <a16:creationId xmlns:a16="http://schemas.microsoft.com/office/drawing/2014/main" id="{C36FD291-EF93-7555-4AD7-AA143B0A28F4}"/>
              </a:ext>
            </a:extLst>
          </p:cNvPr>
          <p:cNvSpPr/>
          <p:nvPr/>
        </p:nvSpPr>
        <p:spPr>
          <a:xfrm>
            <a:off x="4239490" y="1353705"/>
            <a:ext cx="3454400" cy="838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wrap="square" lIns="177800" tIns="152400" rIns="711200" bIns="152400" anchor="ctr">
            <a:noAutofit/>
          </a:bodyPr>
          <a:lstStyle/>
          <a:p>
            <a:r>
              <a:rPr lang="en-US" sz="1200" b="1" dirty="0">
                <a:solidFill>
                  <a:srgbClr val="FFFFFF"/>
                </a:solidFill>
              </a:rPr>
              <a:t>AUTO MOM EMAIL · TEST 3</a:t>
            </a:r>
          </a:p>
          <a:p>
            <a:pPr>
              <a:spcBef>
                <a:spcPts val="100"/>
              </a:spcBef>
            </a:pPr>
            <a:r>
              <a:rPr lang="en-US" sz="2000" b="1" dirty="0">
                <a:solidFill>
                  <a:srgbClr val="FFFFFF"/>
                </a:solidFill>
              </a:rPr>
              <a:t>Follow-up meeting</a:t>
            </a:r>
          </a:p>
        </p:txBody>
      </p:sp>
      <p:sp>
        <p:nvSpPr>
          <p:cNvPr id="14" name="Stage Body 2">
            <a:extLst>
              <a:ext uri="{FF2B5EF4-FFF2-40B4-BE49-F238E27FC236}">
                <a16:creationId xmlns:a16="http://schemas.microsoft.com/office/drawing/2014/main" id="{CE534DD0-AC4C-FB7F-E2BA-49D4764240E7}"/>
              </a:ext>
            </a:extLst>
          </p:cNvPr>
          <p:cNvSpPr/>
          <p:nvPr/>
        </p:nvSpPr>
        <p:spPr>
          <a:xfrm>
            <a:off x="4239490" y="2191905"/>
            <a:ext cx="3454400" cy="3532904"/>
          </a:xfrm>
          <a:prstGeom prst="rect">
            <a:avLst/>
          </a:prstGeom>
          <a:solidFill>
            <a:srgbClr val="FFFFFF"/>
          </a:solidFill>
          <a:ln w="12700">
            <a:solidFill>
              <a:srgbClr val="D6D3CC"/>
            </a:solidFill>
          </a:ln>
        </p:spPr>
        <p:txBody>
          <a:bodyPr wrap="square" lIns="177800" tIns="152400" rIns="177800" bIns="152400" anchor="t">
            <a:noAutofit/>
          </a:bodyPr>
          <a:lstStyle/>
          <a:p>
            <a:r>
              <a:rPr lang="en-US" sz="1100" b="1" dirty="0">
                <a:solidFill>
                  <a:srgbClr val="6B7280"/>
                </a:solidFill>
              </a:rPr>
              <a:t>SUMMARY</a:t>
            </a:r>
          </a:p>
          <a:p>
            <a:pPr>
              <a:spcBef>
                <a:spcPts val="100"/>
              </a:spcBef>
            </a:pPr>
            <a:r>
              <a:rPr lang="en-US" sz="1600" b="1" dirty="0">
                <a:solidFill>
                  <a:schemeClr val="accent1"/>
                </a:solidFill>
              </a:rPr>
              <a:t>Dev complete, final QA pending</a:t>
            </a:r>
          </a:p>
          <a:p>
            <a:pPr>
              <a:spcBef>
                <a:spcPts val="100"/>
              </a:spcBef>
            </a:pPr>
            <a:endParaRPr lang="en-US" sz="1600" b="1" dirty="0">
              <a:solidFill>
                <a:schemeClr val="accent1"/>
              </a:solidFill>
            </a:endParaRPr>
          </a:p>
          <a:p>
            <a:pPr marL="228600" indent="-228600">
              <a:spcBef>
                <a:spcPts val="600"/>
              </a:spcBef>
              <a:buClr>
                <a:srgbClr val="0E7C66"/>
              </a:buClr>
              <a:buFont typeface="Arial"/>
              <a:buChar char="•"/>
            </a:pPr>
            <a:r>
              <a:rPr lang="en-US" sz="1200" b="1" dirty="0"/>
              <a:t>Closed · </a:t>
            </a:r>
            <a:r>
              <a:rPr lang="en-US" sz="1200" dirty="0"/>
              <a:t>Requirements and API access</a:t>
            </a:r>
          </a:p>
          <a:p>
            <a:pPr marL="228600" indent="-228600">
              <a:spcBef>
                <a:spcPts val="600"/>
              </a:spcBef>
              <a:buClr>
                <a:srgbClr val="0E7C66"/>
              </a:buClr>
              <a:buFont typeface="Arial"/>
              <a:buChar char="•"/>
            </a:pPr>
            <a:r>
              <a:rPr lang="en-US" sz="1200" b="1" dirty="0"/>
              <a:t>Mohan · </a:t>
            </a:r>
            <a:r>
              <a:rPr lang="en-US" sz="1200" dirty="0"/>
              <a:t>Last defect fix, due today</a:t>
            </a:r>
          </a:p>
          <a:p>
            <a:pPr marL="228600" indent="-228600">
              <a:spcBef>
                <a:spcPts val="600"/>
              </a:spcBef>
              <a:buClr>
                <a:srgbClr val="0E7C66"/>
              </a:buClr>
              <a:buFont typeface="Arial"/>
              <a:buChar char="•"/>
            </a:pPr>
            <a:r>
              <a:rPr lang="en-US" sz="1200" b="1" dirty="0" err="1"/>
              <a:t>Manidip</a:t>
            </a:r>
            <a:r>
              <a:rPr lang="en-US" sz="1200" b="1" dirty="0"/>
              <a:t> · </a:t>
            </a:r>
            <a:r>
              <a:rPr lang="en-US" sz="1200" dirty="0"/>
              <a:t>Retest, confirm QA status</a:t>
            </a:r>
          </a:p>
          <a:p>
            <a:pPr marL="228600" indent="-228600">
              <a:spcBef>
                <a:spcPts val="600"/>
              </a:spcBef>
              <a:buClr>
                <a:srgbClr val="0E7C66"/>
              </a:buClr>
              <a:buFont typeface="Arial"/>
              <a:buChar char="•"/>
            </a:pPr>
            <a:r>
              <a:rPr lang="en-US" sz="1200" b="1" dirty="0"/>
              <a:t>Chetan · </a:t>
            </a:r>
            <a:r>
              <a:rPr lang="en-US" sz="1200" dirty="0"/>
              <a:t>Update docs, Medium</a:t>
            </a:r>
          </a:p>
          <a:p>
            <a:pPr marL="228600" indent="-228600">
              <a:spcBef>
                <a:spcPts val="600"/>
              </a:spcBef>
              <a:buClr>
                <a:srgbClr val="0E7C66"/>
              </a:buClr>
              <a:buFont typeface="Arial"/>
              <a:buChar char="•"/>
            </a:pPr>
            <a:r>
              <a:rPr lang="en-US" sz="1200" b="1" dirty="0"/>
              <a:t>Risk · </a:t>
            </a:r>
            <a:r>
              <a:rPr lang="en-US" sz="1200" dirty="0"/>
              <a:t>Retest may find critical issues</a:t>
            </a:r>
          </a:p>
          <a:p>
            <a:pPr>
              <a:spcBef>
                <a:spcPts val="1400"/>
              </a:spcBef>
            </a:pPr>
            <a:r>
              <a:rPr lang="en-US" sz="1050" b="1" spc="100" dirty="0">
                <a:solidFill>
                  <a:srgbClr val="6B7280"/>
                </a:solidFill>
              </a:rPr>
              <a:t>NEXT</a:t>
            </a:r>
          </a:p>
          <a:p>
            <a:pPr>
              <a:spcBef>
                <a:spcPts val="100"/>
              </a:spcBef>
            </a:pPr>
            <a:r>
              <a:rPr lang="en-US" sz="1200" b="1" dirty="0">
                <a:solidFill>
                  <a:srgbClr val="2E3A46"/>
                </a:solidFill>
              </a:rPr>
              <a:t>Go/no-go meeting after retest</a:t>
            </a:r>
          </a:p>
        </p:txBody>
      </p:sp>
      <p:sp>
        <p:nvSpPr>
          <p:cNvPr id="16" name="Stage Head 3">
            <a:extLst>
              <a:ext uri="{FF2B5EF4-FFF2-40B4-BE49-F238E27FC236}">
                <a16:creationId xmlns:a16="http://schemas.microsoft.com/office/drawing/2014/main" id="{10D16A0D-53F7-03B2-5C54-D377AA40245B}"/>
              </a:ext>
            </a:extLst>
          </p:cNvPr>
          <p:cNvSpPr/>
          <p:nvPr/>
        </p:nvSpPr>
        <p:spPr>
          <a:xfrm>
            <a:off x="7998690" y="1353705"/>
            <a:ext cx="3454400" cy="838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wrap="square" lIns="177800" tIns="152400" rIns="711200" bIns="152400" anchor="ctr">
            <a:noAutofit/>
          </a:bodyPr>
          <a:lstStyle/>
          <a:p>
            <a:r>
              <a:rPr lang="en-US" sz="1200" b="1" dirty="0">
                <a:solidFill>
                  <a:srgbClr val="FFFFFF"/>
                </a:solidFill>
              </a:rPr>
              <a:t>IN EVERY EMAIL</a:t>
            </a:r>
          </a:p>
          <a:p>
            <a:pPr>
              <a:spcBef>
                <a:spcPts val="100"/>
              </a:spcBef>
            </a:pPr>
            <a:r>
              <a:rPr lang="en-US" sz="2000" b="1" dirty="0">
                <a:solidFill>
                  <a:srgbClr val="FFFFFF"/>
                </a:solidFill>
              </a:rPr>
              <a:t>Tracking links</a:t>
            </a:r>
          </a:p>
        </p:txBody>
      </p:sp>
      <p:sp>
        <p:nvSpPr>
          <p:cNvPr id="18" name="Stage Body 3">
            <a:extLst>
              <a:ext uri="{FF2B5EF4-FFF2-40B4-BE49-F238E27FC236}">
                <a16:creationId xmlns:a16="http://schemas.microsoft.com/office/drawing/2014/main" id="{E14A540F-1914-70F9-ECAD-3666BC56B06D}"/>
              </a:ext>
            </a:extLst>
          </p:cNvPr>
          <p:cNvSpPr/>
          <p:nvPr/>
        </p:nvSpPr>
        <p:spPr>
          <a:xfrm>
            <a:off x="7998690" y="2191905"/>
            <a:ext cx="3454400" cy="3532904"/>
          </a:xfrm>
          <a:prstGeom prst="rect">
            <a:avLst/>
          </a:prstGeom>
          <a:solidFill>
            <a:srgbClr val="FFFFFF"/>
          </a:solidFill>
          <a:ln w="12700">
            <a:solidFill>
              <a:srgbClr val="D6D3CC"/>
            </a:solidFill>
          </a:ln>
        </p:spPr>
        <p:txBody>
          <a:bodyPr wrap="square" lIns="177800" tIns="152400" rIns="177800" bIns="152400" anchor="t">
            <a:noAutofit/>
          </a:bodyPr>
          <a:lstStyle/>
          <a:p>
            <a:r>
              <a:rPr lang="en-US" sz="1100" b="1" dirty="0">
                <a:solidFill>
                  <a:srgbClr val="6B7280"/>
                </a:solidFill>
              </a:rPr>
              <a:t>TRACKING</a:t>
            </a:r>
          </a:p>
          <a:p>
            <a:pPr>
              <a:spcBef>
                <a:spcPts val="100"/>
              </a:spcBef>
            </a:pPr>
            <a:r>
              <a:rPr lang="en-US" sz="1600" b="1" dirty="0">
                <a:solidFill>
                  <a:schemeClr val="accent1"/>
                </a:solidFill>
              </a:rPr>
              <a:t>Jira and Calendar references</a:t>
            </a:r>
          </a:p>
          <a:p>
            <a:pPr>
              <a:spcBef>
                <a:spcPts val="100"/>
              </a:spcBef>
            </a:pPr>
            <a:endParaRPr lang="en-US" sz="1600" b="1" dirty="0">
              <a:solidFill>
                <a:schemeClr val="accent1"/>
              </a:solidFill>
            </a:endParaRPr>
          </a:p>
          <a:p>
            <a:pPr marL="228600" indent="-228600">
              <a:spcBef>
                <a:spcPts val="600"/>
              </a:spcBef>
              <a:buClr>
                <a:srgbClr val="0E7C66"/>
              </a:buClr>
              <a:buFont typeface="Arial"/>
              <a:buChar char="•"/>
            </a:pPr>
            <a:r>
              <a:rPr lang="en-US" sz="1200" b="1" dirty="0"/>
              <a:t>Jira · </a:t>
            </a:r>
            <a:r>
              <a:rPr lang="en-US" sz="1200" dirty="0"/>
              <a:t>TASK-101, 102, 103</a:t>
            </a:r>
          </a:p>
          <a:p>
            <a:pPr marL="228600" indent="-228600">
              <a:spcBef>
                <a:spcPts val="600"/>
              </a:spcBef>
              <a:buClr>
                <a:srgbClr val="0E7C66"/>
              </a:buClr>
              <a:buFont typeface="Arial"/>
              <a:buChar char="•"/>
            </a:pPr>
            <a:r>
              <a:rPr lang="en-US" sz="1200" b="1" dirty="0"/>
              <a:t>Calendar · </a:t>
            </a:r>
            <a:r>
              <a:rPr lang="en-US" sz="1200" dirty="0"/>
              <a:t>Milestone, 9 Oct 10:00</a:t>
            </a:r>
          </a:p>
          <a:p>
            <a:pPr marL="228600" indent="-228600">
              <a:spcBef>
                <a:spcPts val="600"/>
              </a:spcBef>
              <a:buClr>
                <a:srgbClr val="0E7C66"/>
              </a:buClr>
              <a:buFont typeface="Arial"/>
              <a:buChar char="•"/>
            </a:pPr>
            <a:r>
              <a:rPr lang="en-US" sz="1200" b="1" dirty="0"/>
              <a:t>Topics · </a:t>
            </a:r>
            <a:r>
              <a:rPr lang="en-US" sz="1200" dirty="0"/>
              <a:t>Scope, owners, timeline</a:t>
            </a:r>
          </a:p>
          <a:p>
            <a:pPr marL="228600" indent="-228600">
              <a:spcBef>
                <a:spcPts val="600"/>
              </a:spcBef>
              <a:buClr>
                <a:srgbClr val="0E7C66"/>
              </a:buClr>
              <a:buFont typeface="Arial"/>
              <a:buChar char="•"/>
            </a:pPr>
            <a:r>
              <a:rPr lang="en-US" sz="1200" b="1" dirty="0"/>
              <a:t>Risks · </a:t>
            </a:r>
            <a:r>
              <a:rPr lang="en-US" sz="1200" dirty="0"/>
              <a:t>Each flagged with its impact</a:t>
            </a:r>
          </a:p>
          <a:p>
            <a:pPr marL="228600" indent="-228600">
              <a:spcBef>
                <a:spcPts val="600"/>
              </a:spcBef>
              <a:buClr>
                <a:srgbClr val="0E7C66"/>
              </a:buClr>
              <a:buFont typeface="Arial"/>
              <a:buChar char="•"/>
            </a:pPr>
            <a:r>
              <a:rPr lang="en-US" sz="1200" b="1" dirty="0"/>
              <a:t>Follow-up · </a:t>
            </a:r>
            <a:r>
              <a:rPr lang="en-US" sz="1200" dirty="0"/>
              <a:t>Next meeting proposed</a:t>
            </a:r>
          </a:p>
          <a:p>
            <a:pPr>
              <a:spcBef>
                <a:spcPts val="1400"/>
              </a:spcBef>
            </a:pPr>
            <a:r>
              <a:rPr lang="en-US" sz="1050" b="1" spc="100" dirty="0">
                <a:solidFill>
                  <a:srgbClr val="6B7280"/>
                </a:solidFill>
              </a:rPr>
              <a:t>SENT TO</a:t>
            </a:r>
          </a:p>
          <a:p>
            <a:pPr>
              <a:spcBef>
                <a:spcPts val="100"/>
              </a:spcBef>
            </a:pPr>
            <a:r>
              <a:rPr lang="en-US" sz="1200" b="1" dirty="0">
                <a:solidFill>
                  <a:srgbClr val="2E3A46"/>
                </a:solidFill>
              </a:rPr>
              <a:t>All participant emails from the form</a:t>
            </a:r>
          </a:p>
        </p:txBody>
      </p:sp>
      <p:sp>
        <p:nvSpPr>
          <p:cNvPr id="20" name="Head Accent 1">
            <a:extLst>
              <a:ext uri="{FF2B5EF4-FFF2-40B4-BE49-F238E27FC236}">
                <a16:creationId xmlns:a16="http://schemas.microsoft.com/office/drawing/2014/main" id="{0B3D70C4-C64B-5E5A-59F4-4CCF229294C5}"/>
              </a:ext>
            </a:extLst>
          </p:cNvPr>
          <p:cNvSpPr/>
          <p:nvPr/>
        </p:nvSpPr>
        <p:spPr>
          <a:xfrm>
            <a:off x="480290" y="1353705"/>
            <a:ext cx="3454400" cy="5715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6" name="Head Accent 2">
            <a:extLst>
              <a:ext uri="{FF2B5EF4-FFF2-40B4-BE49-F238E27FC236}">
                <a16:creationId xmlns:a16="http://schemas.microsoft.com/office/drawing/2014/main" id="{5324D43C-519F-9DDE-AA1E-EC5C97FEB3F7}"/>
              </a:ext>
            </a:extLst>
          </p:cNvPr>
          <p:cNvSpPr/>
          <p:nvPr/>
        </p:nvSpPr>
        <p:spPr>
          <a:xfrm>
            <a:off x="4239490" y="1353705"/>
            <a:ext cx="3454400" cy="5715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2" name="Head Accent 3">
            <a:extLst>
              <a:ext uri="{FF2B5EF4-FFF2-40B4-BE49-F238E27FC236}">
                <a16:creationId xmlns:a16="http://schemas.microsoft.com/office/drawing/2014/main" id="{5951357C-8BC0-539E-AC4A-B7A3C8B19296}"/>
              </a:ext>
            </a:extLst>
          </p:cNvPr>
          <p:cNvSpPr/>
          <p:nvPr/>
        </p:nvSpPr>
        <p:spPr>
          <a:xfrm>
            <a:off x="7998690" y="1353705"/>
            <a:ext cx="3454400" cy="5715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8" name="Takeaway">
            <a:extLst>
              <a:ext uri="{FF2B5EF4-FFF2-40B4-BE49-F238E27FC236}">
                <a16:creationId xmlns:a16="http://schemas.microsoft.com/office/drawing/2014/main" id="{CBA36A77-6AF6-C4AE-CAD4-D0CC2600FEE6}"/>
              </a:ext>
            </a:extLst>
          </p:cNvPr>
          <p:cNvSpPr/>
          <p:nvPr/>
        </p:nvSpPr>
        <p:spPr>
          <a:xfrm>
            <a:off x="480290" y="6022104"/>
            <a:ext cx="10972800" cy="533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wrap="square" lIns="228600" tIns="45720" rIns="228600" bIns="45720" anchor="ctr">
            <a:no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Recording uploaded  →  n8n workflow runs  →  MOM emailed automatically, no manual step  →  Jira and Calendar updated</a:t>
            </a:r>
          </a:p>
        </p:txBody>
      </p:sp>
      <p:sp>
        <p:nvSpPr>
          <p:cNvPr id="3" name="Guideline Label">
            <a:extLst>
              <a:ext uri="{FF2B5EF4-FFF2-40B4-BE49-F238E27FC236}">
                <a16:creationId xmlns:a16="http://schemas.microsoft.com/office/drawing/2014/main" id="{107DA802-28D3-42A3-97BE-0D54BF256980}"/>
              </a:ext>
            </a:extLst>
          </p:cNvPr>
          <p:cNvSpPr txBox="1"/>
          <p:nvPr/>
        </p:nvSpPr>
        <p:spPr>
          <a:xfrm>
            <a:off x="482022" y="916710"/>
            <a:ext cx="6380596" cy="254000"/>
          </a:xfrm>
          <a:prstGeom prst="rect">
            <a:avLst/>
          </a:prstGeom>
          <a:noFill/>
        </p:spPr>
        <p:txBody>
          <a:bodyPr vertOverflow="overflow" vert="horz" wrap="square" lIns="0" tIns="0" bIns="0" rtlCol="0" anchor="t" anchorCtr="0">
            <a:noAutofit/>
          </a:bodyPr>
          <a:lstStyle/>
          <a:p>
            <a:pPr algn="l"/>
            <a:r>
              <a:rPr lang="en-US" sz="1200" b="1" spc="200" dirty="0">
                <a:solidFill>
                  <a:schemeClr val="accent1"/>
                </a:solidFill>
              </a:rPr>
              <a:t>USE CASE · AUTOMATIC MOM / MEETING SUMMARY EMAIL</a:t>
            </a:r>
          </a:p>
        </p:txBody>
      </p:sp>
    </p:spTree>
    <p:extLst>
      <p:ext uri="{BB962C8B-B14F-4D97-AF65-F5344CB8AC3E}">
        <p14:creationId xmlns:p14="http://schemas.microsoft.com/office/powerpoint/2010/main" val="20353696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F11AA8-3B44-5CAB-7280-A9FD3AD032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B6265CB5-78CD-9BBC-A478-390993656C55}"/>
              </a:ext>
            </a:extLst>
          </p:cNvPr>
          <p:cNvSpPr txBox="1">
            <a:spLocks/>
          </p:cNvSpPr>
          <p:nvPr/>
        </p:nvSpPr>
        <p:spPr>
          <a:xfrm>
            <a:off x="609600" y="1397000"/>
            <a:ext cx="10972800" cy="1016000"/>
          </a:xfrm>
          <a:prstGeom prst="rect">
            <a:avLst/>
          </a:prstGeom>
        </p:spPr>
        <p:txBody>
          <a:bodyPr vert="horz" lIns="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400" b="1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Segoe UI" panose="02110004020202020204"/>
                <a:ea typeface="+mj-ea"/>
                <a:cs typeface="+mj-cs"/>
              </a:rPr>
              <a:t>See it run live</a:t>
            </a: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Segoe UI" panose="02110004020202020204"/>
              <a:ea typeface="+mj-ea"/>
              <a:cs typeface="+mj-cs"/>
            </a:endParaRPr>
          </a:p>
        </p:txBody>
      </p:sp>
      <p:sp>
        <p:nvSpPr>
          <p:cNvPr id="13" name="Kicker">
            <a:extLst>
              <a:ext uri="{FF2B5EF4-FFF2-40B4-BE49-F238E27FC236}">
                <a16:creationId xmlns:a16="http://schemas.microsoft.com/office/drawing/2014/main" id="{C4E39B2A-129D-1B74-2D13-4E936B2028D3}"/>
              </a:ext>
            </a:extLst>
          </p:cNvPr>
          <p:cNvSpPr/>
          <p:nvPr/>
        </p:nvSpPr>
        <p:spPr>
          <a:xfrm>
            <a:off x="609600" y="1066800"/>
            <a:ext cx="7620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r>
              <a:rPr lang="en-US" sz="1400" b="1" dirty="0">
                <a:solidFill>
                  <a:schemeClr val="accent1"/>
                </a:solidFill>
                <a:latin typeface="Segoe UI" panose="02110004020202020204"/>
              </a:rPr>
              <a:t>FROM UPLOAD TO JIRA IN ONE RUN</a:t>
            </a:r>
          </a:p>
        </p:txBody>
      </p:sp>
      <p:sp>
        <p:nvSpPr>
          <p:cNvPr id="15" name="Demo Link">
            <a:extLst>
              <a:ext uri="{FF2B5EF4-FFF2-40B4-BE49-F238E27FC236}">
                <a16:creationId xmlns:a16="http://schemas.microsoft.com/office/drawing/2014/main" id="{B038928C-0148-6B6F-8084-E5B36DB6C564}"/>
              </a:ext>
            </a:extLst>
          </p:cNvPr>
          <p:cNvSpPr/>
          <p:nvPr/>
        </p:nvSpPr>
        <p:spPr>
          <a:xfrm>
            <a:off x="609600" y="2616200"/>
            <a:ext cx="1097280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r>
              <a:rPr lang="en-US" sz="2400" b="1" dirty="0">
                <a:solidFill>
                  <a:schemeClr val="accent1"/>
                </a:solidFill>
                <a:latin typeface="Segoe UI" panose="02110004020202020204"/>
              </a:rPr>
              <a:t>cnprabhu5.app.n8n.cloud/form/meeting-intake</a:t>
            </a:r>
          </a:p>
        </p:txBody>
      </p:sp>
      <p:sp>
        <p:nvSpPr>
          <p:cNvPr id="17" name="Step Rule 1">
            <a:extLst>
              <a:ext uri="{FF2B5EF4-FFF2-40B4-BE49-F238E27FC236}">
                <a16:creationId xmlns:a16="http://schemas.microsoft.com/office/drawing/2014/main" id="{39225699-DFA8-FC7D-C32D-D8DA7FD90D3E}"/>
              </a:ext>
            </a:extLst>
          </p:cNvPr>
          <p:cNvSpPr/>
          <p:nvPr/>
        </p:nvSpPr>
        <p:spPr>
          <a:xfrm>
            <a:off x="609600" y="3962400"/>
            <a:ext cx="1701800" cy="25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US">
              <a:solidFill>
                <a:schemeClr val="accent1"/>
              </a:solidFill>
              <a:latin typeface="Segoe UI" panose="02110004020202020204"/>
            </a:endParaRPr>
          </a:p>
        </p:txBody>
      </p:sp>
      <p:sp>
        <p:nvSpPr>
          <p:cNvPr id="19" name="Step Num 1">
            <a:extLst>
              <a:ext uri="{FF2B5EF4-FFF2-40B4-BE49-F238E27FC236}">
                <a16:creationId xmlns:a16="http://schemas.microsoft.com/office/drawing/2014/main" id="{A72AC245-018E-73AD-6175-69CEDECE6120}"/>
              </a:ext>
            </a:extLst>
          </p:cNvPr>
          <p:cNvSpPr/>
          <p:nvPr/>
        </p:nvSpPr>
        <p:spPr>
          <a:xfrm>
            <a:off x="609600" y="4114800"/>
            <a:ext cx="17018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r>
              <a:rPr lang="en-US" sz="2000" b="1" dirty="0">
                <a:solidFill>
                  <a:schemeClr val="accent1"/>
                </a:solidFill>
                <a:latin typeface="Segoe UI" panose="02110004020202020204"/>
              </a:rPr>
              <a:t>01</a:t>
            </a:r>
          </a:p>
        </p:txBody>
      </p:sp>
      <p:sp>
        <p:nvSpPr>
          <p:cNvPr id="33" name="Step 1">
            <a:extLst>
              <a:ext uri="{FF2B5EF4-FFF2-40B4-BE49-F238E27FC236}">
                <a16:creationId xmlns:a16="http://schemas.microsoft.com/office/drawing/2014/main" id="{26C8B12D-E38A-11A1-3946-07F954C77477}"/>
              </a:ext>
            </a:extLst>
          </p:cNvPr>
          <p:cNvSpPr/>
          <p:nvPr/>
        </p:nvSpPr>
        <p:spPr>
          <a:xfrm>
            <a:off x="609600" y="4572000"/>
            <a:ext cx="1701800" cy="1016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r>
              <a:rPr lang="en-US" sz="1500" dirty="0">
                <a:solidFill>
                  <a:schemeClr val="accent1"/>
                </a:solidFill>
                <a:latin typeface="Segoe UI" panose="02110004020202020204"/>
              </a:rPr>
              <a:t>Upload recording and participant emails</a:t>
            </a:r>
          </a:p>
        </p:txBody>
      </p:sp>
      <p:sp>
        <p:nvSpPr>
          <p:cNvPr id="34" name="Step Rule 2">
            <a:extLst>
              <a:ext uri="{FF2B5EF4-FFF2-40B4-BE49-F238E27FC236}">
                <a16:creationId xmlns:a16="http://schemas.microsoft.com/office/drawing/2014/main" id="{3F7C0F3A-0AEC-B6C9-979A-8BB3B35C84BA}"/>
              </a:ext>
            </a:extLst>
          </p:cNvPr>
          <p:cNvSpPr/>
          <p:nvPr/>
        </p:nvSpPr>
        <p:spPr>
          <a:xfrm>
            <a:off x="2463800" y="3962400"/>
            <a:ext cx="1701800" cy="25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US">
              <a:solidFill>
                <a:schemeClr val="accent1"/>
              </a:solidFill>
              <a:latin typeface="Segoe UI" panose="02110004020202020204"/>
            </a:endParaRPr>
          </a:p>
        </p:txBody>
      </p:sp>
      <p:sp>
        <p:nvSpPr>
          <p:cNvPr id="35" name="Step Num 2">
            <a:extLst>
              <a:ext uri="{FF2B5EF4-FFF2-40B4-BE49-F238E27FC236}">
                <a16:creationId xmlns:a16="http://schemas.microsoft.com/office/drawing/2014/main" id="{AC054DC2-B843-E0D5-4981-5084F8C261D7}"/>
              </a:ext>
            </a:extLst>
          </p:cNvPr>
          <p:cNvSpPr/>
          <p:nvPr/>
        </p:nvSpPr>
        <p:spPr>
          <a:xfrm>
            <a:off x="2463800" y="4114800"/>
            <a:ext cx="17018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r>
              <a:rPr lang="en-US" sz="2000" b="1" dirty="0">
                <a:solidFill>
                  <a:schemeClr val="accent1"/>
                </a:solidFill>
                <a:latin typeface="Segoe UI" panose="02110004020202020204"/>
              </a:rPr>
              <a:t>02</a:t>
            </a:r>
          </a:p>
        </p:txBody>
      </p:sp>
      <p:sp>
        <p:nvSpPr>
          <p:cNvPr id="36" name="Step 2">
            <a:extLst>
              <a:ext uri="{FF2B5EF4-FFF2-40B4-BE49-F238E27FC236}">
                <a16:creationId xmlns:a16="http://schemas.microsoft.com/office/drawing/2014/main" id="{0F2A2FE6-26E5-5573-CAD2-AA6DB3B21959}"/>
              </a:ext>
            </a:extLst>
          </p:cNvPr>
          <p:cNvSpPr/>
          <p:nvPr/>
        </p:nvSpPr>
        <p:spPr>
          <a:xfrm>
            <a:off x="2463800" y="4572000"/>
            <a:ext cx="1701800" cy="1016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r>
              <a:rPr lang="en-US" sz="1500" dirty="0">
                <a:solidFill>
                  <a:schemeClr val="accent1"/>
                </a:solidFill>
                <a:latin typeface="Segoe UI" panose="02110004020202020204"/>
              </a:rPr>
              <a:t>AssemblyAI diarized transcript</a:t>
            </a:r>
          </a:p>
        </p:txBody>
      </p:sp>
      <p:sp>
        <p:nvSpPr>
          <p:cNvPr id="37" name="Step Rule 3">
            <a:extLst>
              <a:ext uri="{FF2B5EF4-FFF2-40B4-BE49-F238E27FC236}">
                <a16:creationId xmlns:a16="http://schemas.microsoft.com/office/drawing/2014/main" id="{19229D2F-6D37-A504-B3AE-C2EF17048A04}"/>
              </a:ext>
            </a:extLst>
          </p:cNvPr>
          <p:cNvSpPr/>
          <p:nvPr/>
        </p:nvSpPr>
        <p:spPr>
          <a:xfrm>
            <a:off x="4318000" y="3962400"/>
            <a:ext cx="1701800" cy="25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US">
              <a:solidFill>
                <a:schemeClr val="accent1"/>
              </a:solidFill>
              <a:latin typeface="Segoe UI" panose="02110004020202020204"/>
            </a:endParaRPr>
          </a:p>
        </p:txBody>
      </p:sp>
      <p:sp>
        <p:nvSpPr>
          <p:cNvPr id="39" name="Step Num 3">
            <a:extLst>
              <a:ext uri="{FF2B5EF4-FFF2-40B4-BE49-F238E27FC236}">
                <a16:creationId xmlns:a16="http://schemas.microsoft.com/office/drawing/2014/main" id="{B9518E92-2C00-C392-709C-4F3A998DC5D1}"/>
              </a:ext>
            </a:extLst>
          </p:cNvPr>
          <p:cNvSpPr/>
          <p:nvPr/>
        </p:nvSpPr>
        <p:spPr>
          <a:xfrm>
            <a:off x="4318000" y="4114800"/>
            <a:ext cx="17018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r>
              <a:rPr lang="en-US" sz="2000" b="1" dirty="0">
                <a:solidFill>
                  <a:schemeClr val="accent1"/>
                </a:solidFill>
                <a:latin typeface="Segoe UI" panose="02110004020202020204"/>
              </a:rPr>
              <a:t>03</a:t>
            </a:r>
          </a:p>
        </p:txBody>
      </p:sp>
      <p:sp>
        <p:nvSpPr>
          <p:cNvPr id="46" name="Step 3">
            <a:extLst>
              <a:ext uri="{FF2B5EF4-FFF2-40B4-BE49-F238E27FC236}">
                <a16:creationId xmlns:a16="http://schemas.microsoft.com/office/drawing/2014/main" id="{4AC665B1-80EA-02FC-7902-E71D40D88349}"/>
              </a:ext>
            </a:extLst>
          </p:cNvPr>
          <p:cNvSpPr/>
          <p:nvPr/>
        </p:nvSpPr>
        <p:spPr>
          <a:xfrm>
            <a:off x="4318000" y="4572000"/>
            <a:ext cx="1701800" cy="1016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r>
              <a:rPr lang="en-US" sz="1500" dirty="0">
                <a:solidFill>
                  <a:schemeClr val="accent1"/>
                </a:solidFill>
                <a:latin typeface="Segoe UI" panose="02110004020202020204"/>
              </a:rPr>
              <a:t>GPT-5 extraction</a:t>
            </a:r>
          </a:p>
        </p:txBody>
      </p:sp>
      <p:sp>
        <p:nvSpPr>
          <p:cNvPr id="47" name="Step Rule 4">
            <a:extLst>
              <a:ext uri="{FF2B5EF4-FFF2-40B4-BE49-F238E27FC236}">
                <a16:creationId xmlns:a16="http://schemas.microsoft.com/office/drawing/2014/main" id="{80AD649B-B1F4-C747-1AA6-20B138DD120E}"/>
              </a:ext>
            </a:extLst>
          </p:cNvPr>
          <p:cNvSpPr/>
          <p:nvPr/>
        </p:nvSpPr>
        <p:spPr>
          <a:xfrm>
            <a:off x="6172200" y="3962400"/>
            <a:ext cx="1701800" cy="25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US">
              <a:solidFill>
                <a:schemeClr val="accent1"/>
              </a:solidFill>
              <a:latin typeface="Segoe UI" panose="02110004020202020204"/>
            </a:endParaRPr>
          </a:p>
        </p:txBody>
      </p:sp>
      <p:sp>
        <p:nvSpPr>
          <p:cNvPr id="48" name="Step Num 4">
            <a:extLst>
              <a:ext uri="{FF2B5EF4-FFF2-40B4-BE49-F238E27FC236}">
                <a16:creationId xmlns:a16="http://schemas.microsoft.com/office/drawing/2014/main" id="{77DC0C73-B00B-AA2B-0BDA-B92D7C1E2F87}"/>
              </a:ext>
            </a:extLst>
          </p:cNvPr>
          <p:cNvSpPr/>
          <p:nvPr/>
        </p:nvSpPr>
        <p:spPr>
          <a:xfrm>
            <a:off x="6172200" y="4114800"/>
            <a:ext cx="17018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r>
              <a:rPr lang="en-US" sz="2000" b="1" dirty="0">
                <a:solidFill>
                  <a:schemeClr val="accent1"/>
                </a:solidFill>
                <a:latin typeface="Segoe UI" panose="02110004020202020204"/>
              </a:rPr>
              <a:t>04</a:t>
            </a:r>
          </a:p>
        </p:txBody>
      </p:sp>
      <p:sp>
        <p:nvSpPr>
          <p:cNvPr id="49" name="Step 4">
            <a:extLst>
              <a:ext uri="{FF2B5EF4-FFF2-40B4-BE49-F238E27FC236}">
                <a16:creationId xmlns:a16="http://schemas.microsoft.com/office/drawing/2014/main" id="{74E472F8-E53D-E858-8817-2A48F22BC09B}"/>
              </a:ext>
            </a:extLst>
          </p:cNvPr>
          <p:cNvSpPr/>
          <p:nvPr/>
        </p:nvSpPr>
        <p:spPr>
          <a:xfrm>
            <a:off x="6172200" y="4572000"/>
            <a:ext cx="1701800" cy="1016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r>
              <a:rPr lang="en-US" sz="1500" dirty="0">
                <a:solidFill>
                  <a:schemeClr val="accent1"/>
                </a:solidFill>
                <a:latin typeface="Segoe UI" panose="02110004020202020204"/>
              </a:rPr>
              <a:t>Super Agent delegates</a:t>
            </a:r>
          </a:p>
        </p:txBody>
      </p:sp>
      <p:sp>
        <p:nvSpPr>
          <p:cNvPr id="50" name="Step Rule 5">
            <a:extLst>
              <a:ext uri="{FF2B5EF4-FFF2-40B4-BE49-F238E27FC236}">
                <a16:creationId xmlns:a16="http://schemas.microsoft.com/office/drawing/2014/main" id="{6F5046EA-28CB-F612-6F4B-DB4ABFE58CF5}"/>
              </a:ext>
            </a:extLst>
          </p:cNvPr>
          <p:cNvSpPr/>
          <p:nvPr/>
        </p:nvSpPr>
        <p:spPr>
          <a:xfrm>
            <a:off x="8026400" y="3962400"/>
            <a:ext cx="1701800" cy="25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US">
              <a:solidFill>
                <a:schemeClr val="accent1"/>
              </a:solidFill>
              <a:latin typeface="Segoe UI" panose="02110004020202020204"/>
            </a:endParaRPr>
          </a:p>
        </p:txBody>
      </p:sp>
      <p:sp>
        <p:nvSpPr>
          <p:cNvPr id="51" name="Step Num 5">
            <a:extLst>
              <a:ext uri="{FF2B5EF4-FFF2-40B4-BE49-F238E27FC236}">
                <a16:creationId xmlns:a16="http://schemas.microsoft.com/office/drawing/2014/main" id="{FF1D0047-FE29-FDB9-76C7-30267500DC86}"/>
              </a:ext>
            </a:extLst>
          </p:cNvPr>
          <p:cNvSpPr/>
          <p:nvPr/>
        </p:nvSpPr>
        <p:spPr>
          <a:xfrm>
            <a:off x="8026400" y="4114800"/>
            <a:ext cx="17018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r>
              <a:rPr lang="en-US" sz="2000" b="1" dirty="0">
                <a:solidFill>
                  <a:schemeClr val="accent1"/>
                </a:solidFill>
                <a:latin typeface="Segoe UI" panose="02110004020202020204"/>
              </a:rPr>
              <a:t>05</a:t>
            </a:r>
          </a:p>
        </p:txBody>
      </p:sp>
      <p:sp>
        <p:nvSpPr>
          <p:cNvPr id="52" name="Step 5">
            <a:extLst>
              <a:ext uri="{FF2B5EF4-FFF2-40B4-BE49-F238E27FC236}">
                <a16:creationId xmlns:a16="http://schemas.microsoft.com/office/drawing/2014/main" id="{4F83F122-02F1-A1E4-759A-D4B522AE4484}"/>
              </a:ext>
            </a:extLst>
          </p:cNvPr>
          <p:cNvSpPr/>
          <p:nvPr/>
        </p:nvSpPr>
        <p:spPr>
          <a:xfrm>
            <a:off x="8026400" y="4572000"/>
            <a:ext cx="1701800" cy="1016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r>
              <a:rPr lang="en-US" sz="1500" dirty="0">
                <a:solidFill>
                  <a:schemeClr val="accent1"/>
                </a:solidFill>
                <a:latin typeface="Segoe UI" panose="02110004020202020204"/>
              </a:rPr>
              <a:t>Jira tickets created or updated</a:t>
            </a:r>
          </a:p>
        </p:txBody>
      </p:sp>
      <p:sp>
        <p:nvSpPr>
          <p:cNvPr id="53" name="Step Rule 6">
            <a:extLst>
              <a:ext uri="{FF2B5EF4-FFF2-40B4-BE49-F238E27FC236}">
                <a16:creationId xmlns:a16="http://schemas.microsoft.com/office/drawing/2014/main" id="{1B451DA1-47A9-4F42-10B0-8B95D11402CA}"/>
              </a:ext>
            </a:extLst>
          </p:cNvPr>
          <p:cNvSpPr/>
          <p:nvPr/>
        </p:nvSpPr>
        <p:spPr>
          <a:xfrm>
            <a:off x="9880600" y="3962400"/>
            <a:ext cx="1701800" cy="25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US">
              <a:solidFill>
                <a:schemeClr val="accent1"/>
              </a:solidFill>
              <a:latin typeface="Segoe UI" panose="02110004020202020204"/>
            </a:endParaRPr>
          </a:p>
        </p:txBody>
      </p:sp>
      <p:sp>
        <p:nvSpPr>
          <p:cNvPr id="54" name="Step Num 6">
            <a:extLst>
              <a:ext uri="{FF2B5EF4-FFF2-40B4-BE49-F238E27FC236}">
                <a16:creationId xmlns:a16="http://schemas.microsoft.com/office/drawing/2014/main" id="{946E8A70-DC00-9213-08E6-76545C72B9BD}"/>
              </a:ext>
            </a:extLst>
          </p:cNvPr>
          <p:cNvSpPr/>
          <p:nvPr/>
        </p:nvSpPr>
        <p:spPr>
          <a:xfrm>
            <a:off x="9880600" y="4114800"/>
            <a:ext cx="17018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r>
              <a:rPr lang="en-US" sz="2000" b="1" dirty="0">
                <a:solidFill>
                  <a:schemeClr val="accent1"/>
                </a:solidFill>
                <a:latin typeface="Segoe UI" panose="02110004020202020204"/>
              </a:rPr>
              <a:t>06</a:t>
            </a:r>
          </a:p>
        </p:txBody>
      </p:sp>
      <p:sp>
        <p:nvSpPr>
          <p:cNvPr id="55" name="Step 6">
            <a:extLst>
              <a:ext uri="{FF2B5EF4-FFF2-40B4-BE49-F238E27FC236}">
                <a16:creationId xmlns:a16="http://schemas.microsoft.com/office/drawing/2014/main" id="{313FD366-7FF5-6DF3-8D6D-8488F2E31618}"/>
              </a:ext>
            </a:extLst>
          </p:cNvPr>
          <p:cNvSpPr/>
          <p:nvPr/>
        </p:nvSpPr>
        <p:spPr>
          <a:xfrm>
            <a:off x="9880600" y="4572000"/>
            <a:ext cx="1701800" cy="1016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r>
              <a:rPr lang="en-US" sz="1500" dirty="0">
                <a:solidFill>
                  <a:schemeClr val="accent1"/>
                </a:solidFill>
                <a:latin typeface="Segoe UI" panose="02110004020202020204"/>
              </a:rPr>
              <a:t>Docs, email, Calendar and Slack</a:t>
            </a:r>
          </a:p>
        </p:txBody>
      </p:sp>
      <p:sp>
        <p:nvSpPr>
          <p:cNvPr id="57" name="Link Note">
            <a:extLst>
              <a:ext uri="{FF2B5EF4-FFF2-40B4-BE49-F238E27FC236}">
                <a16:creationId xmlns:a16="http://schemas.microsoft.com/office/drawing/2014/main" id="{3732948C-B721-0B4C-3A3C-BDC835FAD0F4}"/>
              </a:ext>
            </a:extLst>
          </p:cNvPr>
          <p:cNvSpPr/>
          <p:nvPr/>
        </p:nvSpPr>
        <p:spPr>
          <a:xfrm>
            <a:off x="609600" y="3098800"/>
            <a:ext cx="109728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en-US" sz="1500" dirty="0"/>
              <a:t>n8n Meeting Intake Form, deployed on n8n Cloud</a:t>
            </a:r>
          </a:p>
        </p:txBody>
      </p:sp>
    </p:spTree>
    <p:extLst>
      <p:ext uri="{BB962C8B-B14F-4D97-AF65-F5344CB8AC3E}">
        <p14:creationId xmlns:p14="http://schemas.microsoft.com/office/powerpoint/2010/main" val="9396405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DF87E5-A993-5AEE-2368-7BD0344083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CAA62174-1BBC-7A65-AE39-38AD6A16E48E}"/>
              </a:ext>
            </a:extLst>
          </p:cNvPr>
          <p:cNvSpPr txBox="1">
            <a:spLocks/>
          </p:cNvSpPr>
          <p:nvPr/>
        </p:nvSpPr>
        <p:spPr>
          <a:xfrm>
            <a:off x="341745" y="249382"/>
            <a:ext cx="10344728" cy="50626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000" dirty="0">
                <a:solidFill>
                  <a:schemeClr val="accent1"/>
                </a:solidFill>
                <a:latin typeface="Graphik Black" panose="020B0A03030202060203" pitchFamily="34" charset="0"/>
              </a:rPr>
              <a:t>One upload, three proofs: the form, the inbox and Jira</a:t>
            </a:r>
          </a:p>
        </p:txBody>
      </p:sp>
      <p:sp>
        <p:nvSpPr>
          <p:cNvPr id="3" name="Guideline Label">
            <a:extLst>
              <a:ext uri="{FF2B5EF4-FFF2-40B4-BE49-F238E27FC236}">
                <a16:creationId xmlns:a16="http://schemas.microsoft.com/office/drawing/2014/main" id="{1B279ED5-4604-75AA-9D82-A28DCDDC896C}"/>
              </a:ext>
            </a:extLst>
          </p:cNvPr>
          <p:cNvSpPr txBox="1"/>
          <p:nvPr/>
        </p:nvSpPr>
        <p:spPr>
          <a:xfrm>
            <a:off x="482022" y="916710"/>
            <a:ext cx="10583142" cy="254000"/>
          </a:xfrm>
          <a:prstGeom prst="rect">
            <a:avLst/>
          </a:prstGeom>
          <a:noFill/>
        </p:spPr>
        <p:txBody>
          <a:bodyPr vertOverflow="overflow" vert="horz" wrap="square" lIns="0" tIns="0" bIns="0" rtlCol="0" anchor="t" anchorCtr="0">
            <a:noAutofit/>
          </a:bodyPr>
          <a:lstStyle/>
          <a:p>
            <a:pPr algn="l"/>
            <a:r>
              <a:rPr lang="en-US" sz="1200" b="1" spc="200" dirty="0">
                <a:solidFill>
                  <a:schemeClr val="accent1"/>
                </a:solidFill>
              </a:rPr>
              <a:t>USE CASE · INTAKE FORM, MOM EMAIL AND JIRA RESULTS</a:t>
            </a:r>
          </a:p>
        </p:txBody>
      </p:sp>
      <p:pic>
        <p:nvPicPr>
          <p:cNvPr id="5" name="Intake form" descr="Intake form screenshot">
            <a:extLst>
              <a:ext uri="{FF2B5EF4-FFF2-40B4-BE49-F238E27FC236}">
                <a16:creationId xmlns:a16="http://schemas.microsoft.com/office/drawing/2014/main" id="{83AA11C6-3564-6705-BC91-4A38C609B8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676400"/>
            <a:ext cx="3726180" cy="4144010"/>
          </a:xfrm>
          <a:prstGeom prst="rect">
            <a:avLst/>
          </a:prstGeom>
          <a:ln w="9525">
            <a:solidFill>
              <a:srgbClr val="D6D3CC"/>
            </a:solidFill>
          </a:ln>
        </p:spPr>
      </p:pic>
      <p:pic>
        <p:nvPicPr>
          <p:cNvPr id="7" name="Jira ticket list" descr="Jira ticket list screenshot">
            <a:extLst>
              <a:ext uri="{FF2B5EF4-FFF2-40B4-BE49-F238E27FC236}">
                <a16:creationId xmlns:a16="http://schemas.microsoft.com/office/drawing/2014/main" id="{3DF38A5A-D9B4-956B-F932-4132F4B8A5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68639" y="1676400"/>
            <a:ext cx="3581629" cy="1301138"/>
          </a:xfrm>
          <a:prstGeom prst="rect">
            <a:avLst/>
          </a:prstGeom>
          <a:ln w="9525">
            <a:solidFill>
              <a:srgbClr val="D6D3CC"/>
            </a:solidFill>
          </a:ln>
        </p:spPr>
      </p:pic>
      <p:pic>
        <p:nvPicPr>
          <p:cNvPr id="11" name="Jira ticket detail" descr="Jira ticket detail screenshot">
            <a:extLst>
              <a:ext uri="{FF2B5EF4-FFF2-40B4-BE49-F238E27FC236}">
                <a16:creationId xmlns:a16="http://schemas.microsoft.com/office/drawing/2014/main" id="{4B4B26BD-437C-9B29-CBDA-6F71267C5A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4254305"/>
            <a:ext cx="3413760" cy="2100775"/>
          </a:xfrm>
          <a:prstGeom prst="rect">
            <a:avLst/>
          </a:prstGeom>
          <a:ln w="9525">
            <a:solidFill>
              <a:srgbClr val="D6D3CC"/>
            </a:solidFill>
          </a:ln>
        </p:spPr>
      </p:pic>
      <p:pic>
        <p:nvPicPr>
          <p:cNvPr id="15" name="Jira dashboard" descr="Jira dashboard screenshot">
            <a:extLst>
              <a:ext uri="{FF2B5EF4-FFF2-40B4-BE49-F238E27FC236}">
                <a16:creationId xmlns:a16="http://schemas.microsoft.com/office/drawing/2014/main" id="{ABE21ACB-B17A-3550-357B-58D77696A8E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2269" y="4371443"/>
            <a:ext cx="3627999" cy="1983637"/>
          </a:xfrm>
          <a:prstGeom prst="rect">
            <a:avLst/>
          </a:prstGeom>
          <a:ln w="9525">
            <a:solidFill>
              <a:srgbClr val="D6D3CC"/>
            </a:solidFill>
          </a:ln>
        </p:spPr>
      </p:pic>
      <p:sp>
        <p:nvSpPr>
          <p:cNvPr id="19" name="Form Caption">
            <a:extLst>
              <a:ext uri="{FF2B5EF4-FFF2-40B4-BE49-F238E27FC236}">
                <a16:creationId xmlns:a16="http://schemas.microsoft.com/office/drawing/2014/main" id="{9105D047-677A-ACA3-CDEF-75468400AB26}"/>
              </a:ext>
            </a:extLst>
          </p:cNvPr>
          <p:cNvSpPr txBox="1"/>
          <p:nvPr/>
        </p:nvSpPr>
        <p:spPr>
          <a:xfrm>
            <a:off x="609600" y="5897880"/>
            <a:ext cx="3726180" cy="457200"/>
          </a:xfrm>
          <a:prstGeom prst="rect">
            <a:avLst/>
          </a:prstGeom>
          <a:solidFill>
            <a:srgbClr val="0E7C66"/>
          </a:solidFill>
        </p:spPr>
        <p:txBody>
          <a:bodyPr wrap="square" lIns="91440" tIns="0" rIns="91440" bIns="0" anchor="ctr">
            <a:noAutofit/>
          </a:bodyPr>
          <a:lstStyle/>
          <a:p>
            <a:pPr marL="0" indent="0" algn="l">
              <a:buNone/>
            </a:pPr>
            <a:r>
              <a:rPr lang="en-US" sz="1100" b="1">
                <a:solidFill>
                  <a:srgbClr val="FFFFFF"/>
                </a:solidFill>
              </a:rPr>
              <a:t>Live: cnprabhu5.app.n8n.cloud/form/meeting-intake</a:t>
            </a:r>
          </a:p>
        </p:txBody>
      </p:sp>
      <p:pic>
        <p:nvPicPr>
          <p:cNvPr id="22" name="MOM email test1" descr="Automatic MOM email for meeting test1">
            <a:extLst>
              <a:ext uri="{FF2B5EF4-FFF2-40B4-BE49-F238E27FC236}">
                <a16:creationId xmlns:a16="http://schemas.microsoft.com/office/drawing/2014/main" id="{0374C191-5E6A-51AD-F198-B95D6EB70C3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81642" y="1676400"/>
            <a:ext cx="3204118" cy="1595800"/>
          </a:xfrm>
          <a:prstGeom prst="rect">
            <a:avLst/>
          </a:prstGeom>
          <a:ln w="9525">
            <a:solidFill>
              <a:srgbClr val="D6D3CC"/>
            </a:solidFill>
          </a:ln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DD934F1F-EB2C-54B5-7B34-F1BFD72185EA}"/>
              </a:ext>
            </a:extLst>
          </p:cNvPr>
          <p:cNvSpPr txBox="1"/>
          <p:nvPr/>
        </p:nvSpPr>
        <p:spPr>
          <a:xfrm>
            <a:off x="1519261" y="1370051"/>
            <a:ext cx="19068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ptos" panose="020B0004020202020204" pitchFamily="34" charset="0"/>
              </a:rPr>
              <a:t>Intake form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CF2681B-0BAB-5A62-E21C-D5472D83622C}"/>
              </a:ext>
            </a:extLst>
          </p:cNvPr>
          <p:cNvSpPr txBox="1"/>
          <p:nvPr/>
        </p:nvSpPr>
        <p:spPr>
          <a:xfrm>
            <a:off x="5523569" y="1337548"/>
            <a:ext cx="19068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ptos" panose="020B0004020202020204" pitchFamily="34" charset="0"/>
              </a:rPr>
              <a:t>MOM email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5E250BA-014F-AA11-7FE9-A016269EA0A9}"/>
              </a:ext>
            </a:extLst>
          </p:cNvPr>
          <p:cNvSpPr txBox="1"/>
          <p:nvPr/>
        </p:nvSpPr>
        <p:spPr>
          <a:xfrm>
            <a:off x="8999778" y="1280914"/>
            <a:ext cx="19068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ptos" panose="020B0004020202020204" pitchFamily="34" charset="0"/>
              </a:rPr>
              <a:t>Jira dashboard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096B917-B08D-7041-30CA-F82F9E7B51A6}"/>
              </a:ext>
            </a:extLst>
          </p:cNvPr>
          <p:cNvSpPr txBox="1"/>
          <p:nvPr/>
        </p:nvSpPr>
        <p:spPr>
          <a:xfrm>
            <a:off x="8175631" y="3830761"/>
            <a:ext cx="3581629" cy="540682"/>
          </a:xfrm>
          <a:prstGeom prst="rect">
            <a:avLst/>
          </a:prstGeom>
          <a:noFill/>
        </p:spPr>
        <p:txBody>
          <a:bodyPr wrap="square" rtlCol="0">
            <a:normAutofit fontScale="92500" lnSpcReduction="20000"/>
          </a:bodyPr>
          <a:lstStyle/>
          <a:p>
            <a:pPr algn="ctr"/>
            <a:r>
              <a:rPr lang="en-US" dirty="0">
                <a:latin typeface="Aptos" panose="020B0004020202020204" pitchFamily="34" charset="0"/>
              </a:rPr>
              <a:t>Jira Dashboard with graphical representation &amp; status tracking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D740C64-42CD-D4C8-E0E5-BCBEFDD1D9F2}"/>
              </a:ext>
            </a:extLst>
          </p:cNvPr>
          <p:cNvSpPr txBox="1"/>
          <p:nvPr/>
        </p:nvSpPr>
        <p:spPr>
          <a:xfrm>
            <a:off x="4525651" y="3884973"/>
            <a:ext cx="34137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latin typeface="Aptos" panose="020B0004020202020204" pitchFamily="34" charset="0"/>
              </a:rPr>
              <a:t>Jira dashboard with story</a:t>
            </a:r>
          </a:p>
        </p:txBody>
      </p:sp>
    </p:spTree>
    <p:extLst>
      <p:ext uri="{BB962C8B-B14F-4D97-AF65-F5344CB8AC3E}">
        <p14:creationId xmlns:p14="http://schemas.microsoft.com/office/powerpoint/2010/main" val="13493281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F295E4-660F-DB56-7375-E423990064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A42D8820-EDEC-46A9-9601-A07C1D22BBEE}"/>
              </a:ext>
            </a:extLst>
          </p:cNvPr>
          <p:cNvSpPr txBox="1">
            <a:spLocks/>
          </p:cNvSpPr>
          <p:nvPr/>
        </p:nvSpPr>
        <p:spPr>
          <a:xfrm>
            <a:off x="341745" y="249382"/>
            <a:ext cx="10344728" cy="50626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000">
                <a:solidFill>
                  <a:schemeClr val="accent1"/>
                </a:solidFill>
                <a:latin typeface="Graphik Black" panose="020B0A03030202060203" pitchFamily="34" charset="0"/>
              </a:rPr>
              <a:t>Implementation challenges and design choices</a:t>
            </a:r>
            <a:endParaRPr lang="en-US" sz="3000" dirty="0">
              <a:solidFill>
                <a:schemeClr val="accent1"/>
              </a:solidFill>
              <a:latin typeface="Graphik Black" panose="020B0A03030202060203" pitchFamily="34" charset="0"/>
            </a:endParaRPr>
          </a:p>
        </p:txBody>
      </p:sp>
      <p:sp>
        <p:nvSpPr>
          <p:cNvPr id="3" name="Guideline Label">
            <a:extLst>
              <a:ext uri="{FF2B5EF4-FFF2-40B4-BE49-F238E27FC236}">
                <a16:creationId xmlns:a16="http://schemas.microsoft.com/office/drawing/2014/main" id="{B9B425C6-E9AA-9237-F812-8A3036C45A78}"/>
              </a:ext>
            </a:extLst>
          </p:cNvPr>
          <p:cNvSpPr txBox="1"/>
          <p:nvPr/>
        </p:nvSpPr>
        <p:spPr>
          <a:xfrm>
            <a:off x="482022" y="916710"/>
            <a:ext cx="6380596" cy="254000"/>
          </a:xfrm>
          <a:prstGeom prst="rect">
            <a:avLst/>
          </a:prstGeom>
          <a:noFill/>
        </p:spPr>
        <p:txBody>
          <a:bodyPr vertOverflow="overflow" vert="horz" wrap="square" lIns="0" tIns="0" bIns="0" rtlCol="0" anchor="t" anchorCtr="0">
            <a:noAutofit/>
          </a:bodyPr>
          <a:lstStyle/>
          <a:p>
            <a:pPr algn="l"/>
            <a:r>
              <a:rPr lang="en-US" sz="1200" b="1" spc="200">
                <a:solidFill>
                  <a:schemeClr val="accent1"/>
                </a:solidFill>
              </a:rPr>
              <a:t>IMPLEMENTATION </a:t>
            </a:r>
            <a:r>
              <a:rPr lang="en-US" sz="1200" b="1" spc="200" dirty="0">
                <a:solidFill>
                  <a:schemeClr val="accent1"/>
                </a:solidFill>
              </a:rPr>
              <a:t>· CHALLENGES AND </a:t>
            </a:r>
            <a:r>
              <a:rPr lang="en-US" sz="1200" b="1" spc="200">
                <a:solidFill>
                  <a:schemeClr val="accent1"/>
                </a:solidFill>
              </a:rPr>
              <a:t>RESPONSES</a:t>
            </a:r>
            <a:endParaRPr lang="en-US" sz="1200" b="1" spc="200" dirty="0">
              <a:solidFill>
                <a:schemeClr val="accent1"/>
              </a:solidFill>
            </a:endParaRPr>
          </a:p>
        </p:txBody>
      </p:sp>
      <p:sp>
        <p:nvSpPr>
          <p:cNvPr id="5" name="Lim 1">
            <a:extLst>
              <a:ext uri="{FF2B5EF4-FFF2-40B4-BE49-F238E27FC236}">
                <a16:creationId xmlns:a16="http://schemas.microsoft.com/office/drawing/2014/main" id="{CFC01141-F579-AF29-157B-D00A746304A5}"/>
              </a:ext>
            </a:extLst>
          </p:cNvPr>
          <p:cNvSpPr/>
          <p:nvPr/>
        </p:nvSpPr>
        <p:spPr>
          <a:xfrm>
            <a:off x="341745" y="1837943"/>
            <a:ext cx="5817179" cy="508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txBody>
          <a:bodyPr wrap="square" lIns="152400" tIns="0" rIns="152400" bIns="0" anchor="ctr">
            <a:noAutofit/>
          </a:bodyPr>
          <a:lstStyle/>
          <a:p>
            <a:pPr marL="0" indent="0" algn="l">
              <a:buNone/>
            </a:pPr>
            <a:r>
              <a:rPr lang="en-US" sz="1500" b="1">
                <a:solidFill>
                  <a:srgbClr val="1C1F23"/>
                </a:solidFill>
              </a:rPr>
              <a:t>Missing owners </a:t>
            </a:r>
            <a:r>
              <a:rPr lang="en-US" sz="1500" b="1" dirty="0">
                <a:solidFill>
                  <a:srgbClr val="1C1F23"/>
                </a:solidFill>
              </a:rPr>
              <a:t>and deadlines</a:t>
            </a:r>
            <a:r>
              <a:rPr lang="en-US" sz="1500" b="1">
                <a:solidFill>
                  <a:srgbClr val="1C1F23"/>
                </a:solidFill>
              </a:rPr>
              <a:t> in the discussion</a:t>
            </a:r>
            <a:endParaRPr lang="en-US" sz="1500" b="1" dirty="0">
              <a:solidFill>
                <a:srgbClr val="1C1F23"/>
              </a:solidFill>
            </a:endParaRPr>
          </a:p>
        </p:txBody>
      </p:sp>
      <p:sp>
        <p:nvSpPr>
          <p:cNvPr id="8" name="Arrow 1">
            <a:extLst>
              <a:ext uri="{FF2B5EF4-FFF2-40B4-BE49-F238E27FC236}">
                <a16:creationId xmlns:a16="http://schemas.microsoft.com/office/drawing/2014/main" id="{A00DFF3D-92D5-CD02-DCE4-31AE8DCCE0B9}"/>
              </a:ext>
            </a:extLst>
          </p:cNvPr>
          <p:cNvSpPr/>
          <p:nvPr/>
        </p:nvSpPr>
        <p:spPr>
          <a:xfrm>
            <a:off x="6335576" y="2007107"/>
            <a:ext cx="381000" cy="203200"/>
          </a:xfrm>
          <a:prstGeom prst="rightArrow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wrap="square" lIns="152400" tIns="0" rIns="152400" bIns="0" anchor="ctr">
            <a:noAutofit/>
          </a:bodyPr>
          <a:lstStyle/>
          <a:p>
            <a:endParaRPr lang="en-US"/>
          </a:p>
        </p:txBody>
      </p:sp>
      <p:sp>
        <p:nvSpPr>
          <p:cNvPr id="11" name="Fut 1">
            <a:extLst>
              <a:ext uri="{FF2B5EF4-FFF2-40B4-BE49-F238E27FC236}">
                <a16:creationId xmlns:a16="http://schemas.microsoft.com/office/drawing/2014/main" id="{F6243D64-3D4B-2270-BFAE-7BC59FE7A3C5}"/>
              </a:ext>
            </a:extLst>
          </p:cNvPr>
          <p:cNvSpPr/>
          <p:nvPr/>
        </p:nvSpPr>
        <p:spPr>
          <a:xfrm>
            <a:off x="6716576" y="1854403"/>
            <a:ext cx="5232400" cy="508000"/>
          </a:xfrm>
          <a:prstGeom prst="rect">
            <a:avLst/>
          </a:prstGeom>
          <a:noFill/>
          <a:ln>
            <a:noFill/>
          </a:ln>
        </p:spPr>
        <p:txBody>
          <a:bodyPr wrap="square" lIns="152400" tIns="0" rIns="152400" bIns="0" anchor="ctr">
            <a:noAutofit/>
          </a:bodyPr>
          <a:lstStyle/>
          <a:p>
            <a:pPr marL="0" indent="0" algn="l">
              <a:buNone/>
            </a:pPr>
            <a:r>
              <a:rPr lang="en-US" sz="1500" b="1">
                <a:solidFill>
                  <a:schemeClr val="accent1"/>
                </a:solidFill>
              </a:rPr>
              <a:t>Extraction marks missing details as </a:t>
            </a:r>
            <a:r>
              <a:rPr lang="en-US" sz="1500" b="1" dirty="0">
                <a:solidFill>
                  <a:schemeClr val="accent1"/>
                </a:solidFill>
              </a:rPr>
              <a:t>“Unassigned” or “No deadline”</a:t>
            </a:r>
          </a:p>
        </p:txBody>
      </p:sp>
      <p:sp>
        <p:nvSpPr>
          <p:cNvPr id="15" name="Lim 2">
            <a:extLst>
              <a:ext uri="{FF2B5EF4-FFF2-40B4-BE49-F238E27FC236}">
                <a16:creationId xmlns:a16="http://schemas.microsoft.com/office/drawing/2014/main" id="{9E31AC07-ADB3-931A-FABE-8BC8D294276F}"/>
              </a:ext>
            </a:extLst>
          </p:cNvPr>
          <p:cNvSpPr/>
          <p:nvPr/>
        </p:nvSpPr>
        <p:spPr>
          <a:xfrm>
            <a:off x="341745" y="2551176"/>
            <a:ext cx="5817179" cy="508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txBody>
          <a:bodyPr wrap="square" lIns="152400" tIns="0" rIns="152400" bIns="0" anchor="ctr">
            <a:noAutofit/>
          </a:bodyPr>
          <a:lstStyle/>
          <a:p>
            <a:r>
              <a:rPr lang="en-US" sz="1500" b="1">
                <a:solidFill>
                  <a:srgbClr val="1C1F23"/>
                </a:solidFill>
              </a:rPr>
              <a:t>Duplicate Jira tickets across follow-up </a:t>
            </a:r>
            <a:r>
              <a:rPr lang="en-US" sz="1500" b="1" dirty="0">
                <a:solidFill>
                  <a:srgbClr val="1C1F23"/>
                </a:solidFill>
              </a:rPr>
              <a:t>meetings</a:t>
            </a:r>
          </a:p>
        </p:txBody>
      </p:sp>
      <p:sp>
        <p:nvSpPr>
          <p:cNvPr id="18" name="Arrow 2">
            <a:extLst>
              <a:ext uri="{FF2B5EF4-FFF2-40B4-BE49-F238E27FC236}">
                <a16:creationId xmlns:a16="http://schemas.microsoft.com/office/drawing/2014/main" id="{E8D4C7D4-A385-25AC-E542-DA96B9EFEC1E}"/>
              </a:ext>
            </a:extLst>
          </p:cNvPr>
          <p:cNvSpPr/>
          <p:nvPr/>
        </p:nvSpPr>
        <p:spPr>
          <a:xfrm>
            <a:off x="6335576" y="2720340"/>
            <a:ext cx="381000" cy="203200"/>
          </a:xfrm>
          <a:prstGeom prst="rightArrow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wrap="square" lIns="152400" tIns="0" rIns="152400" bIns="0" anchor="ctr">
            <a:noAutofit/>
          </a:bodyPr>
          <a:lstStyle/>
          <a:p>
            <a:endParaRPr lang="en-US"/>
          </a:p>
        </p:txBody>
      </p:sp>
      <p:sp>
        <p:nvSpPr>
          <p:cNvPr id="21" name="Fut 2">
            <a:extLst>
              <a:ext uri="{FF2B5EF4-FFF2-40B4-BE49-F238E27FC236}">
                <a16:creationId xmlns:a16="http://schemas.microsoft.com/office/drawing/2014/main" id="{C6B3894E-2909-AA19-A77A-B5759D6CF3FC}"/>
              </a:ext>
            </a:extLst>
          </p:cNvPr>
          <p:cNvSpPr/>
          <p:nvPr/>
        </p:nvSpPr>
        <p:spPr>
          <a:xfrm>
            <a:off x="6716576" y="2567635"/>
            <a:ext cx="5232400" cy="508000"/>
          </a:xfrm>
          <a:prstGeom prst="rect">
            <a:avLst/>
          </a:prstGeom>
          <a:noFill/>
          <a:ln>
            <a:noFill/>
          </a:ln>
        </p:spPr>
        <p:txBody>
          <a:bodyPr wrap="square" lIns="152400" tIns="0" rIns="152400" bIns="0" anchor="ctr">
            <a:no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chemeClr val="accent1"/>
                </a:solidFill>
              </a:rPr>
              <a:t>Jira agent searches by title, then updates </a:t>
            </a:r>
            <a:r>
              <a:rPr lang="en-US" sz="1500" b="1">
                <a:solidFill>
                  <a:schemeClr val="accent1"/>
                </a:solidFill>
              </a:rPr>
              <a:t>existing tickets</a:t>
            </a:r>
            <a:endParaRPr lang="en-US" sz="1500" b="1" dirty="0">
              <a:solidFill>
                <a:schemeClr val="accent1"/>
              </a:solidFill>
            </a:endParaRPr>
          </a:p>
        </p:txBody>
      </p:sp>
      <p:sp>
        <p:nvSpPr>
          <p:cNvPr id="41" name="Lim 5">
            <a:extLst>
              <a:ext uri="{FF2B5EF4-FFF2-40B4-BE49-F238E27FC236}">
                <a16:creationId xmlns:a16="http://schemas.microsoft.com/office/drawing/2014/main" id="{46A1EE69-24F6-4EC1-D853-ADAE59E34B31}"/>
              </a:ext>
            </a:extLst>
          </p:cNvPr>
          <p:cNvSpPr/>
          <p:nvPr/>
        </p:nvSpPr>
        <p:spPr>
          <a:xfrm>
            <a:off x="341745" y="3264408"/>
            <a:ext cx="5817179" cy="508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txBody>
          <a:bodyPr wrap="square" lIns="152400" tIns="0" rIns="152400" bIns="0" anchor="ctr">
            <a:noAutofit/>
          </a:bodyPr>
          <a:lstStyle/>
          <a:p>
            <a:r>
              <a:rPr lang="en-US" sz="1500" b="1">
                <a:solidFill>
                  <a:srgbClr val="1C1F23"/>
                </a:solidFill>
              </a:rPr>
              <a:t>Waiting for audio transcription results</a:t>
            </a:r>
          </a:p>
        </p:txBody>
      </p:sp>
      <p:sp>
        <p:nvSpPr>
          <p:cNvPr id="43" name="Arrow 5">
            <a:extLst>
              <a:ext uri="{FF2B5EF4-FFF2-40B4-BE49-F238E27FC236}">
                <a16:creationId xmlns:a16="http://schemas.microsoft.com/office/drawing/2014/main" id="{DAFC2CB8-855D-05C0-C85E-C5FBDDB34ABE}"/>
              </a:ext>
            </a:extLst>
          </p:cNvPr>
          <p:cNvSpPr/>
          <p:nvPr/>
        </p:nvSpPr>
        <p:spPr>
          <a:xfrm>
            <a:off x="6335576" y="3433572"/>
            <a:ext cx="381000" cy="203200"/>
          </a:xfrm>
          <a:prstGeom prst="rightArrow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wrap="square" lIns="152400" tIns="0" rIns="152400" bIns="0" anchor="ctr">
            <a:noAutofit/>
          </a:bodyPr>
          <a:lstStyle/>
          <a:p>
            <a:endParaRPr lang="en-US"/>
          </a:p>
        </p:txBody>
      </p:sp>
      <p:sp>
        <p:nvSpPr>
          <p:cNvPr id="45" name="Fut 5">
            <a:extLst>
              <a:ext uri="{FF2B5EF4-FFF2-40B4-BE49-F238E27FC236}">
                <a16:creationId xmlns:a16="http://schemas.microsoft.com/office/drawing/2014/main" id="{D4DF5F0A-8116-D4AF-5638-BE3F3758D097}"/>
              </a:ext>
            </a:extLst>
          </p:cNvPr>
          <p:cNvSpPr/>
          <p:nvPr/>
        </p:nvSpPr>
        <p:spPr>
          <a:xfrm>
            <a:off x="6716576" y="3280867"/>
            <a:ext cx="5232400" cy="508000"/>
          </a:xfrm>
          <a:prstGeom prst="rect">
            <a:avLst/>
          </a:prstGeom>
          <a:noFill/>
          <a:ln>
            <a:noFill/>
          </a:ln>
        </p:spPr>
        <p:txBody>
          <a:bodyPr wrap="square" lIns="152400" tIns="0" rIns="152400" bIns="0" anchor="ctr">
            <a:noAutofit/>
          </a:bodyPr>
          <a:lstStyle/>
          <a:p>
            <a:pPr marL="0" indent="0" algn="l">
              <a:buNone/>
            </a:pPr>
            <a:r>
              <a:rPr lang="en-US" sz="1500" b="1">
                <a:solidFill>
                  <a:schemeClr val="accent1"/>
                </a:solidFill>
              </a:rPr>
              <a:t>Poll AssemblyAI every 15 seconds for completion</a:t>
            </a:r>
            <a:endParaRPr lang="en-US" sz="1500" b="1" dirty="0">
              <a:solidFill>
                <a:schemeClr val="accent1"/>
              </a:solidFill>
            </a:endParaRPr>
          </a:p>
        </p:txBody>
      </p:sp>
      <p:sp>
        <p:nvSpPr>
          <p:cNvPr id="53" name="Also">
            <a:extLst>
              <a:ext uri="{FF2B5EF4-FFF2-40B4-BE49-F238E27FC236}">
                <a16:creationId xmlns:a16="http://schemas.microsoft.com/office/drawing/2014/main" id="{2F65597F-781E-3EEA-E07E-5C0195970830}"/>
              </a:ext>
            </a:extLst>
          </p:cNvPr>
          <p:cNvSpPr/>
          <p:nvPr/>
        </p:nvSpPr>
        <p:spPr>
          <a:xfrm>
            <a:off x="408130" y="5590310"/>
            <a:ext cx="11432887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r>
              <a:rPr lang="en-US" sz="1400" dirty="0">
                <a:solidFill>
                  <a:srgbClr val="4B5563"/>
                </a:solidFill>
              </a:rPr>
              <a:t>Design choices: Jira </a:t>
            </a:r>
            <a:r>
              <a:rPr lang="en-US" sz="1400">
                <a:solidFill>
                  <a:srgbClr val="4B5563"/>
                </a:solidFill>
              </a:rPr>
              <a:t>holds </a:t>
            </a:r>
            <a:r>
              <a:rPr lang="en-US" sz="1400" dirty="0">
                <a:solidFill>
                  <a:srgbClr val="4B5563"/>
                </a:solidFill>
              </a:rPr>
              <a:t>the </a:t>
            </a:r>
            <a:r>
              <a:rPr lang="en-US" sz="1400">
                <a:solidFill>
                  <a:srgbClr val="4B5563"/>
                </a:solidFill>
              </a:rPr>
              <a:t>tracked </a:t>
            </a:r>
            <a:r>
              <a:rPr lang="en-US" sz="1400" dirty="0">
                <a:solidFill>
                  <a:srgbClr val="4B5563"/>
                </a:solidFill>
              </a:rPr>
              <a:t>tasks</a:t>
            </a:r>
            <a:r>
              <a:rPr lang="en-US" sz="1400">
                <a:solidFill>
                  <a:srgbClr val="4B5563"/>
                </a:solidFill>
              </a:rPr>
              <a:t>. The workflow runs</a:t>
            </a:r>
            <a:r>
              <a:rPr lang="en-US" sz="1400" dirty="0">
                <a:solidFill>
                  <a:srgbClr val="4B5563"/>
                </a:solidFill>
              </a:rPr>
              <a:t> Jira </a:t>
            </a:r>
            <a:r>
              <a:rPr lang="en-US" sz="1400">
                <a:solidFill>
                  <a:srgbClr val="4B5563"/>
                </a:solidFill>
              </a:rPr>
              <a:t>and </a:t>
            </a:r>
            <a:r>
              <a:rPr lang="en-US" sz="1400" dirty="0">
                <a:solidFill>
                  <a:srgbClr val="4B5563"/>
                </a:solidFill>
              </a:rPr>
              <a:t>Calendar </a:t>
            </a:r>
            <a:r>
              <a:rPr lang="en-US" sz="1400">
                <a:solidFill>
                  <a:srgbClr val="4B5563"/>
                </a:solidFill>
              </a:rPr>
              <a:t>before the email step </a:t>
            </a:r>
            <a:r>
              <a:rPr lang="en-US" sz="1400" dirty="0">
                <a:solidFill>
                  <a:srgbClr val="4B5563"/>
                </a:solidFill>
              </a:rPr>
              <a:t>so the </a:t>
            </a:r>
            <a:r>
              <a:rPr lang="en-US" sz="1400">
                <a:solidFill>
                  <a:srgbClr val="4B5563"/>
                </a:solidFill>
              </a:rPr>
              <a:t>summary </a:t>
            </a:r>
            <a:r>
              <a:rPr lang="en-US" sz="1400" dirty="0">
                <a:solidFill>
                  <a:srgbClr val="4B5563"/>
                </a:solidFill>
              </a:rPr>
              <a:t>can </a:t>
            </a:r>
            <a:r>
              <a:rPr lang="en-US" sz="1400">
                <a:solidFill>
                  <a:srgbClr val="4B5563"/>
                </a:solidFill>
              </a:rPr>
              <a:t>include the </a:t>
            </a:r>
            <a:r>
              <a:rPr lang="en-US" sz="1400" dirty="0">
                <a:solidFill>
                  <a:srgbClr val="4B5563"/>
                </a:solidFill>
              </a:rPr>
              <a:t>created</a:t>
            </a:r>
            <a:r>
              <a:rPr lang="en-US" sz="1400">
                <a:solidFill>
                  <a:srgbClr val="4B5563"/>
                </a:solidFill>
              </a:rPr>
              <a:t> tickets and events</a:t>
            </a:r>
            <a:r>
              <a:rPr lang="en-US" sz="1400" dirty="0">
                <a:solidFill>
                  <a:srgbClr val="4B5563"/>
                </a:solidFill>
              </a:rPr>
              <a:t>.</a:t>
            </a:r>
          </a:p>
        </p:txBody>
      </p:sp>
      <p:sp>
        <p:nvSpPr>
          <p:cNvPr id="57" name="Lim Label">
            <a:extLst>
              <a:ext uri="{FF2B5EF4-FFF2-40B4-BE49-F238E27FC236}">
                <a16:creationId xmlns:a16="http://schemas.microsoft.com/office/drawing/2014/main" id="{38E1A20A-80E3-8033-BCBE-EB2D517FA514}"/>
              </a:ext>
            </a:extLst>
          </p:cNvPr>
          <p:cNvSpPr/>
          <p:nvPr/>
        </p:nvSpPr>
        <p:spPr>
          <a:xfrm>
            <a:off x="228591" y="1387477"/>
            <a:ext cx="5080000" cy="304800"/>
          </a:xfrm>
          <a:prstGeom prst="rect">
            <a:avLst/>
          </a:prstGeom>
          <a:noFill/>
          <a:ln>
            <a:noFill/>
          </a:ln>
        </p:spPr>
        <p:txBody>
          <a:bodyPr wrap="square" lIns="152400" tIns="0" rIns="152400" bIns="0" anchor="b">
            <a:noAutofit/>
          </a:bodyPr>
          <a:lstStyle/>
          <a:p>
            <a:pPr marL="0" indent="0" algn="l">
              <a:buNone/>
            </a:pPr>
            <a:r>
              <a:rPr lang="en-US" sz="1300" b="1">
                <a:solidFill>
                  <a:schemeClr val="accent1">
                    <a:lumMod val="50000"/>
                  </a:schemeClr>
                </a:solidFill>
              </a:rPr>
              <a:t>IMPLEMENTATION </a:t>
            </a:r>
            <a:r>
              <a:rPr lang="en-US" sz="1300" b="1" dirty="0">
                <a:solidFill>
                  <a:schemeClr val="accent1">
                    <a:lumMod val="50000"/>
                  </a:schemeClr>
                </a:solidFill>
              </a:rPr>
              <a:t>CHALLENGE</a:t>
            </a:r>
          </a:p>
        </p:txBody>
      </p:sp>
      <p:sp>
        <p:nvSpPr>
          <p:cNvPr id="59" name="Fut Label">
            <a:extLst>
              <a:ext uri="{FF2B5EF4-FFF2-40B4-BE49-F238E27FC236}">
                <a16:creationId xmlns:a16="http://schemas.microsoft.com/office/drawing/2014/main" id="{1591DEBC-0D84-A806-F6A1-1D0DBCCCB6B2}"/>
              </a:ext>
            </a:extLst>
          </p:cNvPr>
          <p:cNvSpPr/>
          <p:nvPr/>
        </p:nvSpPr>
        <p:spPr>
          <a:xfrm>
            <a:off x="6862618" y="1387477"/>
            <a:ext cx="4592204" cy="304800"/>
          </a:xfrm>
          <a:prstGeom prst="rect">
            <a:avLst/>
          </a:prstGeom>
          <a:noFill/>
          <a:ln>
            <a:noFill/>
          </a:ln>
        </p:spPr>
        <p:txBody>
          <a:bodyPr wrap="square" lIns="152400" tIns="0" rIns="152400" bIns="0" anchor="b">
            <a:noAutofit/>
          </a:bodyPr>
          <a:lstStyle/>
          <a:p>
            <a:r>
              <a:rPr lang="en-US" sz="1300" b="1">
                <a:solidFill>
                  <a:schemeClr val="accent1"/>
                </a:solidFill>
              </a:rPr>
              <a:t>DESIGN RESPONSE</a:t>
            </a:r>
            <a:endParaRPr lang="en-US" sz="1300" b="1" dirty="0">
              <a:solidFill>
                <a:schemeClr val="accent1"/>
              </a:solidFill>
            </a:endParaRPr>
          </a:p>
        </p:txBody>
      </p:sp>
      <p:sp>
        <p:nvSpPr>
          <p:cNvPr id="60" name="Challenge row 60">
            <a:extLst>
              <a:ext uri="{FF2B5EF4-FFF2-40B4-BE49-F238E27FC236}">
                <a16:creationId xmlns:a16="http://schemas.microsoft.com/office/drawing/2014/main" id="{CFC01141-F579-AF29-157B-D00A746304A5}"/>
              </a:ext>
            </a:extLst>
          </p:cNvPr>
          <p:cNvSpPr/>
          <p:nvPr/>
        </p:nvSpPr>
        <p:spPr>
          <a:xfrm>
            <a:off x="341745" y="3977639"/>
            <a:ext cx="5817179" cy="508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txBody>
          <a:bodyPr wrap="square" lIns="152400" tIns="0" rIns="152400" bIns="0" anchor="ctr">
            <a:noAutofit/>
          </a:bodyPr>
          <a:lstStyle/>
          <a:p>
            <a:pPr marL="0" indent="0" algn="l">
              <a:buNone/>
            </a:pPr>
            <a:r>
              <a:rPr lang="en-US" sz="1500" b="1">
                <a:solidFill>
                  <a:srgbClr val="1C1F23"/>
                </a:solidFill>
              </a:rPr>
              <a:t>Scattered meeting records</a:t>
            </a:r>
          </a:p>
        </p:txBody>
      </p:sp>
      <p:sp>
        <p:nvSpPr>
          <p:cNvPr id="61" name="Challenge row 61">
            <a:extLst>
              <a:ext uri="{FF2B5EF4-FFF2-40B4-BE49-F238E27FC236}">
                <a16:creationId xmlns:a16="http://schemas.microsoft.com/office/drawing/2014/main" id="{A00DFF3D-92D5-CD02-DCE4-31AE8DCCE0B9}"/>
              </a:ext>
            </a:extLst>
          </p:cNvPr>
          <p:cNvSpPr/>
          <p:nvPr/>
        </p:nvSpPr>
        <p:spPr>
          <a:xfrm>
            <a:off x="6335576" y="4146803"/>
            <a:ext cx="381000" cy="203200"/>
          </a:xfrm>
          <a:prstGeom prst="rightArrow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wrap="square" lIns="152400" tIns="0" rIns="152400" bIns="0" anchor="ctr">
            <a:noAutofit/>
          </a:bodyPr>
          <a:lstStyle/>
          <a:p>
            <a:endParaRPr lang="en-US"/>
          </a:p>
        </p:txBody>
      </p:sp>
      <p:sp>
        <p:nvSpPr>
          <p:cNvPr id="62" name="Challenge row 62">
            <a:extLst>
              <a:ext uri="{FF2B5EF4-FFF2-40B4-BE49-F238E27FC236}">
                <a16:creationId xmlns:a16="http://schemas.microsoft.com/office/drawing/2014/main" id="{F6243D64-3D4B-2270-BFAE-7BC59FE7A3C5}"/>
              </a:ext>
            </a:extLst>
          </p:cNvPr>
          <p:cNvSpPr/>
          <p:nvPr/>
        </p:nvSpPr>
        <p:spPr>
          <a:xfrm>
            <a:off x="6716576" y="3994099"/>
            <a:ext cx="5232400" cy="508000"/>
          </a:xfrm>
          <a:prstGeom prst="rect">
            <a:avLst/>
          </a:prstGeom>
          <a:noFill/>
          <a:ln>
            <a:noFill/>
          </a:ln>
        </p:spPr>
        <p:txBody>
          <a:bodyPr wrap="square" lIns="152400" tIns="0" rIns="152400" bIns="0" anchor="ctr">
            <a:noAutofit/>
          </a:bodyPr>
          <a:lstStyle/>
          <a:p>
            <a:pPr marL="0" indent="0" algn="l">
              <a:buNone/>
            </a:pPr>
            <a:r>
              <a:rPr lang="en-US" sz="1500" b="1">
                <a:solidFill>
                  <a:schemeClr val="accent1"/>
                </a:solidFill>
              </a:rPr>
              <a:t>Create Google Docs notes and email the summary</a:t>
            </a:r>
          </a:p>
        </p:txBody>
      </p:sp>
      <p:sp>
        <p:nvSpPr>
          <p:cNvPr id="63" name="Challenge row 63">
            <a:extLst>
              <a:ext uri="{FF2B5EF4-FFF2-40B4-BE49-F238E27FC236}">
                <a16:creationId xmlns:a16="http://schemas.microsoft.com/office/drawing/2014/main" id="{CFC01141-F579-AF29-157B-D00A746304A5}"/>
              </a:ext>
            </a:extLst>
          </p:cNvPr>
          <p:cNvSpPr/>
          <p:nvPr/>
        </p:nvSpPr>
        <p:spPr>
          <a:xfrm>
            <a:off x="341745" y="4690872"/>
            <a:ext cx="5817179" cy="508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txBody>
          <a:bodyPr wrap="square" lIns="152400" tIns="0" rIns="152400" bIns="0" anchor="ctr">
            <a:noAutofit/>
          </a:bodyPr>
          <a:lstStyle/>
          <a:p>
            <a:pPr marL="0" indent="0" algn="l">
              <a:buNone/>
            </a:pPr>
            <a:r>
              <a:rPr lang="en-US" sz="1500" b="1">
                <a:solidFill>
                  <a:srgbClr val="1C1F23"/>
                </a:solidFill>
              </a:rPr>
              <a:t>Including ticket and event links in the summary</a:t>
            </a:r>
          </a:p>
        </p:txBody>
      </p:sp>
      <p:sp>
        <p:nvSpPr>
          <p:cNvPr id="64" name="Challenge row 64">
            <a:extLst>
              <a:ext uri="{FF2B5EF4-FFF2-40B4-BE49-F238E27FC236}">
                <a16:creationId xmlns:a16="http://schemas.microsoft.com/office/drawing/2014/main" id="{A00DFF3D-92D5-CD02-DCE4-31AE8DCCE0B9}"/>
              </a:ext>
            </a:extLst>
          </p:cNvPr>
          <p:cNvSpPr/>
          <p:nvPr/>
        </p:nvSpPr>
        <p:spPr>
          <a:xfrm>
            <a:off x="6335576" y="4860036"/>
            <a:ext cx="381000" cy="203200"/>
          </a:xfrm>
          <a:prstGeom prst="rightArrow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wrap="square" lIns="152400" tIns="0" rIns="152400" bIns="0" anchor="ctr">
            <a:noAutofit/>
          </a:bodyPr>
          <a:lstStyle/>
          <a:p>
            <a:endParaRPr lang="en-US"/>
          </a:p>
        </p:txBody>
      </p:sp>
      <p:sp>
        <p:nvSpPr>
          <p:cNvPr id="65" name="Challenge row 65">
            <a:extLst>
              <a:ext uri="{FF2B5EF4-FFF2-40B4-BE49-F238E27FC236}">
                <a16:creationId xmlns:a16="http://schemas.microsoft.com/office/drawing/2014/main" id="{F6243D64-3D4B-2270-BFAE-7BC59FE7A3C5}"/>
              </a:ext>
            </a:extLst>
          </p:cNvPr>
          <p:cNvSpPr/>
          <p:nvPr/>
        </p:nvSpPr>
        <p:spPr>
          <a:xfrm>
            <a:off x="6716576" y="4707331"/>
            <a:ext cx="5232400" cy="508000"/>
          </a:xfrm>
          <a:prstGeom prst="rect">
            <a:avLst/>
          </a:prstGeom>
          <a:noFill/>
          <a:ln>
            <a:noFill/>
          </a:ln>
        </p:spPr>
        <p:txBody>
          <a:bodyPr wrap="square" lIns="152400" tIns="0" rIns="152400" bIns="0" anchor="ctr">
            <a:noAutofit/>
          </a:bodyPr>
          <a:lstStyle/>
          <a:p>
            <a:pPr marL="0" indent="0" algn="l">
              <a:buNone/>
            </a:pPr>
            <a:r>
              <a:rPr lang="en-US" sz="1500" b="1">
                <a:solidFill>
                  <a:schemeClr val="accent1"/>
                </a:solidFill>
              </a:rPr>
              <a:t>Run Jira and Calendar before sending the summary email</a:t>
            </a:r>
          </a:p>
        </p:txBody>
      </p:sp>
    </p:spTree>
    <p:extLst>
      <p:ext uri="{BB962C8B-B14F-4D97-AF65-F5344CB8AC3E}">
        <p14:creationId xmlns:p14="http://schemas.microsoft.com/office/powerpoint/2010/main" val="26537166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535D2F-F29B-D73E-41AC-BE4AAFE91C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86CDE1B-8386-5EB7-1323-4DB0C08CA466}"/>
              </a:ext>
            </a:extLst>
          </p:cNvPr>
          <p:cNvSpPr txBox="1">
            <a:spLocks/>
          </p:cNvSpPr>
          <p:nvPr/>
        </p:nvSpPr>
        <p:spPr>
          <a:xfrm>
            <a:off x="341745" y="249382"/>
            <a:ext cx="10344728" cy="50626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000" dirty="0">
                <a:solidFill>
                  <a:schemeClr val="accent1"/>
                </a:solidFill>
                <a:latin typeface="Graphik Black" panose="020B0A03030202060203" pitchFamily="34" charset="0"/>
              </a:rPr>
              <a:t>What’s next: smarter, sharper, self-checking</a:t>
            </a:r>
          </a:p>
        </p:txBody>
      </p:sp>
      <p:sp>
        <p:nvSpPr>
          <p:cNvPr id="3" name="Guideline Label">
            <a:extLst>
              <a:ext uri="{FF2B5EF4-FFF2-40B4-BE49-F238E27FC236}">
                <a16:creationId xmlns:a16="http://schemas.microsoft.com/office/drawing/2014/main" id="{B9D9D274-05FE-20FF-8E84-6AE661990577}"/>
              </a:ext>
            </a:extLst>
          </p:cNvPr>
          <p:cNvSpPr txBox="1"/>
          <p:nvPr/>
        </p:nvSpPr>
        <p:spPr>
          <a:xfrm>
            <a:off x="482022" y="916710"/>
            <a:ext cx="6380596" cy="254000"/>
          </a:xfrm>
          <a:prstGeom prst="rect">
            <a:avLst/>
          </a:prstGeom>
          <a:noFill/>
        </p:spPr>
        <p:txBody>
          <a:bodyPr vertOverflow="overflow" vert="horz" wrap="square" lIns="0" tIns="0" bIns="0" rtlCol="0" anchor="t" anchorCtr="0">
            <a:noAutofit/>
          </a:bodyPr>
          <a:lstStyle/>
          <a:p>
            <a:r>
              <a:rPr lang="en-US" sz="1200" b="1" spc="200" dirty="0">
                <a:solidFill>
                  <a:schemeClr val="accent1"/>
                </a:solidFill>
              </a:rPr>
              <a:t>FUTURE SCOPE</a:t>
            </a:r>
          </a:p>
        </p:txBody>
      </p:sp>
      <p:sp>
        <p:nvSpPr>
          <p:cNvPr id="6" name="Card 1">
            <a:extLst>
              <a:ext uri="{FF2B5EF4-FFF2-40B4-BE49-F238E27FC236}">
                <a16:creationId xmlns:a16="http://schemas.microsoft.com/office/drawing/2014/main" id="{A8584D1E-25C9-E80C-A1A1-3E067D371D5B}"/>
              </a:ext>
            </a:extLst>
          </p:cNvPr>
          <p:cNvSpPr/>
          <p:nvPr/>
        </p:nvSpPr>
        <p:spPr>
          <a:xfrm>
            <a:off x="482022" y="1528618"/>
            <a:ext cx="3454400" cy="2057400"/>
          </a:xfrm>
          <a:prstGeom prst="rect">
            <a:avLst/>
          </a:prstGeom>
          <a:solidFill>
            <a:srgbClr val="FFFFFF"/>
          </a:solidFill>
          <a:ln w="9525">
            <a:solidFill>
              <a:srgbClr val="E0DDD6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9" name="Card Text 1">
            <a:extLst>
              <a:ext uri="{FF2B5EF4-FFF2-40B4-BE49-F238E27FC236}">
                <a16:creationId xmlns:a16="http://schemas.microsoft.com/office/drawing/2014/main" id="{C06003BC-A34A-AE2F-E726-0D9843752E8E}"/>
              </a:ext>
            </a:extLst>
          </p:cNvPr>
          <p:cNvSpPr/>
          <p:nvPr/>
        </p:nvSpPr>
        <p:spPr>
          <a:xfrm>
            <a:off x="710622" y="2290618"/>
            <a:ext cx="2997200" cy="1219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6B7280"/>
                </a:solidFill>
              </a:rPr>
              <a:t>CAPTURE</a:t>
            </a:r>
          </a:p>
          <a:p>
            <a:pPr marL="0" indent="0" algn="l">
              <a:spcBef>
                <a:spcPts val="200"/>
              </a:spcBef>
              <a:buNone/>
            </a:pPr>
            <a:r>
              <a:rPr lang="en-US" sz="1600" b="1" dirty="0">
                <a:solidFill>
                  <a:schemeClr val="accent1"/>
                </a:solidFill>
              </a:rPr>
              <a:t>Zoom, Teams, Meet capture</a:t>
            </a:r>
          </a:p>
          <a:p>
            <a:pPr marL="0" indent="0" algn="l">
              <a:spcBef>
                <a:spcPts val="300"/>
              </a:spcBef>
              <a:buNone/>
            </a:pPr>
            <a:r>
              <a:rPr lang="en-US" sz="1400" dirty="0">
                <a:solidFill>
                  <a:srgbClr val="4B5563"/>
                </a:solidFill>
              </a:rPr>
              <a:t>Pull recordings in automatically instead of uploading by hand</a:t>
            </a:r>
          </a:p>
        </p:txBody>
      </p:sp>
      <p:sp>
        <p:nvSpPr>
          <p:cNvPr id="12" name="Card 2">
            <a:extLst>
              <a:ext uri="{FF2B5EF4-FFF2-40B4-BE49-F238E27FC236}">
                <a16:creationId xmlns:a16="http://schemas.microsoft.com/office/drawing/2014/main" id="{D2014739-4F08-A3A1-D1A1-8532E2385EEC}"/>
              </a:ext>
            </a:extLst>
          </p:cNvPr>
          <p:cNvSpPr/>
          <p:nvPr/>
        </p:nvSpPr>
        <p:spPr>
          <a:xfrm>
            <a:off x="4241222" y="1528618"/>
            <a:ext cx="3454400" cy="2057400"/>
          </a:xfrm>
          <a:prstGeom prst="rect">
            <a:avLst/>
          </a:prstGeom>
          <a:solidFill>
            <a:srgbClr val="FFFFFF"/>
          </a:solidFill>
          <a:ln w="9525">
            <a:solidFill>
              <a:srgbClr val="E0DDD6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14" name="Card Text 2">
            <a:extLst>
              <a:ext uri="{FF2B5EF4-FFF2-40B4-BE49-F238E27FC236}">
                <a16:creationId xmlns:a16="http://schemas.microsoft.com/office/drawing/2014/main" id="{DB474A04-C69A-C483-6C22-E54067EF81D4}"/>
              </a:ext>
            </a:extLst>
          </p:cNvPr>
          <p:cNvSpPr/>
          <p:nvPr/>
        </p:nvSpPr>
        <p:spPr>
          <a:xfrm>
            <a:off x="4469822" y="2290618"/>
            <a:ext cx="2997200" cy="1219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6B7280"/>
                </a:solidFill>
              </a:rPr>
              <a:t>CAPTURE</a:t>
            </a:r>
          </a:p>
          <a:p>
            <a:pPr marL="0" indent="0" algn="l">
              <a:spcBef>
                <a:spcPts val="200"/>
              </a:spcBef>
              <a:buNone/>
            </a:pPr>
            <a:r>
              <a:rPr lang="en-US" sz="1600" b="1" dirty="0">
                <a:solidFill>
                  <a:schemeClr val="accent1"/>
                </a:solidFill>
              </a:rPr>
              <a:t>Multilingual support</a:t>
            </a:r>
          </a:p>
          <a:p>
            <a:pPr marL="0" indent="0" algn="l">
              <a:spcBef>
                <a:spcPts val="300"/>
              </a:spcBef>
              <a:buNone/>
            </a:pPr>
            <a:r>
              <a:rPr lang="en-US" sz="1400" dirty="0">
                <a:solidFill>
                  <a:srgbClr val="4B5563"/>
                </a:solidFill>
              </a:rPr>
              <a:t>Transcription and extraction for meetings held in other languages</a:t>
            </a:r>
          </a:p>
        </p:txBody>
      </p:sp>
      <p:sp>
        <p:nvSpPr>
          <p:cNvPr id="17" name="Card 3">
            <a:extLst>
              <a:ext uri="{FF2B5EF4-FFF2-40B4-BE49-F238E27FC236}">
                <a16:creationId xmlns:a16="http://schemas.microsoft.com/office/drawing/2014/main" id="{5A888E34-109A-466E-23F1-283BBB920F6C}"/>
              </a:ext>
            </a:extLst>
          </p:cNvPr>
          <p:cNvSpPr/>
          <p:nvPr/>
        </p:nvSpPr>
        <p:spPr>
          <a:xfrm>
            <a:off x="8000422" y="1528618"/>
            <a:ext cx="3454400" cy="2057400"/>
          </a:xfrm>
          <a:prstGeom prst="rect">
            <a:avLst/>
          </a:prstGeom>
          <a:solidFill>
            <a:srgbClr val="FFFFFF"/>
          </a:solidFill>
          <a:ln w="9525">
            <a:solidFill>
              <a:srgbClr val="E0DDD6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20" name="Card Text 3">
            <a:extLst>
              <a:ext uri="{FF2B5EF4-FFF2-40B4-BE49-F238E27FC236}">
                <a16:creationId xmlns:a16="http://schemas.microsoft.com/office/drawing/2014/main" id="{C13F7754-AB30-6A96-40A2-A018EB6AFD93}"/>
              </a:ext>
            </a:extLst>
          </p:cNvPr>
          <p:cNvSpPr/>
          <p:nvPr/>
        </p:nvSpPr>
        <p:spPr>
          <a:xfrm>
            <a:off x="8229022" y="2290618"/>
            <a:ext cx="2997200" cy="1219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6B7280"/>
                </a:solidFill>
              </a:rPr>
              <a:t>ACCURACY</a:t>
            </a:r>
          </a:p>
          <a:p>
            <a:pPr marL="0" indent="0" algn="l">
              <a:spcBef>
                <a:spcPts val="200"/>
              </a:spcBef>
              <a:buNone/>
            </a:pPr>
            <a:r>
              <a:rPr lang="en-US" sz="1600" b="1" dirty="0">
                <a:solidFill>
                  <a:schemeClr val="accent1"/>
                </a:solidFill>
              </a:rPr>
              <a:t>Speaker names, not labels</a:t>
            </a:r>
          </a:p>
          <a:p>
            <a:pPr marL="0" indent="0" algn="l">
              <a:spcBef>
                <a:spcPts val="300"/>
              </a:spcBef>
              <a:buNone/>
            </a:pPr>
            <a:r>
              <a:rPr lang="en-US" sz="1400" dirty="0">
                <a:solidFill>
                  <a:srgbClr val="4B5563"/>
                </a:solidFill>
              </a:rPr>
              <a:t>Map “Speaker A” labels to participant names</a:t>
            </a:r>
          </a:p>
        </p:txBody>
      </p:sp>
      <p:sp>
        <p:nvSpPr>
          <p:cNvPr id="23" name="Card 4">
            <a:extLst>
              <a:ext uri="{FF2B5EF4-FFF2-40B4-BE49-F238E27FC236}">
                <a16:creationId xmlns:a16="http://schemas.microsoft.com/office/drawing/2014/main" id="{C7F4356B-DD08-B1D9-2717-E5B4F13BC067}"/>
              </a:ext>
            </a:extLst>
          </p:cNvPr>
          <p:cNvSpPr/>
          <p:nvPr/>
        </p:nvSpPr>
        <p:spPr>
          <a:xfrm>
            <a:off x="482022" y="3763818"/>
            <a:ext cx="3454400" cy="2057400"/>
          </a:xfrm>
          <a:prstGeom prst="rect">
            <a:avLst/>
          </a:prstGeom>
          <a:solidFill>
            <a:srgbClr val="FFFFFF"/>
          </a:solidFill>
          <a:ln w="9525">
            <a:solidFill>
              <a:srgbClr val="E0DDD6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26" name="Card Text 4">
            <a:extLst>
              <a:ext uri="{FF2B5EF4-FFF2-40B4-BE49-F238E27FC236}">
                <a16:creationId xmlns:a16="http://schemas.microsoft.com/office/drawing/2014/main" id="{F00F5565-049E-CC91-8927-06C337D76630}"/>
              </a:ext>
            </a:extLst>
          </p:cNvPr>
          <p:cNvSpPr/>
          <p:nvPr/>
        </p:nvSpPr>
        <p:spPr>
          <a:xfrm>
            <a:off x="710622" y="4525818"/>
            <a:ext cx="2997200" cy="1219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6B7280"/>
                </a:solidFill>
              </a:rPr>
              <a:t>ACCURACY</a:t>
            </a:r>
          </a:p>
          <a:p>
            <a:pPr marL="0" indent="0" algn="l">
              <a:spcBef>
                <a:spcPts val="200"/>
              </a:spcBef>
              <a:buNone/>
            </a:pPr>
            <a:r>
              <a:rPr lang="en-US" sz="1600" b="1" dirty="0">
                <a:solidFill>
                  <a:schemeClr val="accent1"/>
                </a:solidFill>
              </a:rPr>
              <a:t>Stricter assignee matching</a:t>
            </a:r>
          </a:p>
          <a:p>
            <a:pPr marL="0" indent="0" algn="l">
              <a:spcBef>
                <a:spcPts val="300"/>
              </a:spcBef>
              <a:buNone/>
            </a:pPr>
            <a:r>
              <a:rPr lang="en-US" sz="1400" dirty="0">
                <a:solidFill>
                  <a:srgbClr val="4B5563"/>
                </a:solidFill>
              </a:rPr>
              <a:t>Match Jira users by email; ask for confirmation when a match is ambiguous</a:t>
            </a:r>
          </a:p>
        </p:txBody>
      </p:sp>
      <p:sp>
        <p:nvSpPr>
          <p:cNvPr id="30" name="Card 5">
            <a:extLst>
              <a:ext uri="{FF2B5EF4-FFF2-40B4-BE49-F238E27FC236}">
                <a16:creationId xmlns:a16="http://schemas.microsoft.com/office/drawing/2014/main" id="{D2E98F75-7941-514D-75D8-9B7C4ECD2FBC}"/>
              </a:ext>
            </a:extLst>
          </p:cNvPr>
          <p:cNvSpPr/>
          <p:nvPr/>
        </p:nvSpPr>
        <p:spPr>
          <a:xfrm>
            <a:off x="4241222" y="3763818"/>
            <a:ext cx="3454400" cy="2057400"/>
          </a:xfrm>
          <a:prstGeom prst="rect">
            <a:avLst/>
          </a:prstGeom>
          <a:solidFill>
            <a:srgbClr val="FFFFFF"/>
          </a:solidFill>
          <a:ln w="9525">
            <a:solidFill>
              <a:srgbClr val="E0DDD6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33" name="Card Text 5">
            <a:extLst>
              <a:ext uri="{FF2B5EF4-FFF2-40B4-BE49-F238E27FC236}">
                <a16:creationId xmlns:a16="http://schemas.microsoft.com/office/drawing/2014/main" id="{03B0E339-0895-CB1D-20DD-EE6117286B55}"/>
              </a:ext>
            </a:extLst>
          </p:cNvPr>
          <p:cNvSpPr/>
          <p:nvPr/>
        </p:nvSpPr>
        <p:spPr>
          <a:xfrm>
            <a:off x="4469822" y="4525818"/>
            <a:ext cx="2997200" cy="1219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6B7280"/>
                </a:solidFill>
              </a:rPr>
              <a:t>ACCURACY</a:t>
            </a:r>
          </a:p>
          <a:p>
            <a:pPr marL="0" indent="0" algn="l">
              <a:spcBef>
                <a:spcPts val="200"/>
              </a:spcBef>
              <a:buNone/>
            </a:pPr>
            <a:r>
              <a:rPr lang="en-US" sz="1600" b="1" dirty="0">
                <a:solidFill>
                  <a:schemeClr val="accent1"/>
                </a:solidFill>
              </a:rPr>
              <a:t>Actual meeting date</a:t>
            </a:r>
          </a:p>
          <a:p>
            <a:pPr marL="0" indent="0" algn="l">
              <a:spcBef>
                <a:spcPts val="300"/>
              </a:spcBef>
              <a:buNone/>
            </a:pPr>
            <a:r>
              <a:rPr lang="en-US" sz="1400" dirty="0">
                <a:solidFill>
                  <a:srgbClr val="4B5563"/>
                </a:solidFill>
              </a:rPr>
              <a:t>Default the start date to the meeting date, not the form submission date</a:t>
            </a:r>
          </a:p>
        </p:txBody>
      </p:sp>
      <p:sp>
        <p:nvSpPr>
          <p:cNvPr id="36" name="Card 6">
            <a:extLst>
              <a:ext uri="{FF2B5EF4-FFF2-40B4-BE49-F238E27FC236}">
                <a16:creationId xmlns:a16="http://schemas.microsoft.com/office/drawing/2014/main" id="{C18A82A9-26E4-7DA9-CEB5-C2C9D5D7D27A}"/>
              </a:ext>
            </a:extLst>
          </p:cNvPr>
          <p:cNvSpPr/>
          <p:nvPr/>
        </p:nvSpPr>
        <p:spPr>
          <a:xfrm>
            <a:off x="8000422" y="3763818"/>
            <a:ext cx="3454400" cy="2057400"/>
          </a:xfrm>
          <a:prstGeom prst="rect">
            <a:avLst/>
          </a:prstGeom>
          <a:solidFill>
            <a:srgbClr val="FFFFFF"/>
          </a:solidFill>
          <a:ln w="9525">
            <a:solidFill>
              <a:srgbClr val="E0DDD6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39" name="Card Text 6">
            <a:extLst>
              <a:ext uri="{FF2B5EF4-FFF2-40B4-BE49-F238E27FC236}">
                <a16:creationId xmlns:a16="http://schemas.microsoft.com/office/drawing/2014/main" id="{429AFAEB-B302-5A84-EA16-D62E09DCAAD2}"/>
              </a:ext>
            </a:extLst>
          </p:cNvPr>
          <p:cNvSpPr/>
          <p:nvPr/>
        </p:nvSpPr>
        <p:spPr>
          <a:xfrm>
            <a:off x="8229022" y="4525818"/>
            <a:ext cx="2997200" cy="1219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6B7280"/>
                </a:solidFill>
              </a:rPr>
              <a:t>QUALITY</a:t>
            </a:r>
          </a:p>
          <a:p>
            <a:pPr marL="0" indent="0" algn="l">
              <a:spcBef>
                <a:spcPts val="200"/>
              </a:spcBef>
              <a:buNone/>
            </a:pPr>
            <a:r>
              <a:rPr lang="en-US" sz="1600" b="1" dirty="0">
                <a:solidFill>
                  <a:schemeClr val="accent1"/>
                </a:solidFill>
              </a:rPr>
              <a:t>Judge as a quality gate</a:t>
            </a:r>
          </a:p>
          <a:p>
            <a:pPr marL="0" indent="0" algn="l">
              <a:spcBef>
                <a:spcPts val="300"/>
              </a:spcBef>
              <a:buNone/>
            </a:pPr>
            <a:r>
              <a:rPr lang="en-US" sz="1400" dirty="0">
                <a:solidFill>
                  <a:srgbClr val="4B5563"/>
                </a:solidFill>
              </a:rPr>
              <a:t>Run the Claude judge inside the workflow before any downstream action</a:t>
            </a:r>
          </a:p>
        </p:txBody>
      </p:sp>
      <p:pic>
        <p:nvPicPr>
          <p:cNvPr id="46" name="Graphic 41" descr="Video camera">
            <a:extLst>
              <a:ext uri="{FF2B5EF4-FFF2-40B4-BE49-F238E27FC236}">
                <a16:creationId xmlns:a16="http://schemas.microsoft.com/office/drawing/2014/main" id="{E6FC3D50-7C9E-276A-03D2-A212EF4C246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0622" y="1731818"/>
            <a:ext cx="457200" cy="457200"/>
          </a:xfrm>
          <a:prstGeom prst="rect">
            <a:avLst/>
          </a:prstGeom>
        </p:spPr>
      </p:pic>
      <p:pic>
        <p:nvPicPr>
          <p:cNvPr id="50" name="Graphic 42" descr="Globe">
            <a:extLst>
              <a:ext uri="{FF2B5EF4-FFF2-40B4-BE49-F238E27FC236}">
                <a16:creationId xmlns:a16="http://schemas.microsoft.com/office/drawing/2014/main" id="{59C80D75-7007-D4D3-6D8E-8775680EC38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469822" y="1731818"/>
            <a:ext cx="457200" cy="457200"/>
          </a:xfrm>
          <a:prstGeom prst="rect">
            <a:avLst/>
          </a:prstGeom>
        </p:spPr>
      </p:pic>
      <p:pic>
        <p:nvPicPr>
          <p:cNvPr id="54" name="Graphic 43" descr="Speech">
            <a:extLst>
              <a:ext uri="{FF2B5EF4-FFF2-40B4-BE49-F238E27FC236}">
                <a16:creationId xmlns:a16="http://schemas.microsoft.com/office/drawing/2014/main" id="{B1F12AA1-4F50-2F45-DDAA-ABA1B6D94FA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229022" y="1731818"/>
            <a:ext cx="457200" cy="457200"/>
          </a:xfrm>
          <a:prstGeom prst="rect">
            <a:avLst/>
          </a:prstGeom>
        </p:spPr>
      </p:pic>
      <p:pic>
        <p:nvPicPr>
          <p:cNvPr id="58" name="Graphic 44" descr="Email">
            <a:extLst>
              <a:ext uri="{FF2B5EF4-FFF2-40B4-BE49-F238E27FC236}">
                <a16:creationId xmlns:a16="http://schemas.microsoft.com/office/drawing/2014/main" id="{7E9FC47F-588C-5DC7-99A5-80ACF630271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10622" y="3967018"/>
            <a:ext cx="457200" cy="457200"/>
          </a:xfrm>
          <a:prstGeom prst="rect">
            <a:avLst/>
          </a:prstGeom>
        </p:spPr>
      </p:pic>
      <p:pic>
        <p:nvPicPr>
          <p:cNvPr id="61" name="Graphic 45" descr="Calendar">
            <a:extLst>
              <a:ext uri="{FF2B5EF4-FFF2-40B4-BE49-F238E27FC236}">
                <a16:creationId xmlns:a16="http://schemas.microsoft.com/office/drawing/2014/main" id="{15051F6C-B783-E356-A5C7-F34D5F1660D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469822" y="3967018"/>
            <a:ext cx="457200" cy="457200"/>
          </a:xfrm>
          <a:prstGeom prst="rect">
            <a:avLst/>
          </a:prstGeom>
        </p:spPr>
      </p:pic>
      <p:pic>
        <p:nvPicPr>
          <p:cNvPr id="63" name="Graphic 46" descr="Shield with tick">
            <a:extLst>
              <a:ext uri="{FF2B5EF4-FFF2-40B4-BE49-F238E27FC236}">
                <a16:creationId xmlns:a16="http://schemas.microsoft.com/office/drawing/2014/main" id="{56BD63F2-7C95-B24F-D988-2AE01450648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229022" y="3967018"/>
            <a:ext cx="45720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0712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1A6120-4D7C-D30F-F364-B6725A8603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CC9127D-0B81-6CC6-322E-14B15EDCD26D}"/>
              </a:ext>
            </a:extLst>
          </p:cNvPr>
          <p:cNvSpPr txBox="1">
            <a:spLocks/>
          </p:cNvSpPr>
          <p:nvPr/>
        </p:nvSpPr>
        <p:spPr>
          <a:xfrm>
            <a:off x="341745" y="249382"/>
            <a:ext cx="10344728" cy="50626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000">
                <a:solidFill>
                  <a:schemeClr val="accent1"/>
                </a:solidFill>
                <a:latin typeface="Graphik Black" panose="020B0A03030202060203" pitchFamily="34" charset="0"/>
              </a:rPr>
              <a:t>Business value and proposed measures</a:t>
            </a:r>
            <a:endParaRPr lang="en-US" sz="3000" dirty="0">
              <a:solidFill>
                <a:schemeClr val="accent1"/>
              </a:solidFill>
              <a:latin typeface="Graphik Black" panose="020B0A03030202060203" pitchFamily="34" charset="0"/>
            </a:endParaRPr>
          </a:p>
        </p:txBody>
      </p:sp>
      <p:sp>
        <p:nvSpPr>
          <p:cNvPr id="3" name="Guideline Label">
            <a:extLst>
              <a:ext uri="{FF2B5EF4-FFF2-40B4-BE49-F238E27FC236}">
                <a16:creationId xmlns:a16="http://schemas.microsoft.com/office/drawing/2014/main" id="{9C69090D-25AD-DA93-5DEA-C1942A4FE49F}"/>
              </a:ext>
            </a:extLst>
          </p:cNvPr>
          <p:cNvSpPr txBox="1"/>
          <p:nvPr/>
        </p:nvSpPr>
        <p:spPr>
          <a:xfrm>
            <a:off x="482022" y="916710"/>
            <a:ext cx="6380596" cy="254000"/>
          </a:xfrm>
          <a:prstGeom prst="rect">
            <a:avLst/>
          </a:prstGeom>
          <a:noFill/>
        </p:spPr>
        <p:txBody>
          <a:bodyPr vertOverflow="overflow" vert="horz" wrap="square" lIns="0" tIns="0" bIns="0" rtlCol="0" anchor="t" anchorCtr="0">
            <a:noAutofit/>
          </a:bodyPr>
          <a:lstStyle/>
          <a:p>
            <a:r>
              <a:rPr lang="en-US" sz="1200" b="1" spc="200" dirty="0">
                <a:solidFill>
                  <a:schemeClr val="accent1"/>
                </a:solidFill>
              </a:rPr>
              <a:t>BUSINESS PERSPECTIVE · IMPACT</a:t>
            </a:r>
          </a:p>
        </p:txBody>
      </p:sp>
      <p:sp>
        <p:nvSpPr>
          <p:cNvPr id="5" name="Left Label">
            <a:extLst>
              <a:ext uri="{FF2B5EF4-FFF2-40B4-BE49-F238E27FC236}">
                <a16:creationId xmlns:a16="http://schemas.microsoft.com/office/drawing/2014/main" id="{86476820-3FDB-A2FA-534C-AD3DD13C07F0}"/>
              </a:ext>
            </a:extLst>
          </p:cNvPr>
          <p:cNvSpPr/>
          <p:nvPr/>
        </p:nvSpPr>
        <p:spPr>
          <a:xfrm>
            <a:off x="482022" y="1554018"/>
            <a:ext cx="4191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45720" rIns="0" bIns="45720" anchor="t">
            <a:noAutofit/>
          </a:bodyPr>
          <a:lstStyle/>
          <a:p>
            <a:pPr marL="0" indent="0" algn="l">
              <a:buNone/>
            </a:pPr>
            <a:r>
              <a:rPr lang="en-US" sz="1300" b="1">
                <a:solidFill>
                  <a:schemeClr val="accent1"/>
                </a:solidFill>
              </a:rPr>
              <a:t>WORK LEFT TO PARTICIPANTS</a:t>
            </a:r>
            <a:endParaRPr lang="en-US" sz="1300" b="1" dirty="0">
              <a:solidFill>
                <a:schemeClr val="accent1"/>
              </a:solidFill>
            </a:endParaRPr>
          </a:p>
        </p:txBody>
      </p:sp>
      <p:sp>
        <p:nvSpPr>
          <p:cNvPr id="8" name="Platform 1">
            <a:extLst>
              <a:ext uri="{FF2B5EF4-FFF2-40B4-BE49-F238E27FC236}">
                <a16:creationId xmlns:a16="http://schemas.microsoft.com/office/drawing/2014/main" id="{5DBEBEAB-5C3A-E2A8-3819-622BEC8906B8}"/>
              </a:ext>
            </a:extLst>
          </p:cNvPr>
          <p:cNvSpPr/>
          <p:nvPr/>
        </p:nvSpPr>
        <p:spPr>
          <a:xfrm>
            <a:off x="482022" y="1985818"/>
            <a:ext cx="4191000" cy="11938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wrap="square" lIns="177800" tIns="45720" rIns="177800" bIns="45720" anchor="ctr">
            <a:noAutofit/>
          </a:bodyPr>
          <a:lstStyle/>
          <a:p>
            <a:pPr marL="0" indent="0" algn="l">
              <a:buNone/>
            </a:pPr>
            <a:r>
              <a:rPr lang="en-US" sz="1800" b="1"/>
              <a:t>Manual task entry</a:t>
            </a:r>
            <a:endParaRPr lang="en-US" sz="1800" b="1" dirty="0"/>
          </a:p>
          <a:p>
            <a:pPr marL="0" indent="0" algn="l">
              <a:spcBef>
                <a:spcPts val="200"/>
              </a:spcBef>
              <a:buNone/>
            </a:pPr>
            <a:r>
              <a:rPr lang="en-US" sz="1500">
                <a:solidFill>
                  <a:srgbClr val="4B5563"/>
                </a:solidFill>
              </a:rPr>
              <a:t>Turn extracted actions into tasks with owners </a:t>
            </a:r>
            <a:r>
              <a:rPr lang="en-US" sz="1500" dirty="0">
                <a:solidFill>
                  <a:srgbClr val="4B5563"/>
                </a:solidFill>
              </a:rPr>
              <a:t>and </a:t>
            </a:r>
            <a:r>
              <a:rPr lang="en-US" sz="1500">
                <a:solidFill>
                  <a:srgbClr val="4B5563"/>
                </a:solidFill>
              </a:rPr>
              <a:t>deadlines</a:t>
            </a:r>
            <a:endParaRPr lang="en-US" sz="1500" dirty="0">
              <a:solidFill>
                <a:srgbClr val="4B5563"/>
              </a:solidFill>
            </a:endParaRPr>
          </a:p>
        </p:txBody>
      </p:sp>
      <p:sp>
        <p:nvSpPr>
          <p:cNvPr id="11" name="Platform 2">
            <a:extLst>
              <a:ext uri="{FF2B5EF4-FFF2-40B4-BE49-F238E27FC236}">
                <a16:creationId xmlns:a16="http://schemas.microsoft.com/office/drawing/2014/main" id="{566605DF-553E-169C-7827-72009C03D946}"/>
              </a:ext>
            </a:extLst>
          </p:cNvPr>
          <p:cNvSpPr/>
          <p:nvPr/>
        </p:nvSpPr>
        <p:spPr>
          <a:xfrm>
            <a:off x="482022" y="3357418"/>
            <a:ext cx="4191000" cy="11938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wrap="square" lIns="177800" tIns="45720" rIns="177800" bIns="45720" anchor="ctr">
            <a:noAutofit/>
          </a:bodyPr>
          <a:lstStyle/>
          <a:p>
            <a:pPr marL="0" indent="0" algn="l">
              <a:buNone/>
            </a:pPr>
            <a:r>
              <a:rPr lang="en-US" sz="1800" b="1"/>
              <a:t>Manual scheduling</a:t>
            </a:r>
            <a:endParaRPr lang="en-US" sz="1800" b="1" dirty="0"/>
          </a:p>
          <a:p>
            <a:pPr marL="0" indent="0" algn="l">
              <a:spcBef>
                <a:spcPts val="200"/>
              </a:spcBef>
              <a:buNone/>
            </a:pPr>
            <a:r>
              <a:rPr lang="en-US" sz="1500">
                <a:solidFill>
                  <a:srgbClr val="4B5563"/>
                </a:solidFill>
              </a:rPr>
              <a:t>Arrange follow-up meetings with the relevant participants</a:t>
            </a:r>
            <a:endParaRPr lang="en-US" sz="1500" dirty="0">
              <a:solidFill>
                <a:srgbClr val="4B5563"/>
              </a:solidFill>
            </a:endParaRPr>
          </a:p>
        </p:txBody>
      </p:sp>
      <p:sp>
        <p:nvSpPr>
          <p:cNvPr id="15" name="Platform 3">
            <a:extLst>
              <a:ext uri="{FF2B5EF4-FFF2-40B4-BE49-F238E27FC236}">
                <a16:creationId xmlns:a16="http://schemas.microsoft.com/office/drawing/2014/main" id="{D8060359-54DD-3A25-7137-961D5545903C}"/>
              </a:ext>
            </a:extLst>
          </p:cNvPr>
          <p:cNvSpPr/>
          <p:nvPr/>
        </p:nvSpPr>
        <p:spPr>
          <a:xfrm>
            <a:off x="482022" y="4729018"/>
            <a:ext cx="4191000" cy="11938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wrap="square" lIns="177800" tIns="45720" rIns="177800" bIns="45720" anchor="ctr">
            <a:noAutofit/>
          </a:bodyPr>
          <a:lstStyle/>
          <a:p>
            <a:pPr marL="0" indent="0" algn="l">
              <a:buNone/>
            </a:pPr>
            <a:r>
              <a:rPr lang="en-US" sz="1800" b="1"/>
              <a:t>Scattered meeting records</a:t>
            </a:r>
            <a:endParaRPr lang="en-US" sz="1800" b="1" dirty="0"/>
          </a:p>
          <a:p>
            <a:pPr marL="0" indent="0" algn="l">
              <a:spcBef>
                <a:spcPts val="200"/>
              </a:spcBef>
              <a:buNone/>
            </a:pPr>
            <a:r>
              <a:rPr lang="en-US" sz="1500">
                <a:solidFill>
                  <a:srgbClr val="4B5563"/>
                </a:solidFill>
              </a:rPr>
              <a:t>Store notes and share the summary with participants</a:t>
            </a:r>
            <a:endParaRPr lang="en-US" sz="1500" dirty="0">
              <a:solidFill>
                <a:srgbClr val="4B5563"/>
              </a:solidFill>
            </a:endParaRPr>
          </a:p>
        </p:txBody>
      </p:sp>
      <p:sp>
        <p:nvSpPr>
          <p:cNvPr id="18" name="Stop Line">
            <a:extLst>
              <a:ext uri="{FF2B5EF4-FFF2-40B4-BE49-F238E27FC236}">
                <a16:creationId xmlns:a16="http://schemas.microsoft.com/office/drawing/2014/main" id="{28124893-4758-8587-7E84-AEC99E5AFCE4}"/>
              </a:ext>
            </a:extLst>
          </p:cNvPr>
          <p:cNvSpPr/>
          <p:nvPr/>
        </p:nvSpPr>
        <p:spPr>
          <a:xfrm>
            <a:off x="5003222" y="1884218"/>
            <a:ext cx="12700" cy="4191000"/>
          </a:xfrm>
          <a:prstGeom prst="rect">
            <a:avLst/>
          </a:prstGeom>
          <a:noFill/>
          <a:ln w="12700">
            <a:solidFill>
              <a:schemeClr val="accent1">
                <a:lumMod val="50000"/>
              </a:schemeClr>
            </a:solidFill>
            <a:prstDash val="dash"/>
          </a:ln>
        </p:spPr>
        <p:txBody>
          <a:bodyPr wrap="square" lIns="91440" tIns="45720" rIns="91440" bIns="45720" anchor="t">
            <a:noAutofit/>
          </a:bodyPr>
          <a:lstStyle/>
          <a:p>
            <a:endParaRPr lang="en-US"/>
          </a:p>
        </p:txBody>
      </p:sp>
      <p:sp>
        <p:nvSpPr>
          <p:cNvPr id="21" name="Right Label">
            <a:extLst>
              <a:ext uri="{FF2B5EF4-FFF2-40B4-BE49-F238E27FC236}">
                <a16:creationId xmlns:a16="http://schemas.microsoft.com/office/drawing/2014/main" id="{BD1321A2-32F1-5AEF-FB0D-80DE3263FAED}"/>
              </a:ext>
            </a:extLst>
          </p:cNvPr>
          <p:cNvSpPr/>
          <p:nvPr/>
        </p:nvSpPr>
        <p:spPr>
          <a:xfrm>
            <a:off x="5358822" y="1554018"/>
            <a:ext cx="6096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45720" rIns="0" bIns="45720" anchor="t">
            <a:noAutofit/>
          </a:bodyPr>
          <a:lstStyle/>
          <a:p>
            <a:pPr marL="0" indent="0" algn="l">
              <a:buNone/>
            </a:pPr>
            <a:r>
              <a:rPr lang="en-US" sz="1300" b="1">
                <a:solidFill>
                  <a:schemeClr val="accent1"/>
                </a:solidFill>
              </a:rPr>
              <a:t>PROPOSED MEASURES </a:t>
            </a:r>
            <a:r>
              <a:rPr lang="en-US" sz="1300" b="1" dirty="0">
                <a:solidFill>
                  <a:schemeClr val="accent1"/>
                </a:solidFill>
              </a:rPr>
              <a:t>· </a:t>
            </a:r>
            <a:r>
              <a:rPr lang="en-US" sz="1300" b="1">
                <a:solidFill>
                  <a:schemeClr val="accent1"/>
                </a:solidFill>
              </a:rPr>
              <a:t>NOT REPORTED RESULTS</a:t>
            </a:r>
            <a:endParaRPr lang="en-US" sz="1300" b="1" dirty="0">
              <a:solidFill>
                <a:schemeClr val="accent1"/>
              </a:solidFill>
            </a:endParaRPr>
          </a:p>
        </p:txBody>
      </p:sp>
      <p:sp>
        <p:nvSpPr>
          <p:cNvPr id="24" name="Last Mile 1">
            <a:extLst>
              <a:ext uri="{FF2B5EF4-FFF2-40B4-BE49-F238E27FC236}">
                <a16:creationId xmlns:a16="http://schemas.microsoft.com/office/drawing/2014/main" id="{F53AD383-FD76-EF1A-B5BD-D658CD707E6D}"/>
              </a:ext>
            </a:extLst>
          </p:cNvPr>
          <p:cNvSpPr/>
          <p:nvPr/>
        </p:nvSpPr>
        <p:spPr>
          <a:xfrm>
            <a:off x="5358822" y="1985818"/>
            <a:ext cx="6096000" cy="901700"/>
          </a:xfrm>
          <a:prstGeom prst="rect">
            <a:avLst/>
          </a:prstGeom>
          <a:solidFill>
            <a:srgbClr val="FFFFFF"/>
          </a:solidFill>
          <a:ln w="12700">
            <a:solidFill>
              <a:srgbClr val="0E7C66"/>
            </a:solidFill>
          </a:ln>
        </p:spPr>
        <p:txBody>
          <a:bodyPr wrap="square" lIns="177800" tIns="45720" rIns="177800" bIns="45720" anchor="ctr">
            <a:noAutofit/>
          </a:bodyPr>
          <a:lstStyle/>
          <a:p>
            <a:pPr marL="0" indent="0" algn="l">
              <a:buNone/>
            </a:pPr>
            <a:r>
              <a:rPr lang="en-US" sz="1700" b="1">
                <a:solidFill>
                  <a:schemeClr val="accent1"/>
                </a:solidFill>
              </a:rPr>
              <a:t>Task creation speed</a:t>
            </a:r>
            <a:endParaRPr lang="en-US" sz="1700" b="1" dirty="0">
              <a:solidFill>
                <a:schemeClr val="accent1"/>
              </a:solidFill>
            </a:endParaRPr>
          </a:p>
          <a:p>
            <a:pPr marL="0" indent="0" algn="l">
              <a:spcBef>
                <a:spcPts val="100"/>
              </a:spcBef>
              <a:buNone/>
            </a:pPr>
            <a:r>
              <a:rPr lang="en-US" sz="1400" dirty="0">
                <a:solidFill>
                  <a:srgbClr val="374151"/>
                </a:solidFill>
              </a:rPr>
              <a:t>Measure: </a:t>
            </a:r>
            <a:r>
              <a:rPr lang="en-US" sz="1400">
                <a:solidFill>
                  <a:srgbClr val="374151"/>
                </a:solidFill>
              </a:rPr>
              <a:t>time </a:t>
            </a:r>
            <a:r>
              <a:rPr lang="en-US" sz="1400" dirty="0">
                <a:solidFill>
                  <a:srgbClr val="374151"/>
                </a:solidFill>
              </a:rPr>
              <a:t>from meeting </a:t>
            </a:r>
            <a:r>
              <a:rPr lang="en-US" sz="1400">
                <a:solidFill>
                  <a:srgbClr val="374151"/>
                </a:solidFill>
              </a:rPr>
              <a:t>upload </a:t>
            </a:r>
            <a:r>
              <a:rPr lang="en-US" sz="1400" dirty="0">
                <a:solidFill>
                  <a:srgbClr val="374151"/>
                </a:solidFill>
              </a:rPr>
              <a:t>to Jira</a:t>
            </a:r>
            <a:r>
              <a:rPr lang="en-US" sz="1400">
                <a:solidFill>
                  <a:srgbClr val="374151"/>
                </a:solidFill>
              </a:rPr>
              <a:t> ticket creation</a:t>
            </a:r>
            <a:endParaRPr lang="en-US" sz="1400" dirty="0">
              <a:solidFill>
                <a:srgbClr val="374151"/>
              </a:solidFill>
            </a:endParaRPr>
          </a:p>
        </p:txBody>
      </p:sp>
      <p:sp>
        <p:nvSpPr>
          <p:cNvPr id="27" name="Last Mile 2">
            <a:extLst>
              <a:ext uri="{FF2B5EF4-FFF2-40B4-BE49-F238E27FC236}">
                <a16:creationId xmlns:a16="http://schemas.microsoft.com/office/drawing/2014/main" id="{83D503A5-5CEB-DA99-2572-8360C87DE90E}"/>
              </a:ext>
            </a:extLst>
          </p:cNvPr>
          <p:cNvSpPr/>
          <p:nvPr/>
        </p:nvSpPr>
        <p:spPr>
          <a:xfrm>
            <a:off x="5358822" y="3014518"/>
            <a:ext cx="6096000" cy="901700"/>
          </a:xfrm>
          <a:prstGeom prst="rect">
            <a:avLst/>
          </a:prstGeom>
          <a:solidFill>
            <a:srgbClr val="FFFFFF"/>
          </a:solidFill>
          <a:ln w="12700">
            <a:solidFill>
              <a:srgbClr val="0E7C66"/>
            </a:solidFill>
          </a:ln>
        </p:spPr>
        <p:txBody>
          <a:bodyPr wrap="square" lIns="177800" tIns="45720" rIns="177800" bIns="45720" anchor="ctr">
            <a:noAutofit/>
          </a:bodyPr>
          <a:lstStyle/>
          <a:p>
            <a:pPr marL="0" indent="0" algn="l">
              <a:buNone/>
            </a:pPr>
            <a:r>
              <a:rPr lang="en-US" sz="1700" b="1">
                <a:solidFill>
                  <a:schemeClr val="accent1"/>
                </a:solidFill>
              </a:rPr>
              <a:t>Task completeness</a:t>
            </a:r>
            <a:endParaRPr lang="en-US" sz="1700" b="1" dirty="0">
              <a:solidFill>
                <a:schemeClr val="accent1"/>
              </a:solidFill>
            </a:endParaRPr>
          </a:p>
          <a:p>
            <a:pPr marL="0" indent="0" algn="l">
              <a:spcBef>
                <a:spcPts val="100"/>
              </a:spcBef>
              <a:buNone/>
            </a:pPr>
            <a:r>
              <a:rPr lang="en-US" sz="1400" dirty="0">
                <a:solidFill>
                  <a:srgbClr val="374151"/>
                </a:solidFill>
              </a:rPr>
              <a:t>Measure: share of </a:t>
            </a:r>
            <a:r>
              <a:rPr lang="en-US" sz="1400">
                <a:solidFill>
                  <a:srgbClr val="374151"/>
                </a:solidFill>
              </a:rPr>
              <a:t>tickets </a:t>
            </a:r>
            <a:r>
              <a:rPr lang="en-US" sz="1400" dirty="0">
                <a:solidFill>
                  <a:srgbClr val="374151"/>
                </a:solidFill>
              </a:rPr>
              <a:t>with an owner</a:t>
            </a:r>
            <a:r>
              <a:rPr lang="en-US" sz="1400">
                <a:solidFill>
                  <a:srgbClr val="374151"/>
                </a:solidFill>
              </a:rPr>
              <a:t>, deadline</a:t>
            </a:r>
            <a:r>
              <a:rPr lang="en-US" sz="1400" dirty="0">
                <a:solidFill>
                  <a:srgbClr val="374151"/>
                </a:solidFill>
              </a:rPr>
              <a:t> and </a:t>
            </a:r>
            <a:r>
              <a:rPr lang="en-US" sz="1400">
                <a:solidFill>
                  <a:srgbClr val="374151"/>
                </a:solidFill>
              </a:rPr>
              <a:t>meeting reference</a:t>
            </a:r>
            <a:endParaRPr lang="en-US" sz="1400" dirty="0">
              <a:solidFill>
                <a:srgbClr val="374151"/>
              </a:solidFill>
            </a:endParaRPr>
          </a:p>
        </p:txBody>
      </p:sp>
      <p:sp>
        <p:nvSpPr>
          <p:cNvPr id="29" name="Last Mile 3">
            <a:extLst>
              <a:ext uri="{FF2B5EF4-FFF2-40B4-BE49-F238E27FC236}">
                <a16:creationId xmlns:a16="http://schemas.microsoft.com/office/drawing/2014/main" id="{F7094A57-BD66-E25E-2EDA-24A0B3726A99}"/>
              </a:ext>
            </a:extLst>
          </p:cNvPr>
          <p:cNvSpPr/>
          <p:nvPr/>
        </p:nvSpPr>
        <p:spPr>
          <a:xfrm>
            <a:off x="5358822" y="4043218"/>
            <a:ext cx="6096000" cy="901700"/>
          </a:xfrm>
          <a:prstGeom prst="rect">
            <a:avLst/>
          </a:prstGeom>
          <a:solidFill>
            <a:srgbClr val="FFFFFF"/>
          </a:solidFill>
          <a:ln w="12700">
            <a:solidFill>
              <a:srgbClr val="0E7C66"/>
            </a:solidFill>
          </a:ln>
        </p:spPr>
        <p:txBody>
          <a:bodyPr wrap="square" lIns="177800" tIns="45720" rIns="177800" bIns="45720" anchor="ctr">
            <a:noAutofit/>
          </a:bodyPr>
          <a:lstStyle/>
          <a:p>
            <a:pPr marL="0" indent="0" algn="l">
              <a:buNone/>
            </a:pPr>
            <a:r>
              <a:rPr lang="en-US" sz="1700" b="1">
                <a:solidFill>
                  <a:schemeClr val="accent1"/>
                </a:solidFill>
              </a:rPr>
              <a:t>Follow-up scheduling</a:t>
            </a:r>
            <a:endParaRPr lang="en-US" sz="1700" b="1" dirty="0">
              <a:solidFill>
                <a:schemeClr val="accent1"/>
              </a:solidFill>
            </a:endParaRPr>
          </a:p>
          <a:p>
            <a:pPr marL="0" indent="0" algn="l">
              <a:spcBef>
                <a:spcPts val="100"/>
              </a:spcBef>
              <a:buNone/>
            </a:pPr>
            <a:r>
              <a:rPr lang="en-US" sz="1400" dirty="0">
                <a:solidFill>
                  <a:srgbClr val="374151"/>
                </a:solidFill>
              </a:rPr>
              <a:t>Measure: </a:t>
            </a:r>
            <a:r>
              <a:rPr lang="en-US" sz="1400">
                <a:solidFill>
                  <a:srgbClr val="374151"/>
                </a:solidFill>
              </a:rPr>
              <a:t>share of identified follow-ups with Calendar events</a:t>
            </a:r>
            <a:endParaRPr lang="en-US" sz="1400" dirty="0">
              <a:solidFill>
                <a:srgbClr val="374151"/>
              </a:solidFill>
            </a:endParaRPr>
          </a:p>
        </p:txBody>
      </p:sp>
      <p:sp>
        <p:nvSpPr>
          <p:cNvPr id="32" name="Last Mile 4">
            <a:extLst>
              <a:ext uri="{FF2B5EF4-FFF2-40B4-BE49-F238E27FC236}">
                <a16:creationId xmlns:a16="http://schemas.microsoft.com/office/drawing/2014/main" id="{47D1937A-AC79-CFA5-C5C0-524BECAEE978}"/>
              </a:ext>
            </a:extLst>
          </p:cNvPr>
          <p:cNvSpPr/>
          <p:nvPr/>
        </p:nvSpPr>
        <p:spPr>
          <a:xfrm>
            <a:off x="5358822" y="5071918"/>
            <a:ext cx="6096000" cy="901700"/>
          </a:xfrm>
          <a:prstGeom prst="rect">
            <a:avLst/>
          </a:prstGeom>
          <a:solidFill>
            <a:srgbClr val="FFFFFF"/>
          </a:solidFill>
          <a:ln w="12700">
            <a:solidFill>
              <a:srgbClr val="0E7C66"/>
            </a:solidFill>
          </a:ln>
        </p:spPr>
        <p:txBody>
          <a:bodyPr wrap="square" lIns="177800" tIns="45720" rIns="177800" bIns="45720" anchor="ctr">
            <a:noAutofit/>
          </a:bodyPr>
          <a:lstStyle/>
          <a:p>
            <a:pPr marL="0" indent="0" algn="l">
              <a:buNone/>
            </a:pPr>
            <a:r>
              <a:rPr lang="en-US" sz="1700" b="1">
                <a:solidFill>
                  <a:schemeClr val="accent1"/>
                </a:solidFill>
              </a:rPr>
              <a:t>Documentation coverage</a:t>
            </a:r>
            <a:endParaRPr lang="en-US" sz="1700" b="1" dirty="0">
              <a:solidFill>
                <a:schemeClr val="accent1"/>
              </a:solidFill>
            </a:endParaRPr>
          </a:p>
          <a:p>
            <a:pPr marL="0" indent="0" algn="l">
              <a:spcBef>
                <a:spcPts val="100"/>
              </a:spcBef>
              <a:buNone/>
            </a:pPr>
            <a:r>
              <a:rPr lang="en-US" sz="1400" dirty="0">
                <a:solidFill>
                  <a:srgbClr val="374151"/>
                </a:solidFill>
              </a:rPr>
              <a:t>Measure: </a:t>
            </a:r>
            <a:r>
              <a:rPr lang="en-US" sz="1400">
                <a:solidFill>
                  <a:srgbClr val="374151"/>
                </a:solidFill>
              </a:rPr>
              <a:t>share of meetings with a Google Doc and emailed summary</a:t>
            </a:r>
            <a:endParaRPr lang="en-US" sz="1400" dirty="0">
              <a:solidFill>
                <a:srgbClr val="37415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549729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C2C67E-15FF-2786-5B7D-6995C2F1DD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5A8490-0675-AB9F-C4FA-EAC7CB6E406D}"/>
              </a:ext>
            </a:extLst>
          </p:cNvPr>
          <p:cNvSpPr txBox="1">
            <a:spLocks/>
          </p:cNvSpPr>
          <p:nvPr/>
        </p:nvSpPr>
        <p:spPr>
          <a:xfrm>
            <a:off x="609600" y="406400"/>
            <a:ext cx="7353300" cy="6858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>
                <a:solidFill>
                  <a:schemeClr val="accent1"/>
                </a:solidFill>
              </a:rPr>
              <a:t>Action items become tracked work</a:t>
            </a:r>
            <a:endParaRPr lang="en-US" sz="3600" dirty="0">
              <a:solidFill>
                <a:schemeClr val="accent1"/>
              </a:solidFill>
            </a:endParaRPr>
          </a:p>
        </p:txBody>
      </p:sp>
      <p:sp>
        <p:nvSpPr>
          <p:cNvPr id="10" name="Conclusion Lead"/>
          <p:cNvSpPr/>
          <p:nvPr/>
        </p:nvSpPr>
        <p:spPr>
          <a:xfrm>
            <a:off x="711200" y="1605280"/>
            <a:ext cx="6858000" cy="8204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chemeClr val="accent1"/>
                </a:solidFill>
              </a:rPr>
              <a:t>The workflow </a:t>
            </a:r>
            <a:r>
              <a:rPr lang="en-US" sz="2200" b="1">
                <a:solidFill>
                  <a:schemeClr val="accent1"/>
                </a:solidFill>
              </a:rPr>
              <a:t>carries extracted actions into Jira and Calendar</a:t>
            </a:r>
            <a:r>
              <a:rPr lang="en-US" sz="2200" b="1" dirty="0">
                <a:solidFill>
                  <a:schemeClr val="accent1"/>
                </a:solidFill>
              </a:rPr>
              <a:t>, </a:t>
            </a:r>
            <a:r>
              <a:rPr lang="en-US" sz="2200" b="1">
                <a:solidFill>
                  <a:schemeClr val="accent1"/>
                </a:solidFill>
              </a:rPr>
              <a:t>then saves </a:t>
            </a:r>
            <a:r>
              <a:rPr lang="en-US" sz="2200" b="1" dirty="0">
                <a:solidFill>
                  <a:schemeClr val="accent1"/>
                </a:solidFill>
              </a:rPr>
              <a:t>and </a:t>
            </a:r>
            <a:r>
              <a:rPr lang="en-US" sz="2200" b="1">
                <a:solidFill>
                  <a:schemeClr val="accent1"/>
                </a:solidFill>
              </a:rPr>
              <a:t>shares </a:t>
            </a:r>
            <a:r>
              <a:rPr lang="en-US" sz="2200" b="1" dirty="0">
                <a:solidFill>
                  <a:schemeClr val="accent1"/>
                </a:solidFill>
              </a:rPr>
              <a:t>the </a:t>
            </a:r>
            <a:r>
              <a:rPr lang="en-US" sz="2200" b="1">
                <a:solidFill>
                  <a:schemeClr val="accent1"/>
                </a:solidFill>
              </a:rPr>
              <a:t>meeting notes</a:t>
            </a:r>
            <a:r>
              <a:rPr lang="en-US" sz="2200" b="1" dirty="0">
                <a:solidFill>
                  <a:schemeClr val="accent1"/>
                </a:solidFill>
              </a:rPr>
              <a:t>.</a:t>
            </a:r>
          </a:p>
        </p:txBody>
      </p:sp>
      <p:sp>
        <p:nvSpPr>
          <p:cNvPr id="20" name="Rule 1"/>
          <p:cNvSpPr/>
          <p:nvPr/>
        </p:nvSpPr>
        <p:spPr>
          <a:xfrm>
            <a:off x="736600" y="5869255"/>
            <a:ext cx="7112000" cy="127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30" name="Point 1"/>
          <p:cNvSpPr/>
          <p:nvPr/>
        </p:nvSpPr>
        <p:spPr>
          <a:xfrm>
            <a:off x="711200" y="3111500"/>
            <a:ext cx="7112000" cy="63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en-US" sz="1500" b="1">
                <a:solidFill>
                  <a:schemeClr val="accent1"/>
                </a:solidFill>
              </a:rPr>
              <a:t>Meeting notes  </a:t>
            </a:r>
            <a:r>
              <a:rPr lang="en-US" sz="1500">
                <a:solidFill>
                  <a:srgbClr val="374151"/>
                </a:solidFill>
              </a:rPr>
              <a:t>Google Docs stores a record of the discussion</a:t>
            </a:r>
            <a:endParaRPr lang="en-US" sz="1500" dirty="0">
              <a:solidFill>
                <a:srgbClr val="374151"/>
              </a:solidFill>
            </a:endParaRPr>
          </a:p>
        </p:txBody>
      </p:sp>
      <p:sp>
        <p:nvSpPr>
          <p:cNvPr id="6" name="Rule 2"/>
          <p:cNvSpPr/>
          <p:nvPr/>
        </p:nvSpPr>
        <p:spPr>
          <a:xfrm>
            <a:off x="711200" y="3443127"/>
            <a:ext cx="7112000" cy="127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31" name="Point 2"/>
          <p:cNvSpPr/>
          <p:nvPr/>
        </p:nvSpPr>
        <p:spPr>
          <a:xfrm>
            <a:off x="711200" y="3898900"/>
            <a:ext cx="7112000" cy="63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en-US" sz="1500" b="1">
                <a:solidFill>
                  <a:schemeClr val="accent1"/>
                </a:solidFill>
              </a:rPr>
              <a:t>Tracked tasks  </a:t>
            </a:r>
            <a:r>
              <a:rPr lang="en-US" sz="1500">
                <a:solidFill>
                  <a:srgbClr val="374151"/>
                </a:solidFill>
              </a:rPr>
              <a:t>Jira tickets include owners</a:t>
            </a:r>
            <a:r>
              <a:rPr lang="en-US" sz="1500" dirty="0">
                <a:solidFill>
                  <a:srgbClr val="374151"/>
                </a:solidFill>
              </a:rPr>
              <a:t>, </a:t>
            </a:r>
            <a:r>
              <a:rPr lang="en-US" sz="1500">
                <a:solidFill>
                  <a:srgbClr val="374151"/>
                </a:solidFill>
              </a:rPr>
              <a:t>deadlines </a:t>
            </a:r>
            <a:r>
              <a:rPr lang="en-US" sz="1500" dirty="0">
                <a:solidFill>
                  <a:srgbClr val="374151"/>
                </a:solidFill>
              </a:rPr>
              <a:t>and </a:t>
            </a:r>
            <a:r>
              <a:rPr lang="en-US" sz="1500">
                <a:solidFill>
                  <a:srgbClr val="374151"/>
                </a:solidFill>
              </a:rPr>
              <a:t>meeting references</a:t>
            </a:r>
            <a:endParaRPr lang="en-US" sz="1500" dirty="0">
              <a:solidFill>
                <a:srgbClr val="374151"/>
              </a:solidFill>
            </a:endParaRPr>
          </a:p>
        </p:txBody>
      </p:sp>
      <p:sp>
        <p:nvSpPr>
          <p:cNvPr id="22" name="Rule 3"/>
          <p:cNvSpPr/>
          <p:nvPr/>
        </p:nvSpPr>
        <p:spPr>
          <a:xfrm>
            <a:off x="730250" y="4241800"/>
            <a:ext cx="7112000" cy="127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7" name="Point 3"/>
          <p:cNvSpPr/>
          <p:nvPr/>
        </p:nvSpPr>
        <p:spPr>
          <a:xfrm>
            <a:off x="711200" y="4686300"/>
            <a:ext cx="7112000" cy="63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en-US" sz="1500" b="1">
                <a:solidFill>
                  <a:schemeClr val="accent1"/>
                </a:solidFill>
              </a:rPr>
              <a:t>Scheduled follow-ups  </a:t>
            </a:r>
            <a:r>
              <a:rPr lang="en-US" sz="1500">
                <a:solidFill>
                  <a:srgbClr val="374151"/>
                </a:solidFill>
              </a:rPr>
              <a:t>Calendar events include relevant participants</a:t>
            </a:r>
            <a:endParaRPr lang="en-US" sz="1500" dirty="0">
              <a:solidFill>
                <a:srgbClr val="374151"/>
              </a:solidFill>
            </a:endParaRPr>
          </a:p>
        </p:txBody>
      </p:sp>
      <p:sp>
        <p:nvSpPr>
          <p:cNvPr id="23" name="Rule 4"/>
          <p:cNvSpPr/>
          <p:nvPr/>
        </p:nvSpPr>
        <p:spPr>
          <a:xfrm>
            <a:off x="730250" y="5081855"/>
            <a:ext cx="7112000" cy="127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33" name="Point 4"/>
          <p:cNvSpPr/>
          <p:nvPr/>
        </p:nvSpPr>
        <p:spPr>
          <a:xfrm>
            <a:off x="711200" y="5473700"/>
            <a:ext cx="7112000" cy="63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en-US" sz="1500" b="1">
                <a:solidFill>
                  <a:schemeClr val="accent1"/>
                </a:solidFill>
              </a:rPr>
              <a:t>Shared summaries  </a:t>
            </a:r>
            <a:r>
              <a:rPr lang="en-US" sz="1500">
                <a:solidFill>
                  <a:srgbClr val="374151"/>
                </a:solidFill>
              </a:rPr>
              <a:t>Participants receive the meeting recap by email</a:t>
            </a:r>
            <a:endParaRPr lang="en-US" sz="1500" dirty="0">
              <a:solidFill>
                <a:srgbClr val="374151"/>
              </a:solidFill>
            </a:endParaRPr>
          </a:p>
        </p:txBody>
      </p:sp>
      <p:sp>
        <p:nvSpPr>
          <p:cNvPr id="40" name="QA Panel"/>
          <p:cNvSpPr/>
          <p:nvPr/>
        </p:nvSpPr>
        <p:spPr>
          <a:xfrm>
            <a:off x="8128000" y="0"/>
            <a:ext cx="4064000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41" name="QA Text"/>
          <p:cNvSpPr/>
          <p:nvPr/>
        </p:nvSpPr>
        <p:spPr>
          <a:xfrm>
            <a:off x="8534400" y="2286000"/>
            <a:ext cx="3251200" cy="254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 fontScale="92500"/>
          </a:bodyPr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</a:rPr>
              <a:t>Q&amp;A</a:t>
            </a:r>
          </a:p>
          <a:p>
            <a:pPr marL="0" indent="0" algn="ctr">
              <a:spcBef>
                <a:spcPts val="2400"/>
              </a:spcBef>
              <a:buNone/>
            </a:pPr>
            <a:r>
              <a:rPr lang="en-US" sz="1400" b="1" dirty="0">
                <a:solidFill>
                  <a:schemeClr val="bg1"/>
                </a:solidFill>
              </a:rPr>
              <a:t>Try the form</a:t>
            </a:r>
          </a:p>
          <a:p>
            <a:pPr marL="0" indent="0" algn="ctr">
              <a:spcBef>
                <a:spcPts val="300"/>
              </a:spcBef>
              <a:buNone/>
            </a:pPr>
            <a:r>
              <a:rPr lang="en-US" sz="1400" dirty="0">
                <a:solidFill>
                  <a:srgbClr val="FFFFFF"/>
                </a:solidFill>
              </a:rPr>
              <a:t>cnprabhu5.app.n8n.cloud</a:t>
            </a:r>
          </a:p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</a:rPr>
              <a:t>/form/meeting-intake</a:t>
            </a:r>
          </a:p>
          <a:p>
            <a:pPr marL="0" indent="0" algn="ctr">
              <a:buNone/>
            </a:pPr>
            <a:endParaRPr lang="en-US" sz="1400" dirty="0">
              <a:solidFill>
                <a:srgbClr val="FFFFFF"/>
              </a:solidFill>
            </a:endParaRPr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GITHUB Link (Repository store)</a:t>
            </a:r>
          </a:p>
          <a:p>
            <a:pPr algn="ctr"/>
            <a:r>
              <a:rPr lang="en-US" sz="1400" dirty="0">
                <a:solidFill>
                  <a:srgbClr val="FFFFFF"/>
                </a:solidFill>
              </a:rPr>
              <a:t>https://github.com/lchethan880/Cohort6-Group4-Meeting-Intelligence-Action-Tracking</a:t>
            </a:r>
          </a:p>
        </p:txBody>
      </p:sp>
    </p:spTree>
    <p:extLst>
      <p:ext uri="{BB962C8B-B14F-4D97-AF65-F5344CB8AC3E}">
        <p14:creationId xmlns:p14="http://schemas.microsoft.com/office/powerpoint/2010/main" val="681348475"/>
      </p:ext>
    </p:extLst>
  </p:cSld>
  <p:clrMapOvr>
    <a:masterClrMapping/>
  </p:clrMapOvr>
</p:sld>
</file>

<file path=ppt/theme/theme1.xml><?xml version="1.0" encoding="utf-8"?>
<a:theme xmlns:a="http://schemas.openxmlformats.org/drawingml/2006/main" name="Accenture_Theme">
  <a:themeElements>
    <a:clrScheme name="Accentur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002060"/>
      </a:accent1>
      <a:accent2>
        <a:srgbClr val="DCE4F2"/>
      </a:accent2>
      <a:accent3>
        <a:srgbClr val="A3B6DB"/>
      </a:accent3>
      <a:accent4>
        <a:srgbClr val="1F3A6E"/>
      </a:accent4>
      <a:accent5>
        <a:srgbClr val="0B1A3A"/>
      </a:accent5>
      <a:accent6>
        <a:srgbClr val="224BFF"/>
      </a:accent6>
      <a:hlink>
        <a:srgbClr val="05F2DB"/>
      </a:hlink>
      <a:folHlink>
        <a:srgbClr val="FF50A0"/>
      </a:folHlink>
    </a:clrScheme>
    <a:fontScheme name="Custom 1">
      <a:majorFont>
        <a:latin typeface="Graphik Black"/>
        <a:ea typeface=""/>
        <a:cs typeface=""/>
      </a:majorFont>
      <a:minorFont>
        <a:latin typeface="Graphi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Accenture_Theme" id="{76081412-44C4-44C3-A607-FB0D15241E4E}" vid="{8475F448-A7E1-4151-A999-3450AB5B038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Accenture_Theme</Template>
  <TotalTime>706</TotalTime>
  <Words>1525</Words>
  <Application>Microsoft Office PowerPoint</Application>
  <PresentationFormat>Widescreen</PresentationFormat>
  <Paragraphs>305</Paragraphs>
  <Slides>13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Aptos</vt:lpstr>
      <vt:lpstr>Arial</vt:lpstr>
      <vt:lpstr>Graphik</vt:lpstr>
      <vt:lpstr>Graphik Black</vt:lpstr>
      <vt:lpstr>Segoe UI</vt:lpstr>
      <vt:lpstr>Accenture_Theme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Srikantaiah, Ashok</dc:creator>
  <cp:lastModifiedBy>Mohan Reddy C</cp:lastModifiedBy>
  <cp:revision>29</cp:revision>
  <dcterms:created xsi:type="dcterms:W3CDTF">2026-10-07T05:30:11Z</dcterms:created>
  <dcterms:modified xsi:type="dcterms:W3CDTF">2026-10-10T12:59:48Z</dcterms:modified>
</cp:coreProperties>
</file>